
<file path=[Content_Types].xml><?xml version="1.0" encoding="utf-8"?>
<Types xmlns="http://schemas.openxmlformats.org/package/2006/content-types">
  <Default Extension="bin" ContentType="image/unknown"/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Liter" panose="020B0604020202020204" charset="0"/>
      <p:regular r:id="rId16"/>
    </p:embeddedFont>
    <p:embeddedFont>
      <p:font typeface="Quattrocento Sans" panose="020B0502050000020003" pitchFamily="3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33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otionarray.imgix.net/648a36ca748abf6f306ec3df11e579bbbf414602.jpg"/>
          <p:cNvPicPr>
            <a:picLocks noChangeAspect="1"/>
          </p:cNvPicPr>
          <p:nvPr/>
        </p:nvPicPr>
        <p:blipFill>
          <a:blip r:embed="rId3">
            <a:alphaModFix amt="40000"/>
          </a:blip>
          <a:srcRect l="34" r="34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0A0C">
                  <a:alpha val="95000"/>
                </a:srgbClr>
              </a:gs>
              <a:gs pos="50000">
                <a:srgbClr val="0A0A0C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90525" y="579140"/>
            <a:ext cx="1171575" cy="4000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90550" y="696615"/>
            <a:ext cx="844153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36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598315"/>
            <a:ext cx="89916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Moment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Action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40435"/>
            <a:ext cx="1219200" cy="38100"/>
          </a:xfrm>
          <a:prstGeom prst="roundRect">
            <a:avLst>
              <a:gd name="adj" fmla="val 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81000" y="4059535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financial action is preceded by hesitation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4521498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pause before committing capital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4983460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moment carries maximum uncertainty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81000" y="5445423"/>
            <a:ext cx="64960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mistakes originate here, not earlier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5953125"/>
            <a:ext cx="11430000" cy="19050"/>
          </a:xfrm>
          <a:prstGeom prst="roundRect">
            <a:avLst>
              <a:gd name="adj" fmla="val 0"/>
            </a:avLst>
          </a:prstGeom>
          <a:solidFill>
            <a:srgbClr val="F59E0B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highest value moment in finance is not discovery — it's decision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62769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Market Is Complete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Except One Layer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4288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33400" y="2581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04900" y="2390775"/>
            <a:ext cx="4133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Discovery is solved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04900" y="2771775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Content, screeners, signals — abundant and accessible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2670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04825" y="34194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04900" y="3228975"/>
            <a:ext cx="403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 is solved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04900" y="3609975"/>
            <a:ext cx="4010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Platforms, aggregators — side-by-side analysis ready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1000" y="41052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33400" y="425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04900" y="4067175"/>
            <a:ext cx="3524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is solved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04900" y="4448175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Brokers, apps — one-click trading everywhere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0525" y="4953000"/>
            <a:ext cx="514350" cy="514350"/>
          </a:xfrm>
          <a:prstGeom prst="roundRect">
            <a:avLst>
              <a:gd name="adj" fmla="val 50000"/>
            </a:avLst>
          </a:prstGeom>
          <a:solidFill>
            <a:srgbClr val="DC2626">
              <a:alpha val="40000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33400" y="50958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04900" y="4905375"/>
            <a:ext cx="494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But validation at decision moment does not exist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" y="5286375"/>
            <a:ext cx="491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critical gap between intent and action</a:t>
            </a:r>
            <a:endParaRPr lang="en-US" sz="1600" dirty="0"/>
          </a:p>
        </p:txBody>
      </p:sp>
      <p:pic>
        <p:nvPicPr>
          <p:cNvPr id="20" name="Image 0" descr="https://kimi-web-img.moonshot.cn/img/images.stockcake.com/03dd88bc8bb3b81022b91ea3ca3c216274290da0.jpg"/>
          <p:cNvPicPr>
            <a:picLocks noChangeAspect="1"/>
          </p:cNvPicPr>
          <p:nvPr/>
        </p:nvPicPr>
        <p:blipFill>
          <a:blip r:embed="rId3">
            <a:alphaModFix amt="80000"/>
          </a:blip>
          <a:srcRect t="27" b="27"/>
          <a:stretch/>
        </p:blipFill>
        <p:spPr>
          <a:xfrm>
            <a:off x="7391400" y="2709168"/>
            <a:ext cx="4419600" cy="2524125"/>
          </a:xfrm>
          <a:prstGeom prst="roundRect">
            <a:avLst>
              <a:gd name="adj" fmla="val 3019"/>
            </a:avLst>
          </a:prstGeom>
        </p:spPr>
      </p:pic>
      <p:sp>
        <p:nvSpPr>
          <p:cNvPr id="21" name="Shape 18"/>
          <p:cNvSpPr/>
          <p:nvPr/>
        </p:nvSpPr>
        <p:spPr>
          <a:xfrm>
            <a:off x="381000" y="59912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don't need more options — they need clarity before action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bccpa.ca/18406d90c4829564e3e699361490cda18afb44c3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3889" r="388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0A0C">
                  <a:alpha val="98000"/>
                </a:srgbClr>
              </a:gs>
              <a:gs pos="50000">
                <a:srgbClr val="0A0A0C">
                  <a:alpha val="90000"/>
                </a:srgbClr>
              </a:gs>
              <a:gs pos="100000">
                <a:srgbClr val="0A0A0C">
                  <a:alpha val="7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7700" y="381000"/>
            <a:ext cx="49720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Failure Happens at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Point of Action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0050" y="2881313"/>
            <a:ext cx="38100" cy="981075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7700" y="2881313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Information overload creates confusion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7700" y="3300413"/>
            <a:ext cx="5381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much data, too many signals — users drown in noise instead of finding signal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086225"/>
            <a:ext cx="38100" cy="981075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7700" y="40862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Emotional bias overrides logic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" y="4505325"/>
            <a:ext cx="5381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Fear, greed, FOMO — emotions hijack rational decision-making at the critical moment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7450" y="3159919"/>
            <a:ext cx="38100" cy="695325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15100" y="3159919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Entry timing is rarely validated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15100" y="3579019"/>
            <a:ext cx="5381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act on impulse without structured checks for optimal entry points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7450" y="4086225"/>
            <a:ext cx="38100" cy="695325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15100" y="40862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Users act without structured decision checks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15100" y="4505325"/>
            <a:ext cx="5381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validation layer exists to catch errors before capital is committed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000" y="5991225"/>
            <a:ext cx="11430000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Bad outcomes are caused by poor decisions, not poor data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46482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 Is a Layer,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a Product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24669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0075" y="26574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81100" y="2466975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not replace brokers or platforms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1100" y="2809875"/>
            <a:ext cx="385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Complements existing infrastructure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3267075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00075" y="34575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181100" y="3267075"/>
            <a:ext cx="400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not compete with discovery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1100" y="3609975"/>
            <a:ext cx="3971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alongside screeners and research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0525" y="40767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DC2626">
              <a:alpha val="3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1500" y="425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81541"/>
                </a:moveTo>
                <a:lnTo>
                  <a:pt x="181541" y="224403"/>
                </a:lnTo>
                <a:cubicBezTo>
                  <a:pt x="177433" y="228511"/>
                  <a:pt x="171316" y="229716"/>
                  <a:pt x="165958" y="227484"/>
                </a:cubicBezTo>
                <a:cubicBezTo>
                  <a:pt x="160600" y="225251"/>
                  <a:pt x="157163" y="220072"/>
                  <a:pt x="157163" y="214313"/>
                </a:cubicBezTo>
                <a:lnTo>
                  <a:pt x="157163" y="185738"/>
                </a:ln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157163" y="157163"/>
                </a:lnTo>
                <a:lnTo>
                  <a:pt x="157163" y="128588"/>
                </a:lnTo>
                <a:cubicBezTo>
                  <a:pt x="157163" y="122828"/>
                  <a:pt x="160645" y="117604"/>
                  <a:pt x="166003" y="115372"/>
                </a:cubicBezTo>
                <a:cubicBezTo>
                  <a:pt x="171361" y="113139"/>
                  <a:pt x="177478" y="114389"/>
                  <a:pt x="181585" y="118452"/>
                </a:cubicBezTo>
                <a:lnTo>
                  <a:pt x="224448" y="161315"/>
                </a:lnTo>
                <a:cubicBezTo>
                  <a:pt x="230029" y="166896"/>
                  <a:pt x="230029" y="175959"/>
                  <a:pt x="224448" y="181541"/>
                </a:cubicBezTo>
                <a:close/>
                <a:moveTo>
                  <a:pt x="4197" y="67241"/>
                </a:moveTo>
                <a:cubicBezTo>
                  <a:pt x="-1384" y="61659"/>
                  <a:pt x="-1384" y="52596"/>
                  <a:pt x="4197" y="47015"/>
                </a:cubicBezTo>
                <a:lnTo>
                  <a:pt x="47059" y="4152"/>
                </a:lnTo>
                <a:cubicBezTo>
                  <a:pt x="51167" y="45"/>
                  <a:pt x="57284" y="-1161"/>
                  <a:pt x="62642" y="1072"/>
                </a:cubicBezTo>
                <a:cubicBezTo>
                  <a:pt x="68000" y="3304"/>
                  <a:pt x="71438" y="8528"/>
                  <a:pt x="71438" y="14288"/>
                </a:cubicBezTo>
                <a:lnTo>
                  <a:pt x="71438" y="42863"/>
                </a:lnTo>
                <a:lnTo>
                  <a:pt x="214313" y="42863"/>
                </a:lnTo>
                <a:cubicBezTo>
                  <a:pt x="222215" y="42863"/>
                  <a:pt x="228600" y="49247"/>
                  <a:pt x="228600" y="57150"/>
                </a:cubicBezTo>
                <a:cubicBezTo>
                  <a:pt x="228600" y="65053"/>
                  <a:pt x="222215" y="71438"/>
                  <a:pt x="214313" y="71438"/>
                </a:cubicBezTo>
                <a:lnTo>
                  <a:pt x="71438" y="71438"/>
                </a:lnTo>
                <a:lnTo>
                  <a:pt x="71438" y="100013"/>
                </a:lnTo>
                <a:cubicBezTo>
                  <a:pt x="71438" y="105772"/>
                  <a:pt x="67955" y="110996"/>
                  <a:pt x="62597" y="113228"/>
                </a:cubicBezTo>
                <a:cubicBezTo>
                  <a:pt x="57239" y="115461"/>
                  <a:pt x="51122" y="114211"/>
                  <a:pt x="47015" y="110148"/>
                </a:cubicBezTo>
                <a:lnTo>
                  <a:pt x="4152" y="67285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181100" y="4067175"/>
            <a:ext cx="4105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Sits between comparison and execution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1100" y="4410075"/>
            <a:ext cx="4076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missing validation layer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0525" y="48768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DC2626">
              <a:alpha val="3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85788" y="5057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4131" y="31299"/>
                </a:moveTo>
                <a:cubicBezTo>
                  <a:pt x="200516" y="35942"/>
                  <a:pt x="201945" y="44872"/>
                  <a:pt x="197301" y="51256"/>
                </a:cubicBezTo>
                <a:lnTo>
                  <a:pt x="83001" y="208419"/>
                </a:lnTo>
                <a:cubicBezTo>
                  <a:pt x="80546" y="211812"/>
                  <a:pt x="76751" y="213911"/>
                  <a:pt x="72554" y="214268"/>
                </a:cubicBezTo>
                <a:cubicBezTo>
                  <a:pt x="68357" y="214625"/>
                  <a:pt x="64294" y="213062"/>
                  <a:pt x="61347" y="210116"/>
                </a:cubicBezTo>
                <a:lnTo>
                  <a:pt x="4197" y="152966"/>
                </a:lnTo>
                <a:cubicBezTo>
                  <a:pt x="-1384" y="147384"/>
                  <a:pt x="-1384" y="138321"/>
                  <a:pt x="4197" y="132740"/>
                </a:cubicBezTo>
                <a:cubicBezTo>
                  <a:pt x="9778" y="127159"/>
                  <a:pt x="18842" y="127159"/>
                  <a:pt x="24423" y="132740"/>
                </a:cubicBezTo>
                <a:lnTo>
                  <a:pt x="69741" y="178058"/>
                </a:lnTo>
                <a:lnTo>
                  <a:pt x="174218" y="34424"/>
                </a:lnTo>
                <a:cubicBezTo>
                  <a:pt x="178862" y="28039"/>
                  <a:pt x="187791" y="26610"/>
                  <a:pt x="194176" y="31254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81100" y="4867275"/>
            <a:ext cx="4286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Provides decision validation before 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1100" y="5210175"/>
            <a:ext cx="4257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Clarity at the critical moment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0925" y="2914650"/>
            <a:ext cx="4400550" cy="2114550"/>
          </a:xfrm>
          <a:prstGeom prst="roundRect">
            <a:avLst>
              <a:gd name="adj" fmla="val 3604"/>
            </a:avLst>
          </a:prstGeom>
          <a:solidFill>
            <a:srgbClr val="DC2626">
              <a:alpha val="10196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72375" y="3228975"/>
            <a:ext cx="4057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67625" y="3952875"/>
            <a:ext cx="3867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Validation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72388" y="4448175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23883" y="4495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711109" y="4448175"/>
            <a:ext cx="990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720164" y="4495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9907389" y="4448175"/>
            <a:ext cx="600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29193" y="44958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68302" y="93293"/>
                </a:moveTo>
                <a:cubicBezTo>
                  <a:pt x="172488" y="89107"/>
                  <a:pt x="172488" y="82309"/>
                  <a:pt x="168302" y="78124"/>
                </a:cubicBezTo>
                <a:lnTo>
                  <a:pt x="114724" y="24545"/>
                </a:lnTo>
                <a:cubicBezTo>
                  <a:pt x="110538" y="20360"/>
                  <a:pt x="103741" y="20360"/>
                  <a:pt x="99555" y="24545"/>
                </a:cubicBezTo>
                <a:cubicBezTo>
                  <a:pt x="95369" y="28731"/>
                  <a:pt x="95369" y="35529"/>
                  <a:pt x="99555" y="39715"/>
                </a:cubicBezTo>
                <a:lnTo>
                  <a:pt x="134849" y="75009"/>
                </a:lnTo>
                <a:lnTo>
                  <a:pt x="10716" y="75009"/>
                </a:lnTo>
                <a:cubicBezTo>
                  <a:pt x="4789" y="75009"/>
                  <a:pt x="0" y="79798"/>
                  <a:pt x="0" y="85725"/>
                </a:cubicBezTo>
                <a:cubicBezTo>
                  <a:pt x="0" y="91652"/>
                  <a:pt x="4789" y="96441"/>
                  <a:pt x="10716" y="96441"/>
                </a:cubicBezTo>
                <a:lnTo>
                  <a:pt x="134849" y="96441"/>
                </a:lnTo>
                <a:lnTo>
                  <a:pt x="99555" y="131735"/>
                </a:lnTo>
                <a:cubicBezTo>
                  <a:pt x="95369" y="135921"/>
                  <a:pt x="95369" y="142719"/>
                  <a:pt x="99555" y="146905"/>
                </a:cubicBezTo>
                <a:cubicBezTo>
                  <a:pt x="103741" y="151090"/>
                  <a:pt x="110538" y="151090"/>
                  <a:pt x="114724" y="146905"/>
                </a:cubicBezTo>
                <a:lnTo>
                  <a:pt x="168302" y="93326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10716419" y="4448175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81000" y="59912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intercepts intent, not attention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51530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Product vs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Intended Behaviour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2200275"/>
            <a:ext cx="5543550" cy="2705100"/>
          </a:xfrm>
          <a:prstGeom prst="roundRect">
            <a:avLst>
              <a:gd name="adj" fmla="val 2817"/>
            </a:avLst>
          </a:prstGeom>
          <a:solidFill>
            <a:srgbClr val="000000">
              <a:alpha val="0"/>
            </a:srgbClr>
          </a:solidFill>
          <a:ln w="25400">
            <a:solidFill>
              <a:srgbClr val="F3F4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04850" y="2514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F3F4F6">
              <a:alpha val="1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9156" y="2676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32172" y="116086"/>
                </a:moveTo>
                <a:cubicBezTo>
                  <a:pt x="232172" y="141703"/>
                  <a:pt x="223856" y="165367"/>
                  <a:pt x="209848" y="184565"/>
                </a:cubicBezTo>
                <a:lnTo>
                  <a:pt x="280504" y="255277"/>
                </a:lnTo>
                <a:cubicBezTo>
                  <a:pt x="287480" y="262254"/>
                  <a:pt x="287480" y="273583"/>
                  <a:pt x="280504" y="280560"/>
                </a:cubicBezTo>
                <a:cubicBezTo>
                  <a:pt x="273527" y="287536"/>
                  <a:pt x="262198" y="287536"/>
                  <a:pt x="255222" y="280560"/>
                </a:cubicBezTo>
                <a:lnTo>
                  <a:pt x="184565" y="209848"/>
                </a:lnTo>
                <a:cubicBezTo>
                  <a:pt x="165367" y="223856"/>
                  <a:pt x="141703" y="232172"/>
                  <a:pt x="116086" y="232172"/>
                </a:cubicBezTo>
                <a:cubicBezTo>
                  <a:pt x="51960" y="232172"/>
                  <a:pt x="0" y="180212"/>
                  <a:pt x="0" y="116086"/>
                </a:cubicBezTo>
                <a:cubicBezTo>
                  <a:pt x="0" y="51960"/>
                  <a:pt x="51960" y="0"/>
                  <a:pt x="116086" y="0"/>
                </a:cubicBezTo>
                <a:cubicBezTo>
                  <a:pt x="180212" y="0"/>
                  <a:pt x="232172" y="51960"/>
                  <a:pt x="232172" y="116086"/>
                </a:cubicBezTo>
                <a:close/>
                <a:moveTo>
                  <a:pt x="116086" y="196453"/>
                </a:moveTo>
                <a:cubicBezTo>
                  <a:pt x="160442" y="196453"/>
                  <a:pt x="196453" y="160442"/>
                  <a:pt x="196453" y="116086"/>
                </a:cubicBezTo>
                <a:cubicBezTo>
                  <a:pt x="196453" y="71730"/>
                  <a:pt x="160442" y="35719"/>
                  <a:pt x="116086" y="35719"/>
                </a:cubicBezTo>
                <a:cubicBezTo>
                  <a:pt x="71730" y="35719"/>
                  <a:pt x="35719" y="71730"/>
                  <a:pt x="35719" y="116086"/>
                </a:cubicBezTo>
                <a:cubicBezTo>
                  <a:pt x="35719" y="160442"/>
                  <a:pt x="71730" y="196453"/>
                  <a:pt x="116086" y="196453"/>
                </a:cubicBezTo>
                <a:close/>
              </a:path>
            </a:pathLst>
          </a:custGeom>
          <a:solidFill>
            <a:srgbClr val="F3F4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466850" y="2647950"/>
            <a:ext cx="1104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3F4F6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850" y="3372248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screener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04850" y="3715148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5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Exploration tool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4850" y="4137423"/>
            <a:ext cx="4914900" cy="6350"/>
          </a:xfrm>
          <a:prstGeom prst="roundRect">
            <a:avLst>
              <a:gd name="adj" fmla="val 0"/>
            </a:avLst>
          </a:prstGeom>
          <a:solidFill>
            <a:srgbClr val="F3F4F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4850" y="4292998"/>
            <a:ext cx="5000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discover and explore — but don't validate decisions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7925" y="2200275"/>
            <a:ext cx="5543550" cy="2705100"/>
          </a:xfrm>
          <a:prstGeom prst="roundRect">
            <a:avLst>
              <a:gd name="adj" fmla="val 2817"/>
            </a:avLst>
          </a:prstGeom>
          <a:solidFill>
            <a:srgbClr val="6D28D9">
              <a:alpha val="5098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581775" y="2524125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736556" y="26765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334250" y="2647950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6D28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GTM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72250" y="3372248"/>
            <a:ext cx="501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Decision-stage entry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72250" y="3715148"/>
            <a:ext cx="500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D28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Validation layer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572250" y="4137423"/>
            <a:ext cx="4914900" cy="6350"/>
          </a:xfrm>
          <a:prstGeom prst="roundRect">
            <a:avLst>
              <a:gd name="adj" fmla="val 0"/>
            </a:avLst>
          </a:prstGeom>
          <a:solidFill>
            <a:srgbClr val="6D28D9">
              <a:alpha val="30196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572250" y="4292998"/>
            <a:ext cx="50006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validate before acting — clarity at the critical moment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1000" y="5219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Mismatch reduces effectiveness of acquisition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1000" y="5600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 requires entry-point shift, not rebuild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system, different user moment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3388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62865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— Decision Engine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447800"/>
            <a:ext cx="4419600" cy="1200150"/>
          </a:xfrm>
          <a:prstGeom prst="roundRect">
            <a:avLst>
              <a:gd name="adj" fmla="val 6349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57225" y="17240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4037" y="121890"/>
                </a:moveTo>
                <a:cubicBezTo>
                  <a:pt x="158234" y="117693"/>
                  <a:pt x="158234" y="110907"/>
                  <a:pt x="154037" y="106754"/>
                </a:cubicBezTo>
                <a:lnTo>
                  <a:pt x="89743" y="42416"/>
                </a:lnTo>
                <a:cubicBezTo>
                  <a:pt x="86663" y="39335"/>
                  <a:pt x="82064" y="38442"/>
                  <a:pt x="78045" y="40094"/>
                </a:cubicBezTo>
                <a:cubicBezTo>
                  <a:pt x="74027" y="41746"/>
                  <a:pt x="71438" y="45675"/>
                  <a:pt x="71438" y="50006"/>
                </a:cubicBezTo>
                <a:lnTo>
                  <a:pt x="71438" y="85725"/>
                </a:ln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21444"/>
                </a:lnTo>
                <a:cubicBezTo>
                  <a:pt x="0" y="133276"/>
                  <a:pt x="9599" y="142875"/>
                  <a:pt x="21431" y="142875"/>
                </a:cubicBezTo>
                <a:lnTo>
                  <a:pt x="71438" y="142875"/>
                </a:lnTo>
                <a:lnTo>
                  <a:pt x="71438" y="178594"/>
                </a:lnTo>
                <a:cubicBezTo>
                  <a:pt x="71438" y="182925"/>
                  <a:pt x="74027" y="186854"/>
                  <a:pt x="78045" y="188506"/>
                </a:cubicBezTo>
                <a:cubicBezTo>
                  <a:pt x="82064" y="190158"/>
                  <a:pt x="86663" y="189265"/>
                  <a:pt x="89743" y="186184"/>
                </a:cubicBezTo>
                <a:lnTo>
                  <a:pt x="154037" y="121890"/>
                </a:lnTo>
                <a:close/>
                <a:moveTo>
                  <a:pt x="157163" y="185738"/>
                </a:moveTo>
                <a:cubicBezTo>
                  <a:pt x="149260" y="185738"/>
                  <a:pt x="142875" y="192122"/>
                  <a:pt x="142875" y="200025"/>
                </a:cubicBezTo>
                <a:cubicBezTo>
                  <a:pt x="142875" y="207928"/>
                  <a:pt x="149260" y="214313"/>
                  <a:pt x="157163" y="214313"/>
                </a:cubicBezTo>
                <a:lnTo>
                  <a:pt x="185738" y="214313"/>
                </a:lnTo>
                <a:cubicBezTo>
                  <a:pt x="209401" y="214313"/>
                  <a:pt x="228600" y="195114"/>
                  <a:pt x="228600" y="171450"/>
                </a:cubicBezTo>
                <a:lnTo>
                  <a:pt x="228600" y="57150"/>
                </a:lnTo>
                <a:cubicBezTo>
                  <a:pt x="228600" y="33486"/>
                  <a:pt x="209401" y="14288"/>
                  <a:pt x="185738" y="14288"/>
                </a:cubicBezTo>
                <a:lnTo>
                  <a:pt x="157163" y="14288"/>
                </a:lnTo>
                <a:cubicBezTo>
                  <a:pt x="149260" y="14288"/>
                  <a:pt x="142875" y="20672"/>
                  <a:pt x="142875" y="28575"/>
                </a:cubicBezTo>
                <a:cubicBezTo>
                  <a:pt x="142875" y="36478"/>
                  <a:pt x="149260" y="42863"/>
                  <a:pt x="157163" y="42863"/>
                </a:cubicBez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lnTo>
                  <a:pt x="200025" y="171450"/>
                </a:lnTo>
                <a:cubicBezTo>
                  <a:pt x="200025" y="179353"/>
                  <a:pt x="193640" y="185738"/>
                  <a:pt x="185738" y="185738"/>
                </a:cubicBezTo>
                <a:lnTo>
                  <a:pt x="157163" y="185738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28700" y="1685925"/>
            <a:ext cx="638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8650" y="2143125"/>
            <a:ext cx="403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Stock / trade / idea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0525" y="2819400"/>
            <a:ext cx="4419600" cy="2343150"/>
          </a:xfrm>
          <a:prstGeom prst="roundRect">
            <a:avLst>
              <a:gd name="adj" fmla="val 3252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657225" y="30956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5475" y="121890"/>
                </a:moveTo>
                <a:cubicBezTo>
                  <a:pt x="229672" y="117693"/>
                  <a:pt x="229672" y="110907"/>
                  <a:pt x="225475" y="106754"/>
                </a:cubicBezTo>
                <a:lnTo>
                  <a:pt x="161181" y="42416"/>
                </a:lnTo>
                <a:cubicBezTo>
                  <a:pt x="158100" y="39335"/>
                  <a:pt x="153501" y="38442"/>
                  <a:pt x="149483" y="40094"/>
                </a:cubicBezTo>
                <a:cubicBezTo>
                  <a:pt x="145465" y="41746"/>
                  <a:pt x="142875" y="45675"/>
                  <a:pt x="142875" y="50006"/>
                </a:cubicBezTo>
                <a:lnTo>
                  <a:pt x="142875" y="85725"/>
                </a:lnTo>
                <a:lnTo>
                  <a:pt x="92869" y="85725"/>
                </a:lnTo>
                <a:cubicBezTo>
                  <a:pt x="81037" y="85725"/>
                  <a:pt x="71438" y="95324"/>
                  <a:pt x="71438" y="107156"/>
                </a:cubicBezTo>
                <a:lnTo>
                  <a:pt x="71438" y="121444"/>
                </a:lnTo>
                <a:cubicBezTo>
                  <a:pt x="71438" y="133276"/>
                  <a:pt x="81037" y="142875"/>
                  <a:pt x="92869" y="142875"/>
                </a:cubicBezTo>
                <a:lnTo>
                  <a:pt x="142875" y="142875"/>
                </a:lnTo>
                <a:lnTo>
                  <a:pt x="142875" y="178594"/>
                </a:lnTo>
                <a:cubicBezTo>
                  <a:pt x="142875" y="182925"/>
                  <a:pt x="145465" y="186854"/>
                  <a:pt x="149483" y="188506"/>
                </a:cubicBezTo>
                <a:cubicBezTo>
                  <a:pt x="153501" y="190158"/>
                  <a:pt x="158100" y="189265"/>
                  <a:pt x="161181" y="186184"/>
                </a:cubicBezTo>
                <a:lnTo>
                  <a:pt x="225475" y="121890"/>
                </a:lnTo>
                <a:close/>
                <a:moveTo>
                  <a:pt x="71438" y="42863"/>
                </a:moveTo>
                <a:cubicBezTo>
                  <a:pt x="79340" y="42863"/>
                  <a:pt x="85725" y="36478"/>
                  <a:pt x="85725" y="28575"/>
                </a:cubicBezTo>
                <a:cubicBezTo>
                  <a:pt x="85725" y="20672"/>
                  <a:pt x="79340" y="14288"/>
                  <a:pt x="71438" y="14288"/>
                </a:cubicBezTo>
                <a:lnTo>
                  <a:pt x="42863" y="14288"/>
                </a:lnTo>
                <a:cubicBezTo>
                  <a:pt x="19199" y="14288"/>
                  <a:pt x="0" y="33486"/>
                  <a:pt x="0" y="57150"/>
                </a:cubicBezTo>
                <a:lnTo>
                  <a:pt x="0" y="171450"/>
                </a:lnTo>
                <a:cubicBezTo>
                  <a:pt x="0" y="195114"/>
                  <a:pt x="19199" y="214313"/>
                  <a:pt x="42863" y="214313"/>
                </a:cubicBezTo>
                <a:lnTo>
                  <a:pt x="71438" y="214313"/>
                </a:lnTo>
                <a:cubicBezTo>
                  <a:pt x="79340" y="214313"/>
                  <a:pt x="85725" y="207928"/>
                  <a:pt x="85725" y="200025"/>
                </a:cubicBezTo>
                <a:cubicBezTo>
                  <a:pt x="85725" y="192122"/>
                  <a:pt x="79340" y="185738"/>
                  <a:pt x="71438" y="185738"/>
                </a:cubicBezTo>
                <a:lnTo>
                  <a:pt x="42863" y="185738"/>
                </a:lnTo>
                <a:cubicBezTo>
                  <a:pt x="34960" y="185738"/>
                  <a:pt x="28575" y="179353"/>
                  <a:pt x="28575" y="171450"/>
                </a:cubicBezTo>
                <a:lnTo>
                  <a:pt x="28575" y="57150"/>
                </a:lnTo>
                <a:cubicBezTo>
                  <a:pt x="28575" y="49247"/>
                  <a:pt x="34960" y="42863"/>
                  <a:pt x="42863" y="42863"/>
                </a:cubicBezTo>
                <a:lnTo>
                  <a:pt x="71438" y="42863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28700" y="3057525"/>
            <a:ext cx="819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" y="3552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33450" y="35147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score (clear direction)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933450" y="3895725"/>
            <a:ext cx="2438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level (low / medium / high)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7700" y="4314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933450" y="4276725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Reasoning (2–3 key signals)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7700" y="4695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3450" y="4657725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Alternative suggestion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53905" y="1447800"/>
            <a:ext cx="6743700" cy="4410075"/>
          </a:xfrm>
          <a:prstGeom prst="roundRect">
            <a:avLst>
              <a:gd name="adj" fmla="val 1728"/>
            </a:avLst>
          </a:prstGeom>
          <a:solidFill>
            <a:srgbClr val="000000">
              <a:alpha val="0"/>
            </a:srgbClr>
          </a:solidFill>
          <a:ln w="25400">
            <a:solidFill>
              <a:srgbClr val="F3F4F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292030" y="172402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3F4F6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92080" y="1685925"/>
            <a:ext cx="666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292030" y="21812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475387" y="23526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977830" y="2181225"/>
            <a:ext cx="1857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 10 seconds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77830" y="2486025"/>
            <a:ext cx="1838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clarity, zero waiting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3841" y="21812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699103" y="2352675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47625" y="35719"/>
                </a:moveTo>
                <a:cubicBezTo>
                  <a:pt x="47625" y="22585"/>
                  <a:pt x="58303" y="11906"/>
                  <a:pt x="71438" y="11906"/>
                </a:cubicBezTo>
                <a:cubicBezTo>
                  <a:pt x="83232" y="11906"/>
                  <a:pt x="93018" y="20464"/>
                  <a:pt x="94915" y="31738"/>
                </a:cubicBezTo>
                <a:cubicBezTo>
                  <a:pt x="95994" y="38212"/>
                  <a:pt x="102133" y="42602"/>
                  <a:pt x="108645" y="41523"/>
                </a:cubicBezTo>
                <a:cubicBezTo>
                  <a:pt x="115156" y="40444"/>
                  <a:pt x="119509" y="34305"/>
                  <a:pt x="118430" y="27794"/>
                </a:cubicBezTo>
                <a:cubicBezTo>
                  <a:pt x="114635" y="5246"/>
                  <a:pt x="95064" y="-11906"/>
                  <a:pt x="71438" y="-11906"/>
                </a:cubicBezTo>
                <a:cubicBezTo>
                  <a:pt x="45132" y="-11906"/>
                  <a:pt x="23812" y="9413"/>
                  <a:pt x="23812" y="35719"/>
                </a:cubicBezTo>
                <a:lnTo>
                  <a:pt x="23812" y="59531"/>
                </a:lnTo>
                <a:cubicBezTo>
                  <a:pt x="10678" y="59531"/>
                  <a:pt x="0" y="70210"/>
                  <a:pt x="0" y="83344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83344"/>
                </a:lnTo>
                <a:cubicBezTo>
                  <a:pt x="142875" y="70210"/>
                  <a:pt x="132197" y="59531"/>
                  <a:pt x="119063" y="59531"/>
                </a:cubicBezTo>
                <a:lnTo>
                  <a:pt x="47625" y="59531"/>
                </a:lnTo>
                <a:lnTo>
                  <a:pt x="47625" y="35719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9189641" y="2181225"/>
            <a:ext cx="1533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login required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89641" y="2486025"/>
            <a:ext cx="1514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Frictionless access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92030" y="28670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463480" y="30384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977830" y="2867025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dashboards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977830" y="317182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complexity, pure clarity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3841" y="28670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DC262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8663385" y="303847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11906"/>
                </a:moveTo>
                <a:cubicBezTo>
                  <a:pt x="77093" y="11906"/>
                  <a:pt x="53020" y="25598"/>
                  <a:pt x="35496" y="41895"/>
                </a:cubicBezTo>
                <a:cubicBezTo>
                  <a:pt x="18083" y="58080"/>
                  <a:pt x="6437" y="77391"/>
                  <a:pt x="893" y="90674"/>
                </a:cubicBezTo>
                <a:cubicBezTo>
                  <a:pt x="-335" y="93613"/>
                  <a:pt x="-335" y="96887"/>
                  <a:pt x="893" y="99826"/>
                </a:cubicBezTo>
                <a:cubicBezTo>
                  <a:pt x="6437" y="113109"/>
                  <a:pt x="18083" y="132457"/>
                  <a:pt x="35496" y="148605"/>
                </a:cubicBezTo>
                <a:cubicBezTo>
                  <a:pt x="53020" y="164864"/>
                  <a:pt x="77093" y="178594"/>
                  <a:pt x="107156" y="178594"/>
                </a:cubicBezTo>
                <a:cubicBezTo>
                  <a:pt x="137220" y="178594"/>
                  <a:pt x="161292" y="164902"/>
                  <a:pt x="178817" y="148605"/>
                </a:cubicBezTo>
                <a:cubicBezTo>
                  <a:pt x="196230" y="132420"/>
                  <a:pt x="207876" y="113109"/>
                  <a:pt x="213420" y="99826"/>
                </a:cubicBezTo>
                <a:cubicBezTo>
                  <a:pt x="214647" y="96887"/>
                  <a:pt x="214647" y="93613"/>
                  <a:pt x="213420" y="90674"/>
                </a:cubicBezTo>
                <a:cubicBezTo>
                  <a:pt x="207876" y="77391"/>
                  <a:pt x="196230" y="58043"/>
                  <a:pt x="178817" y="41895"/>
                </a:cubicBezTo>
                <a:cubicBezTo>
                  <a:pt x="161292" y="25636"/>
                  <a:pt x="137220" y="11906"/>
                  <a:pt x="107156" y="11906"/>
                </a:cubicBezTo>
                <a:close/>
                <a:moveTo>
                  <a:pt x="53578" y="95250"/>
                </a:moveTo>
                <a:cubicBezTo>
                  <a:pt x="53578" y="65679"/>
                  <a:pt x="77586" y="41672"/>
                  <a:pt x="107156" y="41672"/>
                </a:cubicBezTo>
                <a:cubicBezTo>
                  <a:pt x="136727" y="41672"/>
                  <a:pt x="160734" y="65679"/>
                  <a:pt x="160734" y="95250"/>
                </a:cubicBezTo>
                <a:cubicBezTo>
                  <a:pt x="160734" y="124821"/>
                  <a:pt x="136727" y="148828"/>
                  <a:pt x="107156" y="148828"/>
                </a:cubicBezTo>
                <a:cubicBezTo>
                  <a:pt x="77586" y="148828"/>
                  <a:pt x="53578" y="124821"/>
                  <a:pt x="53578" y="95250"/>
                </a:cubicBezTo>
                <a:close/>
                <a:moveTo>
                  <a:pt x="107156" y="71438"/>
                </a:moveTo>
                <a:cubicBezTo>
                  <a:pt x="107156" y="84572"/>
                  <a:pt x="96478" y="95250"/>
                  <a:pt x="83344" y="95250"/>
                </a:cubicBezTo>
                <a:cubicBezTo>
                  <a:pt x="79065" y="95250"/>
                  <a:pt x="75047" y="94134"/>
                  <a:pt x="71549" y="92125"/>
                </a:cubicBezTo>
                <a:cubicBezTo>
                  <a:pt x="71177" y="96180"/>
                  <a:pt x="71512" y="100347"/>
                  <a:pt x="72628" y="104477"/>
                </a:cubicBezTo>
                <a:cubicBezTo>
                  <a:pt x="77725" y="123527"/>
                  <a:pt x="97334" y="134838"/>
                  <a:pt x="116384" y="129741"/>
                </a:cubicBezTo>
                <a:cubicBezTo>
                  <a:pt x="135434" y="124644"/>
                  <a:pt x="146745" y="105035"/>
                  <a:pt x="141647" y="85985"/>
                </a:cubicBezTo>
                <a:cubicBezTo>
                  <a:pt x="137108" y="68982"/>
                  <a:pt x="120997" y="58155"/>
                  <a:pt x="104031" y="59643"/>
                </a:cubicBezTo>
                <a:cubicBezTo>
                  <a:pt x="106003" y="63103"/>
                  <a:pt x="107156" y="67121"/>
                  <a:pt x="107156" y="71438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9189641" y="2867025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clarity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189641" y="3171825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for the moment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product is not analysis — it is decision clarity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fineartamerica.com/f3f4e995fa914dfa1a77576c9e2fd8b7cd6ea1a2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11936" b="1193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0A0C">
                  <a:alpha val="95000"/>
                </a:srgbClr>
              </a:gs>
              <a:gs pos="50000">
                <a:srgbClr val="0A0A0C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7700" y="381000"/>
            <a:ext cx="41624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Is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Behaviour-First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00050" y="3209925"/>
            <a:ext cx="38100" cy="6477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47700" y="32099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paid acquisition initially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7700" y="35909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growth through value, not advertising spend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086225"/>
            <a:ext cx="38100" cy="6477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7700" y="40862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funnel-building at early stage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7700" y="44672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Focus on behavior, not conversion mechanics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67450" y="3209925"/>
            <a:ext cx="38100" cy="6477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515100" y="32099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real decision environments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515100" y="35909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Meet users where they actually make choices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67450" y="4086225"/>
            <a:ext cx="38100" cy="6477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515100" y="4086225"/>
            <a:ext cx="541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interaction over reach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15100" y="4467225"/>
            <a:ext cx="538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engagement beats vanity metrics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81000" y="5991225"/>
            <a:ext cx="11430000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Growth comes from entering decisions, not driving traffic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3388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56578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We Enter 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485900"/>
            <a:ext cx="3638550" cy="3876675"/>
          </a:xfrm>
          <a:prstGeom prst="roundRect">
            <a:avLst>
              <a:gd name="adj" fmla="val 2094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8175" y="17335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DC2626">
              <a:alpha val="3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92956" y="1885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4465"/>
                </a:moveTo>
                <a:cubicBezTo>
                  <a:pt x="66484" y="4465"/>
                  <a:pt x="4465" y="66484"/>
                  <a:pt x="4465" y="142875"/>
                </a:cubicBezTo>
                <a:cubicBezTo>
                  <a:pt x="4465" y="219266"/>
                  <a:pt x="66484" y="281285"/>
                  <a:pt x="142875" y="281285"/>
                </a:cubicBezTo>
                <a:cubicBezTo>
                  <a:pt x="219266" y="281285"/>
                  <a:pt x="281285" y="219266"/>
                  <a:pt x="281285" y="142875"/>
                </a:cubicBezTo>
                <a:cubicBezTo>
                  <a:pt x="281285" y="66484"/>
                  <a:pt x="219266" y="4465"/>
                  <a:pt x="142875" y="4465"/>
                </a:cubicBezTo>
                <a:close/>
                <a:moveTo>
                  <a:pt x="207057" y="98617"/>
                </a:moveTo>
                <a:cubicBezTo>
                  <a:pt x="204992" y="120495"/>
                  <a:pt x="195951" y="173627"/>
                  <a:pt x="191374" y="198127"/>
                </a:cubicBezTo>
                <a:cubicBezTo>
                  <a:pt x="189421" y="208508"/>
                  <a:pt x="185626" y="211968"/>
                  <a:pt x="181942" y="212303"/>
                </a:cubicBezTo>
                <a:cubicBezTo>
                  <a:pt x="173906" y="213029"/>
                  <a:pt x="167822" y="207001"/>
                  <a:pt x="160009" y="201867"/>
                </a:cubicBezTo>
                <a:cubicBezTo>
                  <a:pt x="147842" y="193886"/>
                  <a:pt x="140922" y="188919"/>
                  <a:pt x="129146" y="181105"/>
                </a:cubicBezTo>
                <a:cubicBezTo>
                  <a:pt x="115472" y="172120"/>
                  <a:pt x="124346" y="167153"/>
                  <a:pt x="132104" y="159060"/>
                </a:cubicBezTo>
                <a:cubicBezTo>
                  <a:pt x="134169" y="156939"/>
                  <a:pt x="169552" y="124737"/>
                  <a:pt x="170222" y="121834"/>
                </a:cubicBezTo>
                <a:cubicBezTo>
                  <a:pt x="170334" y="121444"/>
                  <a:pt x="170390" y="120104"/>
                  <a:pt x="169552" y="119379"/>
                </a:cubicBezTo>
                <a:cubicBezTo>
                  <a:pt x="168715" y="118653"/>
                  <a:pt x="167543" y="118932"/>
                  <a:pt x="166706" y="119100"/>
                </a:cubicBezTo>
                <a:cubicBezTo>
                  <a:pt x="165478" y="119379"/>
                  <a:pt x="146000" y="132215"/>
                  <a:pt x="108328" y="157665"/>
                </a:cubicBezTo>
                <a:cubicBezTo>
                  <a:pt x="102803" y="161460"/>
                  <a:pt x="97780" y="163302"/>
                  <a:pt x="93315" y="163190"/>
                </a:cubicBezTo>
                <a:cubicBezTo>
                  <a:pt x="88348" y="163078"/>
                  <a:pt x="78860" y="160400"/>
                  <a:pt x="71772" y="158111"/>
                </a:cubicBezTo>
                <a:cubicBezTo>
                  <a:pt x="63122" y="155321"/>
                  <a:pt x="56201" y="153814"/>
                  <a:pt x="56815" y="149014"/>
                </a:cubicBezTo>
                <a:cubicBezTo>
                  <a:pt x="57150" y="146503"/>
                  <a:pt x="60554" y="143991"/>
                  <a:pt x="67084" y="141368"/>
                </a:cubicBezTo>
                <a:cubicBezTo>
                  <a:pt x="107435" y="123788"/>
                  <a:pt x="134336" y="112179"/>
                  <a:pt x="147786" y="106598"/>
                </a:cubicBezTo>
                <a:cubicBezTo>
                  <a:pt x="186240" y="90636"/>
                  <a:pt x="194221" y="87846"/>
                  <a:pt x="199411" y="87734"/>
                </a:cubicBezTo>
                <a:cubicBezTo>
                  <a:pt x="200583" y="87734"/>
                  <a:pt x="203095" y="88013"/>
                  <a:pt x="204769" y="89353"/>
                </a:cubicBezTo>
                <a:cubicBezTo>
                  <a:pt x="205885" y="90301"/>
                  <a:pt x="206555" y="91641"/>
                  <a:pt x="206722" y="93092"/>
                </a:cubicBezTo>
                <a:cubicBezTo>
                  <a:pt x="207001" y="94878"/>
                  <a:pt x="207057" y="96720"/>
                  <a:pt x="206946" y="9856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90650" y="1857375"/>
            <a:ext cx="1343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Telegram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28650" y="3355181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High-frequency, real-time decisions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50" y="3736181"/>
            <a:ext cx="3248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Traders making rapid choices in active communities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76725" y="1485900"/>
            <a:ext cx="3638550" cy="3876675"/>
          </a:xfrm>
          <a:prstGeom prst="roundRect">
            <a:avLst>
              <a:gd name="adj" fmla="val 2094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524375" y="17335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DC2626">
              <a:alpha val="3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79156" y="1885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3959"/>
                  <a:pt x="63959" y="0"/>
                  <a:pt x="142875" y="0"/>
                </a:cubicBezTo>
                <a:cubicBezTo>
                  <a:pt x="221791" y="0"/>
                  <a:pt x="285750" y="63959"/>
                  <a:pt x="285750" y="142875"/>
                </a:cubicBezTo>
                <a:cubicBezTo>
                  <a:pt x="285750" y="221791"/>
                  <a:pt x="221791" y="285750"/>
                  <a:pt x="142875" y="285750"/>
                </a:cubicBezTo>
                <a:lnTo>
                  <a:pt x="20706" y="285750"/>
                </a:lnTo>
                <a:cubicBezTo>
                  <a:pt x="13060" y="285750"/>
                  <a:pt x="9265" y="276541"/>
                  <a:pt x="14622" y="271128"/>
                </a:cubicBezTo>
                <a:lnTo>
                  <a:pt x="41858" y="243892"/>
                </a:lnTo>
                <a:cubicBezTo>
                  <a:pt x="16018" y="218052"/>
                  <a:pt x="0" y="182333"/>
                  <a:pt x="0" y="142875"/>
                </a:cubicBezTo>
                <a:close/>
                <a:moveTo>
                  <a:pt x="195114" y="85725"/>
                </a:moveTo>
                <a:cubicBezTo>
                  <a:pt x="208285" y="85725"/>
                  <a:pt x="218945" y="75065"/>
                  <a:pt x="218945" y="61894"/>
                </a:cubicBezTo>
                <a:cubicBezTo>
                  <a:pt x="218945" y="48723"/>
                  <a:pt x="208285" y="38063"/>
                  <a:pt x="195114" y="38063"/>
                </a:cubicBezTo>
                <a:cubicBezTo>
                  <a:pt x="183617" y="38063"/>
                  <a:pt x="174017" y="46211"/>
                  <a:pt x="171785" y="57038"/>
                </a:cubicBezTo>
                <a:cubicBezTo>
                  <a:pt x="152530" y="59103"/>
                  <a:pt x="137517" y="75456"/>
                  <a:pt x="137517" y="95213"/>
                </a:cubicBezTo>
                <a:lnTo>
                  <a:pt x="137517" y="95324"/>
                </a:lnTo>
                <a:cubicBezTo>
                  <a:pt x="116588" y="96217"/>
                  <a:pt x="97445" y="102189"/>
                  <a:pt x="82265" y="111565"/>
                </a:cubicBezTo>
                <a:cubicBezTo>
                  <a:pt x="76628" y="107212"/>
                  <a:pt x="69540" y="104589"/>
                  <a:pt x="61894" y="104589"/>
                </a:cubicBezTo>
                <a:cubicBezTo>
                  <a:pt x="43476" y="104589"/>
                  <a:pt x="28519" y="119546"/>
                  <a:pt x="28519" y="137964"/>
                </a:cubicBezTo>
                <a:cubicBezTo>
                  <a:pt x="28519" y="151358"/>
                  <a:pt x="36388" y="162855"/>
                  <a:pt x="47718" y="168157"/>
                </a:cubicBezTo>
                <a:cubicBezTo>
                  <a:pt x="48834" y="206890"/>
                  <a:pt x="91027" y="238032"/>
                  <a:pt x="142931" y="238032"/>
                </a:cubicBezTo>
                <a:cubicBezTo>
                  <a:pt x="194835" y="238032"/>
                  <a:pt x="237083" y="206834"/>
                  <a:pt x="238144" y="168101"/>
                </a:cubicBezTo>
                <a:cubicBezTo>
                  <a:pt x="249417" y="162744"/>
                  <a:pt x="257175" y="151247"/>
                  <a:pt x="257175" y="137964"/>
                </a:cubicBezTo>
                <a:cubicBezTo>
                  <a:pt x="257175" y="119546"/>
                  <a:pt x="242218" y="104589"/>
                  <a:pt x="223800" y="104589"/>
                </a:cubicBezTo>
                <a:cubicBezTo>
                  <a:pt x="216154" y="104589"/>
                  <a:pt x="209122" y="107156"/>
                  <a:pt x="203485" y="111509"/>
                </a:cubicBezTo>
                <a:cubicBezTo>
                  <a:pt x="188193" y="102022"/>
                  <a:pt x="168827" y="96050"/>
                  <a:pt x="147675" y="95269"/>
                </a:cubicBezTo>
                <a:lnTo>
                  <a:pt x="147675" y="95157"/>
                </a:lnTo>
                <a:cubicBezTo>
                  <a:pt x="147675" y="80981"/>
                  <a:pt x="158223" y="69205"/>
                  <a:pt x="171896" y="67308"/>
                </a:cubicBezTo>
                <a:cubicBezTo>
                  <a:pt x="174352" y="77800"/>
                  <a:pt x="183784" y="85613"/>
                  <a:pt x="195058" y="85613"/>
                </a:cubicBezTo>
                <a:lnTo>
                  <a:pt x="195114" y="85725"/>
                </a:lnTo>
                <a:close/>
                <a:moveTo>
                  <a:pt x="98840" y="137796"/>
                </a:moveTo>
                <a:cubicBezTo>
                  <a:pt x="108161" y="137796"/>
                  <a:pt x="115305" y="147619"/>
                  <a:pt x="114746" y="159730"/>
                </a:cubicBezTo>
                <a:cubicBezTo>
                  <a:pt x="114188" y="171841"/>
                  <a:pt x="107212" y="176250"/>
                  <a:pt x="97836" y="176250"/>
                </a:cubicBezTo>
                <a:cubicBezTo>
                  <a:pt x="88460" y="176250"/>
                  <a:pt x="80311" y="171338"/>
                  <a:pt x="80869" y="159227"/>
                </a:cubicBezTo>
                <a:cubicBezTo>
                  <a:pt x="81428" y="147117"/>
                  <a:pt x="89464" y="137852"/>
                  <a:pt x="98785" y="137852"/>
                </a:cubicBezTo>
                <a:lnTo>
                  <a:pt x="98840" y="137796"/>
                </a:lnTo>
                <a:close/>
                <a:moveTo>
                  <a:pt x="204936" y="159172"/>
                </a:moveTo>
                <a:cubicBezTo>
                  <a:pt x="205494" y="171283"/>
                  <a:pt x="197290" y="176194"/>
                  <a:pt x="187970" y="176194"/>
                </a:cubicBezTo>
                <a:cubicBezTo>
                  <a:pt x="178650" y="176194"/>
                  <a:pt x="171617" y="171785"/>
                  <a:pt x="171059" y="159674"/>
                </a:cubicBezTo>
                <a:cubicBezTo>
                  <a:pt x="170501" y="147563"/>
                  <a:pt x="177645" y="137740"/>
                  <a:pt x="186965" y="137740"/>
                </a:cubicBezTo>
                <a:cubicBezTo>
                  <a:pt x="196286" y="137740"/>
                  <a:pt x="204378" y="147005"/>
                  <a:pt x="204881" y="159116"/>
                </a:cubicBezTo>
                <a:lnTo>
                  <a:pt x="204936" y="159172"/>
                </a:lnTo>
                <a:close/>
                <a:moveTo>
                  <a:pt x="178091" y="190816"/>
                </a:moveTo>
                <a:cubicBezTo>
                  <a:pt x="172343" y="204546"/>
                  <a:pt x="158781" y="214201"/>
                  <a:pt x="142931" y="214201"/>
                </a:cubicBezTo>
                <a:cubicBezTo>
                  <a:pt x="127081" y="214201"/>
                  <a:pt x="113519" y="204546"/>
                  <a:pt x="107770" y="190816"/>
                </a:cubicBezTo>
                <a:cubicBezTo>
                  <a:pt x="107100" y="189198"/>
                  <a:pt x="108217" y="187356"/>
                  <a:pt x="109947" y="187189"/>
                </a:cubicBezTo>
                <a:cubicBezTo>
                  <a:pt x="120216" y="186128"/>
                  <a:pt x="131322" y="185570"/>
                  <a:pt x="142931" y="185570"/>
                </a:cubicBezTo>
                <a:cubicBezTo>
                  <a:pt x="154539" y="185570"/>
                  <a:pt x="165646" y="186128"/>
                  <a:pt x="175915" y="187189"/>
                </a:cubicBezTo>
                <a:cubicBezTo>
                  <a:pt x="177645" y="187356"/>
                  <a:pt x="178761" y="189198"/>
                  <a:pt x="178091" y="190816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76850" y="1857375"/>
            <a:ext cx="9620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Reddit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14850" y="3355181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Validation-driven discussions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14850" y="3736181"/>
            <a:ext cx="3248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Users seeking confirmation before committing capital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62925" y="1485900"/>
            <a:ext cx="3638550" cy="3876675"/>
          </a:xfrm>
          <a:prstGeom prst="roundRect">
            <a:avLst>
              <a:gd name="adj" fmla="val 2094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410575" y="17335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DC2626">
              <a:alpha val="3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565356" y="18859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163050" y="1857375"/>
            <a:ext cx="17430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TradingView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01050" y="3355181"/>
            <a:ext cx="325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Idea-based decision points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01050" y="3736181"/>
            <a:ext cx="32480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Technical analysis leading to action moments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375" y="56007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are high-intent environments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385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go where decisions are already happening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3388"/>
            <a:ext cx="114300" cy="6096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54483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Usage to Habit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87710" y="1966912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136551" y="219551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89086" y="-5525"/>
                </a:moveTo>
                <a:cubicBezTo>
                  <a:pt x="195728" y="-726"/>
                  <a:pt x="198183" y="7981"/>
                  <a:pt x="195169" y="15571"/>
                </a:cubicBezTo>
                <a:lnTo>
                  <a:pt x="151414" y="125016"/>
                </a:lnTo>
                <a:lnTo>
                  <a:pt x="232172" y="125016"/>
                </a:lnTo>
                <a:cubicBezTo>
                  <a:pt x="239706" y="125016"/>
                  <a:pt x="246404" y="129704"/>
                  <a:pt x="248971" y="136792"/>
                </a:cubicBezTo>
                <a:cubicBezTo>
                  <a:pt x="251538" y="143880"/>
                  <a:pt x="249362" y="151805"/>
                  <a:pt x="243613" y="156604"/>
                </a:cubicBezTo>
                <a:lnTo>
                  <a:pt x="82879" y="290550"/>
                </a:lnTo>
                <a:cubicBezTo>
                  <a:pt x="76572" y="295796"/>
                  <a:pt x="67587" y="296075"/>
                  <a:pt x="60945" y="291275"/>
                </a:cubicBezTo>
                <a:cubicBezTo>
                  <a:pt x="54304" y="286476"/>
                  <a:pt x="51848" y="277769"/>
                  <a:pt x="54862" y="270179"/>
                </a:cubicBezTo>
                <a:lnTo>
                  <a:pt x="98617" y="160734"/>
                </a:lnTo>
                <a:lnTo>
                  <a:pt x="17859" y="160734"/>
                </a:lnTo>
                <a:cubicBezTo>
                  <a:pt x="10325" y="160734"/>
                  <a:pt x="3628" y="156046"/>
                  <a:pt x="1060" y="148958"/>
                </a:cubicBezTo>
                <a:cubicBezTo>
                  <a:pt x="-1507" y="141870"/>
                  <a:pt x="670" y="133945"/>
                  <a:pt x="6418" y="129146"/>
                </a:cubicBezTo>
                <a:lnTo>
                  <a:pt x="167153" y="-4800"/>
                </a:lnTo>
                <a:cubicBezTo>
                  <a:pt x="173459" y="-10046"/>
                  <a:pt x="182445" y="-10325"/>
                  <a:pt x="189086" y="-552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33375" y="2871788"/>
            <a:ext cx="1847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trigger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occurs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2900" y="34813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faces a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choice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27870" y="28051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306068" y="1966912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537049" y="21955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51733" y="2871788"/>
            <a:ext cx="1847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checks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Fnomo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61258" y="34813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Validation in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46327" y="28051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724525" y="1966912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5991225" y="2195513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19769" y="9711"/>
                </a:moveTo>
                <a:cubicBezTo>
                  <a:pt x="112793" y="2735"/>
                  <a:pt x="101464" y="2735"/>
                  <a:pt x="94487" y="9711"/>
                </a:cubicBezTo>
                <a:lnTo>
                  <a:pt x="5190" y="99008"/>
                </a:lnTo>
                <a:cubicBezTo>
                  <a:pt x="-1786" y="105984"/>
                  <a:pt x="-1786" y="117314"/>
                  <a:pt x="5190" y="124290"/>
                </a:cubicBezTo>
                <a:cubicBezTo>
                  <a:pt x="12167" y="131266"/>
                  <a:pt x="23496" y="131266"/>
                  <a:pt x="30473" y="124290"/>
                </a:cubicBezTo>
                <a:lnTo>
                  <a:pt x="89297" y="65466"/>
                </a:lnTo>
                <a:lnTo>
                  <a:pt x="89297" y="272355"/>
                </a:lnTo>
                <a:cubicBezTo>
                  <a:pt x="89297" y="282234"/>
                  <a:pt x="97278" y="290215"/>
                  <a:pt x="107156" y="290215"/>
                </a:cubicBezTo>
                <a:cubicBezTo>
                  <a:pt x="117035" y="290215"/>
                  <a:pt x="125016" y="282234"/>
                  <a:pt x="125016" y="272355"/>
                </a:cubicBezTo>
                <a:lnTo>
                  <a:pt x="125016" y="65466"/>
                </a:lnTo>
                <a:lnTo>
                  <a:pt x="183840" y="124290"/>
                </a:lnTo>
                <a:cubicBezTo>
                  <a:pt x="190816" y="131266"/>
                  <a:pt x="202146" y="131266"/>
                  <a:pt x="209122" y="124290"/>
                </a:cubicBezTo>
                <a:cubicBezTo>
                  <a:pt x="216098" y="117314"/>
                  <a:pt x="216098" y="105984"/>
                  <a:pt x="209122" y="99008"/>
                </a:cubicBezTo>
                <a:lnTo>
                  <a:pt x="119825" y="9711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70190" y="2871788"/>
            <a:ext cx="1847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79715" y="34813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direction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reduces doubt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64685" y="28051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142883" y="1966912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391724" y="2195513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50899" y="20594"/>
                </a:moveTo>
                <a:cubicBezTo>
                  <a:pt x="43979" y="16799"/>
                  <a:pt x="35607" y="16966"/>
                  <a:pt x="28798" y="20985"/>
                </a:cubicBezTo>
                <a:cubicBezTo>
                  <a:pt x="21989" y="25003"/>
                  <a:pt x="17859" y="32314"/>
                  <a:pt x="17859" y="40184"/>
                </a:cubicBezTo>
                <a:lnTo>
                  <a:pt x="17859" y="245566"/>
                </a:lnTo>
                <a:cubicBezTo>
                  <a:pt x="17859" y="253436"/>
                  <a:pt x="22045" y="260747"/>
                  <a:pt x="28798" y="264765"/>
                </a:cubicBezTo>
                <a:cubicBezTo>
                  <a:pt x="35551" y="268784"/>
                  <a:pt x="43979" y="268951"/>
                  <a:pt x="50899" y="265156"/>
                </a:cubicBezTo>
                <a:lnTo>
                  <a:pt x="238423" y="162465"/>
                </a:lnTo>
                <a:cubicBezTo>
                  <a:pt x="245566" y="158558"/>
                  <a:pt x="250031" y="151023"/>
                  <a:pt x="250031" y="142875"/>
                </a:cubicBezTo>
                <a:cubicBezTo>
                  <a:pt x="250031" y="134727"/>
                  <a:pt x="245566" y="127192"/>
                  <a:pt x="238423" y="123285"/>
                </a:cubicBezTo>
                <a:lnTo>
                  <a:pt x="50899" y="20594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588548" y="2871788"/>
            <a:ext cx="1847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taken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98073" y="34813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executed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83142" y="28051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80504" y="155488"/>
                </a:moveTo>
                <a:cubicBezTo>
                  <a:pt x="287480" y="148512"/>
                  <a:pt x="287480" y="137182"/>
                  <a:pt x="280504" y="130206"/>
                </a:cubicBezTo>
                <a:lnTo>
                  <a:pt x="191207" y="40909"/>
                </a:lnTo>
                <a:cubicBezTo>
                  <a:pt x="184231" y="33933"/>
                  <a:pt x="172901" y="33933"/>
                  <a:pt x="165925" y="40909"/>
                </a:cubicBezTo>
                <a:cubicBezTo>
                  <a:pt x="158948" y="47885"/>
                  <a:pt x="158948" y="59215"/>
                  <a:pt x="165925" y="66191"/>
                </a:cubicBezTo>
                <a:lnTo>
                  <a:pt x="224749" y="125016"/>
                </a:lnTo>
                <a:lnTo>
                  <a:pt x="17859" y="125016"/>
                </a:lnTo>
                <a:cubicBezTo>
                  <a:pt x="7981" y="125016"/>
                  <a:pt x="0" y="132997"/>
                  <a:pt x="0" y="142875"/>
                </a:cubicBezTo>
                <a:cubicBezTo>
                  <a:pt x="0" y="152753"/>
                  <a:pt x="7981" y="160734"/>
                  <a:pt x="17859" y="160734"/>
                </a:cubicBezTo>
                <a:lnTo>
                  <a:pt x="224749" y="160734"/>
                </a:lnTo>
                <a:lnTo>
                  <a:pt x="165925" y="219559"/>
                </a:lnTo>
                <a:cubicBezTo>
                  <a:pt x="158948" y="226535"/>
                  <a:pt x="158948" y="237865"/>
                  <a:pt x="165925" y="244841"/>
                </a:cubicBezTo>
                <a:cubicBezTo>
                  <a:pt x="172901" y="251817"/>
                  <a:pt x="184231" y="251817"/>
                  <a:pt x="191207" y="244841"/>
                </a:cubicBezTo>
                <a:lnTo>
                  <a:pt x="280504" y="155544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10561340" y="1966912"/>
            <a:ext cx="742950" cy="742950"/>
          </a:xfrm>
          <a:prstGeom prst="roundRect">
            <a:avLst>
              <a:gd name="adj" fmla="val 50000"/>
            </a:avLst>
          </a:prstGeom>
          <a:solidFill>
            <a:srgbClr val="6D28D9">
              <a:alpha val="40000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792321" y="219551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43725" y="41690"/>
                </a:moveTo>
                <a:lnTo>
                  <a:pt x="250031" y="47662"/>
                </a:lnTo>
                <a:lnTo>
                  <a:pt x="250031" y="17859"/>
                </a:lnTo>
                <a:cubicBezTo>
                  <a:pt x="250031" y="7981"/>
                  <a:pt x="258012" y="0"/>
                  <a:pt x="267891" y="0"/>
                </a:cubicBezTo>
                <a:cubicBezTo>
                  <a:pt x="277769" y="0"/>
                  <a:pt x="285750" y="7981"/>
                  <a:pt x="285750" y="17859"/>
                </a:cubicBezTo>
                <a:lnTo>
                  <a:pt x="285750" y="89297"/>
                </a:lnTo>
                <a:cubicBezTo>
                  <a:pt x="285750" y="99175"/>
                  <a:pt x="277769" y="107156"/>
                  <a:pt x="267891" y="107156"/>
                </a:cubicBezTo>
                <a:lnTo>
                  <a:pt x="196453" y="107156"/>
                </a:lnTo>
                <a:cubicBezTo>
                  <a:pt x="186575" y="107156"/>
                  <a:pt x="178594" y="99175"/>
                  <a:pt x="178594" y="89297"/>
                </a:cubicBezTo>
                <a:cubicBezTo>
                  <a:pt x="178594" y="79418"/>
                  <a:pt x="186575" y="71438"/>
                  <a:pt x="196453" y="71438"/>
                </a:cubicBezTo>
                <a:lnTo>
                  <a:pt x="223186" y="71438"/>
                </a:lnTo>
                <a:lnTo>
                  <a:pt x="218945" y="67419"/>
                </a:lnTo>
                <a:cubicBezTo>
                  <a:pt x="218833" y="67308"/>
                  <a:pt x="218722" y="67196"/>
                  <a:pt x="218610" y="67084"/>
                </a:cubicBezTo>
                <a:cubicBezTo>
                  <a:pt x="176752" y="25226"/>
                  <a:pt x="108942" y="25226"/>
                  <a:pt x="67084" y="67084"/>
                </a:cubicBezTo>
                <a:cubicBezTo>
                  <a:pt x="25226" y="108942"/>
                  <a:pt x="25226" y="176752"/>
                  <a:pt x="67084" y="218610"/>
                </a:cubicBezTo>
                <a:cubicBezTo>
                  <a:pt x="108942" y="260468"/>
                  <a:pt x="176752" y="260468"/>
                  <a:pt x="218610" y="218610"/>
                </a:cubicBezTo>
                <a:cubicBezTo>
                  <a:pt x="223186" y="214033"/>
                  <a:pt x="227261" y="209178"/>
                  <a:pt x="230832" y="204043"/>
                </a:cubicBezTo>
                <a:cubicBezTo>
                  <a:pt x="236469" y="195951"/>
                  <a:pt x="247631" y="193997"/>
                  <a:pt x="255724" y="199634"/>
                </a:cubicBezTo>
                <a:cubicBezTo>
                  <a:pt x="263816" y="205271"/>
                  <a:pt x="265770" y="216433"/>
                  <a:pt x="260133" y="224526"/>
                </a:cubicBezTo>
                <a:cubicBezTo>
                  <a:pt x="255389" y="231335"/>
                  <a:pt x="249975" y="237809"/>
                  <a:pt x="243892" y="243892"/>
                </a:cubicBezTo>
                <a:cubicBezTo>
                  <a:pt x="188082" y="299703"/>
                  <a:pt x="97613" y="299703"/>
                  <a:pt x="41858" y="243892"/>
                </a:cubicBezTo>
                <a:cubicBezTo>
                  <a:pt x="-13897" y="188082"/>
                  <a:pt x="-13953" y="97668"/>
                  <a:pt x="41858" y="41858"/>
                </a:cubicBezTo>
                <a:cubicBezTo>
                  <a:pt x="97613" y="-13897"/>
                  <a:pt x="187914" y="-13953"/>
                  <a:pt x="243725" y="41690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0007005" y="2871788"/>
            <a:ext cx="18478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D28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Repeat behavior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D28D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habit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16530" y="34813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becomes</a:t>
            </a:r>
            <a:endParaRPr lang="en-US" sz="1600" dirty="0"/>
          </a:p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3F4F6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step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90525" y="4252913"/>
            <a:ext cx="11410950" cy="1123950"/>
          </a:xfrm>
          <a:prstGeom prst="roundRect">
            <a:avLst>
              <a:gd name="adj" fmla="val 6780"/>
            </a:avLst>
          </a:prstGeom>
          <a:solidFill>
            <a:srgbClr val="6D28D9">
              <a:alpha val="5098"/>
            </a:srgbClr>
          </a:solidFill>
          <a:ln w="25400">
            <a:solidFill>
              <a:srgbClr val="6D28D9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376117" y="4586288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0" y="228600"/>
                </a:moveTo>
                <a:cubicBezTo>
                  <a:pt x="0" y="149662"/>
                  <a:pt x="63937" y="85725"/>
                  <a:pt x="142875" y="85725"/>
                </a:cubicBezTo>
                <a:cubicBezTo>
                  <a:pt x="187881" y="85725"/>
                  <a:pt x="230207" y="106888"/>
                  <a:pt x="257175" y="142875"/>
                </a:cubicBezTo>
                <a:lnTo>
                  <a:pt x="285750" y="181005"/>
                </a:lnTo>
                <a:lnTo>
                  <a:pt x="314325" y="142875"/>
                </a:lnTo>
                <a:cubicBezTo>
                  <a:pt x="341293" y="106888"/>
                  <a:pt x="383619" y="85725"/>
                  <a:pt x="428625" y="85725"/>
                </a:cubicBezTo>
                <a:cubicBezTo>
                  <a:pt x="507563" y="85725"/>
                  <a:pt x="571500" y="149662"/>
                  <a:pt x="571500" y="228600"/>
                </a:cubicBezTo>
                <a:cubicBezTo>
                  <a:pt x="571500" y="307538"/>
                  <a:pt x="507563" y="371475"/>
                  <a:pt x="428625" y="371475"/>
                </a:cubicBezTo>
                <a:cubicBezTo>
                  <a:pt x="383619" y="371475"/>
                  <a:pt x="341293" y="350312"/>
                  <a:pt x="314325" y="314325"/>
                </a:cubicBezTo>
                <a:lnTo>
                  <a:pt x="285750" y="276195"/>
                </a:lnTo>
                <a:lnTo>
                  <a:pt x="257175" y="314325"/>
                </a:lnTo>
                <a:cubicBezTo>
                  <a:pt x="230207" y="350312"/>
                  <a:pt x="187881" y="371475"/>
                  <a:pt x="142875" y="371475"/>
                </a:cubicBezTo>
                <a:cubicBezTo>
                  <a:pt x="63937" y="371475"/>
                  <a:pt x="0" y="307538"/>
                  <a:pt x="0" y="228600"/>
                </a:cubicBezTo>
                <a:close/>
                <a:moveTo>
                  <a:pt x="250031" y="228600"/>
                </a:moveTo>
                <a:lnTo>
                  <a:pt x="211455" y="177165"/>
                </a:lnTo>
                <a:cubicBezTo>
                  <a:pt x="195292" y="155555"/>
                  <a:pt x="169843" y="142875"/>
                  <a:pt x="142875" y="142875"/>
                </a:cubicBezTo>
                <a:cubicBezTo>
                  <a:pt x="95548" y="142875"/>
                  <a:pt x="57150" y="181273"/>
                  <a:pt x="57150" y="228600"/>
                </a:cubicBezTo>
                <a:cubicBezTo>
                  <a:pt x="57150" y="275927"/>
                  <a:pt x="95548" y="314325"/>
                  <a:pt x="142875" y="314325"/>
                </a:cubicBezTo>
                <a:cubicBezTo>
                  <a:pt x="169843" y="314325"/>
                  <a:pt x="195292" y="301645"/>
                  <a:pt x="211455" y="280035"/>
                </a:cubicBezTo>
                <a:lnTo>
                  <a:pt x="250031" y="228600"/>
                </a:lnTo>
                <a:close/>
                <a:moveTo>
                  <a:pt x="321469" y="228600"/>
                </a:moveTo>
                <a:lnTo>
                  <a:pt x="360045" y="280035"/>
                </a:lnTo>
                <a:cubicBezTo>
                  <a:pt x="376208" y="301645"/>
                  <a:pt x="401657" y="314325"/>
                  <a:pt x="428625" y="314325"/>
                </a:cubicBezTo>
                <a:cubicBezTo>
                  <a:pt x="475952" y="314325"/>
                  <a:pt x="514350" y="275927"/>
                  <a:pt x="514350" y="228600"/>
                </a:cubicBezTo>
                <a:cubicBezTo>
                  <a:pt x="514350" y="181273"/>
                  <a:pt x="475952" y="142875"/>
                  <a:pt x="428625" y="142875"/>
                </a:cubicBezTo>
                <a:cubicBezTo>
                  <a:pt x="401657" y="142875"/>
                  <a:pt x="376208" y="155555"/>
                  <a:pt x="360045" y="177165"/>
                </a:cubicBezTo>
                <a:lnTo>
                  <a:pt x="321469" y="228600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176217" y="4491038"/>
            <a:ext cx="4752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Habit Loop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76217" y="4872038"/>
            <a:ext cx="4724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cycle reinforces trust. Each validation builds dependency.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becomes a default step before action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33388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652462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Measuring What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0525" y="1809750"/>
            <a:ext cx="6657975" cy="2276475"/>
          </a:xfrm>
          <a:prstGeom prst="roundRect">
            <a:avLst>
              <a:gd name="adj" fmla="val 3347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26281" y="2124075"/>
            <a:ext cx="385763" cy="342900"/>
          </a:xfrm>
          <a:custGeom>
            <a:avLst/>
            <a:gdLst/>
            <a:ahLst/>
            <a:cxnLst/>
            <a:rect l="l" t="t" r="r" b="b"/>
            <a:pathLst>
              <a:path w="385763" h="342900">
                <a:moveTo>
                  <a:pt x="207280" y="-12658"/>
                </a:moveTo>
                <a:cubicBezTo>
                  <a:pt x="204534" y="-18016"/>
                  <a:pt x="198976" y="-21431"/>
                  <a:pt x="192948" y="-21431"/>
                </a:cubicBezTo>
                <a:cubicBezTo>
                  <a:pt x="186921" y="-21431"/>
                  <a:pt x="181362" y="-18016"/>
                  <a:pt x="178616" y="-12658"/>
                </a:cubicBezTo>
                <a:lnTo>
                  <a:pt x="129324" y="83917"/>
                </a:lnTo>
                <a:lnTo>
                  <a:pt x="22235" y="100928"/>
                </a:lnTo>
                <a:cubicBezTo>
                  <a:pt x="16274" y="101865"/>
                  <a:pt x="11318" y="106085"/>
                  <a:pt x="9443" y="111844"/>
                </a:cubicBezTo>
                <a:cubicBezTo>
                  <a:pt x="7568" y="117604"/>
                  <a:pt x="9108" y="123899"/>
                  <a:pt x="13328" y="128186"/>
                </a:cubicBezTo>
                <a:lnTo>
                  <a:pt x="89944" y="204869"/>
                </a:lnTo>
                <a:lnTo>
                  <a:pt x="73067" y="311959"/>
                </a:lnTo>
                <a:cubicBezTo>
                  <a:pt x="72130" y="317919"/>
                  <a:pt x="74608" y="323947"/>
                  <a:pt x="79497" y="327496"/>
                </a:cubicBezTo>
                <a:cubicBezTo>
                  <a:pt x="84386" y="331046"/>
                  <a:pt x="90815" y="331582"/>
                  <a:pt x="96240" y="328836"/>
                </a:cubicBezTo>
                <a:lnTo>
                  <a:pt x="192948" y="279678"/>
                </a:lnTo>
                <a:lnTo>
                  <a:pt x="289590" y="328836"/>
                </a:lnTo>
                <a:cubicBezTo>
                  <a:pt x="294948" y="331582"/>
                  <a:pt x="301444" y="331046"/>
                  <a:pt x="306333" y="327496"/>
                </a:cubicBezTo>
                <a:cubicBezTo>
                  <a:pt x="311222" y="323947"/>
                  <a:pt x="313700" y="317986"/>
                  <a:pt x="312762" y="311959"/>
                </a:cubicBezTo>
                <a:lnTo>
                  <a:pt x="295818" y="204869"/>
                </a:lnTo>
                <a:lnTo>
                  <a:pt x="372435" y="128186"/>
                </a:lnTo>
                <a:cubicBezTo>
                  <a:pt x="376721" y="123899"/>
                  <a:pt x="378195" y="117604"/>
                  <a:pt x="376319" y="111844"/>
                </a:cubicBezTo>
                <a:cubicBezTo>
                  <a:pt x="374444" y="106085"/>
                  <a:pt x="369555" y="101865"/>
                  <a:pt x="363528" y="100928"/>
                </a:cubicBezTo>
                <a:lnTo>
                  <a:pt x="256505" y="83917"/>
                </a:lnTo>
                <a:lnTo>
                  <a:pt x="207280" y="-12658"/>
                </a:ln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285875" y="2124075"/>
            <a:ext cx="2314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North Star Metric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04850" y="2619375"/>
            <a:ext cx="62007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Pre-action usage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04850" y="3152775"/>
            <a:ext cx="61245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F3F4F6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Tracks real behavioral adoption. Not dependent on traffic or installs. Indicates trust and habit formation.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90525" y="4333875"/>
            <a:ext cx="2105025" cy="1200150"/>
          </a:xfrm>
          <a:prstGeom prst="roundRect">
            <a:avLst>
              <a:gd name="adj" fmla="val 6349"/>
            </a:avLst>
          </a:prstGeom>
          <a:solidFill>
            <a:srgbClr val="000000">
              <a:alpha val="0"/>
            </a:srgbClr>
          </a:solidFill>
          <a:ln w="25400">
            <a:solidFill>
              <a:srgbClr val="DC2626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6250" y="4533900"/>
            <a:ext cx="193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7688" y="50673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66306" y="4333875"/>
            <a:ext cx="2105025" cy="1200150"/>
          </a:xfrm>
          <a:prstGeom prst="roundRect">
            <a:avLst>
              <a:gd name="adj" fmla="val 6349"/>
            </a:avLst>
          </a:prstGeom>
          <a:solidFill>
            <a:srgbClr val="000000">
              <a:alpha val="0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752031" y="4533900"/>
            <a:ext cx="193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23468" y="50673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42186" y="4333875"/>
            <a:ext cx="2105025" cy="1200150"/>
          </a:xfrm>
          <a:prstGeom prst="roundRect">
            <a:avLst>
              <a:gd name="adj" fmla="val 6349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7911" y="4533900"/>
            <a:ext cx="1933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99348" y="5067300"/>
            <a:ext cx="1790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 3</a:t>
            </a:r>
            <a:endParaRPr lang="en-US" sz="1600" dirty="0"/>
          </a:p>
        </p:txBody>
      </p:sp>
      <p:pic>
        <p:nvPicPr>
          <p:cNvPr id="18" name="Image 0" descr="https://kimi-web-img.moonshot.cn/img/cdn.dribbble.com/3988629352c9cc2439ffb328c8ab76fe6abef402.jpg"/>
          <p:cNvPicPr>
            <a:picLocks noChangeAspect="1"/>
          </p:cNvPicPr>
          <p:nvPr/>
        </p:nvPicPr>
        <p:blipFill>
          <a:blip r:embed="rId3">
            <a:alphaModFix amt="80000"/>
          </a:blip>
          <a:srcRect t="36" b="36"/>
          <a:stretch/>
        </p:blipFill>
        <p:spPr>
          <a:xfrm>
            <a:off x="7360940" y="2003129"/>
            <a:ext cx="4448175" cy="3333750"/>
          </a:xfrm>
          <a:prstGeom prst="roundRect">
            <a:avLst>
              <a:gd name="adj" fmla="val 2286"/>
            </a:avLst>
          </a:prstGeom>
        </p:spPr>
      </p:pic>
      <p:sp>
        <p:nvSpPr>
          <p:cNvPr id="19" name="Shape 16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users don't check before acting, the system has no value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d402299a129a740372c7e0d37c21a617d31b73b6.jpg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0A0C">
                  <a:alpha val="95000"/>
                </a:srgbClr>
              </a:gs>
              <a:gs pos="50000">
                <a:srgbClr val="0A0A0C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381000" y="433388"/>
            <a:ext cx="114300" cy="6096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7700" y="381000"/>
            <a:ext cx="56292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Ownership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90525" y="14859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42925" y="16668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181100" y="1476375"/>
            <a:ext cx="316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 high-intent communities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1100" y="1857375"/>
            <a:ext cx="3133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and join where decisions happen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34125" y="14859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500813" y="1666875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1450" y="64294"/>
                </a:moveTo>
                <a:cubicBezTo>
                  <a:pt x="171450" y="107692"/>
                  <a:pt x="133052" y="142875"/>
                  <a:pt x="85725" y="142875"/>
                </a:cubicBezTo>
                <a:cubicBezTo>
                  <a:pt x="73804" y="142875"/>
                  <a:pt x="62463" y="140643"/>
                  <a:pt x="52149" y="136624"/>
                </a:cubicBezTo>
                <a:lnTo>
                  <a:pt x="15716" y="155912"/>
                </a:lnTo>
                <a:cubicBezTo>
                  <a:pt x="11564" y="158100"/>
                  <a:pt x="6474" y="157341"/>
                  <a:pt x="3125" y="154037"/>
                </a:cubicBezTo>
                <a:cubicBezTo>
                  <a:pt x="-223" y="150733"/>
                  <a:pt x="-982" y="145599"/>
                  <a:pt x="1250" y="141446"/>
                </a:cubicBezTo>
                <a:lnTo>
                  <a:pt x="17145" y="111443"/>
                </a:lnTo>
                <a:cubicBezTo>
                  <a:pt x="6385" y="98316"/>
                  <a:pt x="0" y="81975"/>
                  <a:pt x="0" y="64294"/>
                </a:cubicBezTo>
                <a:cubicBezTo>
                  <a:pt x="0" y="20895"/>
                  <a:pt x="38398" y="-14287"/>
                  <a:pt x="85725" y="-14287"/>
                </a:cubicBezTo>
                <a:cubicBezTo>
                  <a:pt x="133052" y="-14287"/>
                  <a:pt x="171450" y="20895"/>
                  <a:pt x="171450" y="64294"/>
                </a:cubicBezTo>
                <a:close/>
                <a:moveTo>
                  <a:pt x="171450" y="228600"/>
                </a:moveTo>
                <a:cubicBezTo>
                  <a:pt x="129436" y="228600"/>
                  <a:pt x="94476" y="200873"/>
                  <a:pt x="87154" y="164306"/>
                </a:cubicBezTo>
                <a:cubicBezTo>
                  <a:pt x="140732" y="163637"/>
                  <a:pt x="187300" y="125507"/>
                  <a:pt x="192435" y="73804"/>
                </a:cubicBezTo>
                <a:cubicBezTo>
                  <a:pt x="229627" y="82376"/>
                  <a:pt x="257175" y="113228"/>
                  <a:pt x="257175" y="150019"/>
                </a:cubicBezTo>
                <a:cubicBezTo>
                  <a:pt x="257175" y="167700"/>
                  <a:pt x="250790" y="184041"/>
                  <a:pt x="240030" y="197168"/>
                </a:cubicBezTo>
                <a:lnTo>
                  <a:pt x="255925" y="227171"/>
                </a:lnTo>
                <a:cubicBezTo>
                  <a:pt x="258113" y="231324"/>
                  <a:pt x="257354" y="236413"/>
                  <a:pt x="254050" y="239762"/>
                </a:cubicBezTo>
                <a:cubicBezTo>
                  <a:pt x="250746" y="243111"/>
                  <a:pt x="245611" y="243870"/>
                  <a:pt x="241459" y="241637"/>
                </a:cubicBezTo>
                <a:lnTo>
                  <a:pt x="205026" y="222349"/>
                </a:lnTo>
                <a:cubicBezTo>
                  <a:pt x="194712" y="226368"/>
                  <a:pt x="183371" y="228600"/>
                  <a:pt x="171450" y="228600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7124700" y="1476375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Drive conversation-based acquisition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24700" y="1857375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Organic growth through value delivery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90525" y="3025778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571500" y="32067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1181100" y="3016253"/>
            <a:ext cx="285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distribution loops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1100" y="3397253"/>
            <a:ext cx="2828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self-reinforcing growth cycles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34125" y="3025778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6500813" y="3206753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0060" y="38040"/>
                </a:moveTo>
                <a:lnTo>
                  <a:pt x="68000" y="95905"/>
                </a:lnTo>
                <a:cubicBezTo>
                  <a:pt x="65946" y="98182"/>
                  <a:pt x="66035" y="101709"/>
                  <a:pt x="68223" y="103897"/>
                </a:cubicBezTo>
                <a:cubicBezTo>
                  <a:pt x="81841" y="117515"/>
                  <a:pt x="103942" y="117515"/>
                  <a:pt x="117559" y="103897"/>
                </a:cubicBezTo>
                <a:lnTo>
                  <a:pt x="131758" y="89699"/>
                </a:lnTo>
                <a:cubicBezTo>
                  <a:pt x="133633" y="87823"/>
                  <a:pt x="135999" y="86797"/>
                  <a:pt x="138410" y="86618"/>
                </a:cubicBezTo>
                <a:cubicBezTo>
                  <a:pt x="141446" y="86350"/>
                  <a:pt x="144572" y="87377"/>
                  <a:pt x="146893" y="89699"/>
                </a:cubicBezTo>
                <a:lnTo>
                  <a:pt x="225743" y="167878"/>
                </a:lnTo>
                <a:lnTo>
                  <a:pt x="257175" y="142875"/>
                </a:lnTo>
                <a:lnTo>
                  <a:pt x="257175" y="14288"/>
                </a:lnTo>
                <a:lnTo>
                  <a:pt x="207169" y="42863"/>
                </a:lnTo>
                <a:lnTo>
                  <a:pt x="196542" y="35763"/>
                </a:lnTo>
                <a:cubicBezTo>
                  <a:pt x="189488" y="31075"/>
                  <a:pt x="181228" y="28575"/>
                  <a:pt x="172745" y="28575"/>
                </a:cubicBezTo>
                <a:lnTo>
                  <a:pt x="141312" y="28575"/>
                </a:lnTo>
                <a:cubicBezTo>
                  <a:pt x="140821" y="28575"/>
                  <a:pt x="140285" y="28575"/>
                  <a:pt x="139794" y="28620"/>
                </a:cubicBezTo>
                <a:cubicBezTo>
                  <a:pt x="132249" y="29021"/>
                  <a:pt x="125150" y="32415"/>
                  <a:pt x="120060" y="38040"/>
                </a:cubicBezTo>
                <a:close/>
                <a:moveTo>
                  <a:pt x="52060" y="81573"/>
                </a:moveTo>
                <a:lnTo>
                  <a:pt x="99745" y="28575"/>
                </a:lnTo>
                <a:lnTo>
                  <a:pt x="82064" y="28575"/>
                </a:lnTo>
                <a:cubicBezTo>
                  <a:pt x="70678" y="28575"/>
                  <a:pt x="59784" y="33084"/>
                  <a:pt x="51748" y="41121"/>
                </a:cubicBezTo>
                <a:lnTo>
                  <a:pt x="50006" y="42863"/>
                </a:lnTo>
                <a:lnTo>
                  <a:pt x="0" y="14288"/>
                </a:lnTo>
                <a:lnTo>
                  <a:pt x="0" y="142875"/>
                </a:lnTo>
                <a:lnTo>
                  <a:pt x="69830" y="201052"/>
                </a:lnTo>
                <a:cubicBezTo>
                  <a:pt x="80099" y="209624"/>
                  <a:pt x="93047" y="214313"/>
                  <a:pt x="106397" y="214313"/>
                </a:cubicBezTo>
                <a:lnTo>
                  <a:pt x="113407" y="214313"/>
                </a:lnTo>
                <a:lnTo>
                  <a:pt x="110282" y="211187"/>
                </a:lnTo>
                <a:cubicBezTo>
                  <a:pt x="106085" y="206990"/>
                  <a:pt x="106085" y="200204"/>
                  <a:pt x="110282" y="196051"/>
                </a:cubicBezTo>
                <a:cubicBezTo>
                  <a:pt x="114479" y="191899"/>
                  <a:pt x="121265" y="191854"/>
                  <a:pt x="125417" y="196051"/>
                </a:cubicBezTo>
                <a:lnTo>
                  <a:pt x="143723" y="214357"/>
                </a:lnTo>
                <a:lnTo>
                  <a:pt x="147742" y="214357"/>
                </a:lnTo>
                <a:cubicBezTo>
                  <a:pt x="156270" y="214357"/>
                  <a:pt x="164619" y="212437"/>
                  <a:pt x="172209" y="208865"/>
                </a:cubicBezTo>
                <a:lnTo>
                  <a:pt x="160288" y="196900"/>
                </a:lnTo>
                <a:cubicBezTo>
                  <a:pt x="156091" y="192703"/>
                  <a:pt x="156091" y="185916"/>
                  <a:pt x="160288" y="181764"/>
                </a:cubicBezTo>
                <a:cubicBezTo>
                  <a:pt x="164485" y="177611"/>
                  <a:pt x="171271" y="177567"/>
                  <a:pt x="175424" y="181764"/>
                </a:cubicBezTo>
                <a:lnTo>
                  <a:pt x="189711" y="196051"/>
                </a:lnTo>
                <a:lnTo>
                  <a:pt x="197525" y="188238"/>
                </a:lnTo>
                <a:cubicBezTo>
                  <a:pt x="201498" y="184264"/>
                  <a:pt x="202659" y="178504"/>
                  <a:pt x="200918" y="173459"/>
                </a:cubicBezTo>
                <a:lnTo>
                  <a:pt x="139348" y="112380"/>
                </a:lnTo>
                <a:lnTo>
                  <a:pt x="132695" y="119033"/>
                </a:lnTo>
                <a:cubicBezTo>
                  <a:pt x="110683" y="141044"/>
                  <a:pt x="75054" y="141044"/>
                  <a:pt x="53042" y="119033"/>
                </a:cubicBezTo>
                <a:cubicBezTo>
                  <a:pt x="42773" y="108764"/>
                  <a:pt x="42371" y="92288"/>
                  <a:pt x="52060" y="81528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7124700" y="3016253"/>
            <a:ext cx="3905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partnerships post-validation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24700" y="3397253"/>
            <a:ext cx="3876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through strategic alliances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390525" y="4565652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6D28D9">
              <a:alpha val="30196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600075" y="4746627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1181100" y="4556127"/>
            <a:ext cx="4552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Feed insights back into product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81100" y="4937127"/>
            <a:ext cx="452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improvement loop from market to development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is owned end-to-end, not functionally divided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790575"/>
            <a:ext cx="114300" cy="6096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7700" y="381000"/>
            <a:ext cx="542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 Concept to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Behaviour in 14 Days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2914650"/>
            <a:ext cx="3638550" cy="2228850"/>
          </a:xfrm>
          <a:prstGeom prst="roundRect">
            <a:avLst>
              <a:gd name="adj" fmla="val 3419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14350" y="3152775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1–3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905000" y="3686175"/>
            <a:ext cx="609600" cy="381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47700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33450" y="38766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decision logic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7700" y="4295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33450" y="4257675"/>
            <a:ext cx="838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MVP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7700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33450" y="4638675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output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76725" y="2914650"/>
            <a:ext cx="3638550" cy="2228850"/>
          </a:xfrm>
          <a:prstGeom prst="roundRect">
            <a:avLst>
              <a:gd name="adj" fmla="val 3419"/>
            </a:avLst>
          </a:prstGeom>
          <a:solidFill>
            <a:srgbClr val="DC2626">
              <a:alpha val="5098"/>
            </a:srgbClr>
          </a:solidFill>
          <a:ln w="25400">
            <a:solidFill>
              <a:srgbClr val="DC2626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00550" y="3152775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4–10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91200" y="3686175"/>
            <a:ext cx="609600" cy="381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533900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19650" y="3876675"/>
            <a:ext cx="1476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communities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33900" y="4295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819650" y="425767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conversations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33900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19650" y="4638675"/>
            <a:ext cx="828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trust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62925" y="2914650"/>
            <a:ext cx="3638550" cy="2228850"/>
          </a:xfrm>
          <a:prstGeom prst="roundRect">
            <a:avLst>
              <a:gd name="adj" fmla="val 3419"/>
            </a:avLst>
          </a:prstGeom>
          <a:solidFill>
            <a:srgbClr val="DC2626">
              <a:alpha val="10196"/>
            </a:srgbClr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286750" y="3152775"/>
            <a:ext cx="3390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Days 10–14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677400" y="3686175"/>
            <a:ext cx="609600" cy="3810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8420100" y="3914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8705850" y="38766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Introduce Fnomo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20100" y="4295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8705850" y="4257675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Acquire first users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20100" y="46767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8705850" y="46386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usage behavior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81000" y="6029325"/>
            <a:ext cx="11430000" cy="19050"/>
          </a:xfrm>
          <a:prstGeom prst="roundRect">
            <a:avLst>
              <a:gd name="adj" fmla="val 0"/>
            </a:avLst>
          </a:prstGeom>
          <a:solidFill>
            <a:srgbClr val="DC2626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000" y="6191250"/>
            <a:ext cx="115443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DC262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 of validation matters more than scale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8620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50800">
            <a:solidFill>
              <a:srgbClr val="0A0A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777240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50800">
            <a:solidFill>
              <a:srgbClr val="0A0A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11658600" y="389572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50800">
            <a:solidFill>
              <a:srgbClr val="0A0A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1eed26dcd6b60e810084374edfba0100bc2e61a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34188" b="34187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0A0A0C">
                  <a:alpha val="95000"/>
                </a:srgbClr>
              </a:gs>
              <a:gs pos="50000">
                <a:srgbClr val="0A0A0C">
                  <a:alpha val="85000"/>
                </a:srgbClr>
              </a:gs>
              <a:gs pos="100000">
                <a:srgbClr val="6D28D9">
                  <a:alpha val="2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1"/>
          <p:cNvSpPr/>
          <p:nvPr/>
        </p:nvSpPr>
        <p:spPr>
          <a:xfrm>
            <a:off x="5301655" y="810620"/>
            <a:ext cx="1590675" cy="514350"/>
          </a:xfrm>
          <a:prstGeom prst="roundRect">
            <a:avLst>
              <a:gd name="adj" fmla="val 0"/>
            </a:avLst>
          </a:prstGeom>
          <a:solidFill>
            <a:srgbClr val="000000">
              <a:alpha val="0"/>
            </a:srgbClr>
          </a:solidFill>
          <a:ln w="254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568355" y="959848"/>
            <a:ext cx="10551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kern="0" spc="450" dirty="0">
                <a:solidFill>
                  <a:srgbClr val="6D28D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77071" y="1715495"/>
            <a:ext cx="6038850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 Is</a:t>
            </a:r>
            <a:endParaRPr lang="en-US" sz="1600" dirty="0"/>
          </a:p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3F4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Already Structured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4000" y="3323239"/>
            <a:ext cx="1524000" cy="38100"/>
          </a:xfrm>
          <a:prstGeom prst="roundRect">
            <a:avLst>
              <a:gd name="adj" fmla="val 0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2799854" y="41328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214192" y="4123339"/>
            <a:ext cx="2295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is clearly defined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38900" y="41328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53238" y="4123339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GTM is aligned with behavior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94459" y="46281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908796" y="4618639"/>
            <a:ext cx="290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Entry channels are identified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588026" y="462816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6D28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7002363" y="4618639"/>
            <a:ext cx="2676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3F4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 system is ready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2023467" y="5313964"/>
            <a:ext cx="8143875" cy="19050"/>
          </a:xfrm>
          <a:prstGeom prst="roundRect">
            <a:avLst>
              <a:gd name="adj" fmla="val 0"/>
            </a:avLst>
          </a:prstGeom>
          <a:solidFill>
            <a:srgbClr val="6D28D9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1937742" y="5628289"/>
            <a:ext cx="831532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00" b="1" u="sng" dirty="0">
                <a:solidFill>
                  <a:schemeClr val="bg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 don't need to figure this out — we need to start this</a:t>
            </a:r>
            <a:endParaRPr lang="en-US" sz="1600" u="sng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735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Liter</vt:lpstr>
      <vt:lpstr>Arial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Fnomo — The Moment Before Action</dc:title>
  <dc:subject>Fnomo — The Moment Before Action</dc:subject>
  <dc:creator>Kimi</dc:creator>
  <cp:lastModifiedBy>Kush Trivedi</cp:lastModifiedBy>
  <cp:revision>3</cp:revision>
  <dcterms:created xsi:type="dcterms:W3CDTF">2026-04-20T17:14:58Z</dcterms:created>
  <dcterms:modified xsi:type="dcterms:W3CDTF">2026-04-20T17:21:54Z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{"Label":"Fnomo — The Moment Before Action","ContentProducer":"001191110108MACG2KBH8F10000","ProduceID":"19dabde1-fd92-8eb1-8000-0000236f0449","ReservedCode1":"","ContentPropagator":"001191110108MACG2KBH8F20000","PropagateID":"19dabde1-fd92-8eb1-8000-0000236f0449","ReservedCode2":""}</vt:lpwstr>
  </property>
</Properties>
</file>