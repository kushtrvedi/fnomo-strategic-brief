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  <p:embeddedFont>
      <p:font typeface="Quattrocento Sans" panose="020B0502050000020003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06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8d5a4b9d530fdf153ba3f36715a5f8d6af430c7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444" r="14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A192F">
                  <a:alpha val="95000"/>
                </a:srgbClr>
              </a:gs>
              <a:gs pos="50000">
                <a:srgbClr val="0A192F">
                  <a:alpha val="85000"/>
                </a:srgbClr>
              </a:gs>
              <a:gs pos="100000">
                <a:srgbClr val="0A192F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4175" y="1023144"/>
            <a:ext cx="2806700" cy="387350"/>
          </a:xfrm>
          <a:prstGeom prst="roundRect">
            <a:avLst>
              <a:gd name="adj" fmla="val 19672"/>
            </a:avLst>
          </a:prstGeom>
          <a:solidFill>
            <a:srgbClr val="64FFDA">
              <a:alpha val="14902"/>
            </a:srgbClr>
          </a:solidFill>
          <a:ln w="8467">
            <a:solidFill>
              <a:srgbClr val="64FFD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77850" y="1134269"/>
            <a:ext cx="249684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Validation Layer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47069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kern="0" spc="-180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Fnomo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185319"/>
            <a:ext cx="7620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295400" y="3013869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Decision Layer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699669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Helping employees and investors make better financial decisions before they act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0050" y="4671219"/>
            <a:ext cx="7296150" cy="942975"/>
          </a:xfrm>
          <a:custGeom>
            <a:avLst/>
            <a:gdLst/>
            <a:ahLst/>
            <a:cxnLst/>
            <a:rect l="l" t="t" r="r" b="b"/>
            <a:pathLst>
              <a:path w="7296150" h="942975">
                <a:moveTo>
                  <a:pt x="0" y="0"/>
                </a:moveTo>
                <a:lnTo>
                  <a:pt x="7219950" y="0"/>
                </a:lnTo>
                <a:cubicBezTo>
                  <a:pt x="7262006" y="0"/>
                  <a:pt x="7296150" y="34144"/>
                  <a:pt x="7296150" y="76200"/>
                </a:cubicBezTo>
                <a:lnTo>
                  <a:pt x="7296150" y="866775"/>
                </a:lnTo>
                <a:cubicBezTo>
                  <a:pt x="7296150" y="908831"/>
                  <a:pt x="7262006" y="942975"/>
                  <a:pt x="7219950" y="942975"/>
                </a:cubicBez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00050" y="4671219"/>
            <a:ext cx="38100" cy="942975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14363" y="48998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25016" y="4861719"/>
            <a:ext cx="66675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quality</a:t>
            </a:r>
            <a:r>
              <a:rPr lang="en-US" sz="135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single biggest driver of financial outcomes — yet it's the least supported layer today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62484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Pitch Deck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72962" y="6248400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9439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Decisions Are a Daily Cognitive Load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issue is not lack of access — it is lack of structured decision clarity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6143625" cy="1219200"/>
          </a:xfrm>
          <a:custGeom>
            <a:avLst/>
            <a:gdLst/>
            <a:ahLst/>
            <a:cxnLst/>
            <a:rect l="l" t="t" r="r" b="b"/>
            <a:pathLst>
              <a:path w="6143625" h="1219200">
                <a:moveTo>
                  <a:pt x="0" y="0"/>
                </a:moveTo>
                <a:lnTo>
                  <a:pt x="6067425" y="0"/>
                </a:lnTo>
                <a:cubicBezTo>
                  <a:pt x="6109481" y="0"/>
                  <a:pt x="6143625" y="34144"/>
                  <a:pt x="6143625" y="76200"/>
                </a:cubicBezTo>
                <a:lnTo>
                  <a:pt x="6143625" y="1143000"/>
                </a:lnTo>
                <a:cubicBezTo>
                  <a:pt x="6143625" y="1185056"/>
                  <a:pt x="6109481" y="1219200"/>
                  <a:pt x="6067425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409700"/>
            <a:ext cx="38100" cy="1219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096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2950" y="1733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219200" y="160020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Distraction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943100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actively track markets during work hours, causing constant attention shifts and fragmented focus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781300"/>
            <a:ext cx="6143625" cy="1219200"/>
          </a:xfrm>
          <a:custGeom>
            <a:avLst/>
            <a:gdLst/>
            <a:ahLst/>
            <a:cxnLst/>
            <a:rect l="l" t="t" r="r" b="b"/>
            <a:pathLst>
              <a:path w="6143625" h="1219200">
                <a:moveTo>
                  <a:pt x="0" y="0"/>
                </a:moveTo>
                <a:lnTo>
                  <a:pt x="6067425" y="0"/>
                </a:lnTo>
                <a:cubicBezTo>
                  <a:pt x="6109481" y="0"/>
                  <a:pt x="6143625" y="34144"/>
                  <a:pt x="6143625" y="76200"/>
                </a:cubicBezTo>
                <a:lnTo>
                  <a:pt x="6143625" y="1143000"/>
                </a:lnTo>
                <a:cubicBezTo>
                  <a:pt x="6143625" y="1185056"/>
                  <a:pt x="6109481" y="1219200"/>
                  <a:pt x="6067425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00050" y="2781300"/>
            <a:ext cx="38100" cy="12192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960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42950" y="3105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219200" y="297180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Overload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314700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information access paradoxically creates low clarity, leaving users overwhelmed and uncertain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152900"/>
            <a:ext cx="6143625" cy="1219200"/>
          </a:xfrm>
          <a:custGeom>
            <a:avLst/>
            <a:gdLst/>
            <a:ahLst/>
            <a:cxnLst/>
            <a:rect l="l" t="t" r="r" b="b"/>
            <a:pathLst>
              <a:path w="6143625" h="1219200">
                <a:moveTo>
                  <a:pt x="0" y="0"/>
                </a:moveTo>
                <a:lnTo>
                  <a:pt x="6067425" y="0"/>
                </a:lnTo>
                <a:cubicBezTo>
                  <a:pt x="6109481" y="0"/>
                  <a:pt x="6143625" y="34144"/>
                  <a:pt x="6143625" y="76200"/>
                </a:cubicBezTo>
                <a:lnTo>
                  <a:pt x="6143625" y="1143000"/>
                </a:lnTo>
                <a:cubicBezTo>
                  <a:pt x="6143625" y="1185056"/>
                  <a:pt x="6109481" y="1219200"/>
                  <a:pt x="6067425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00050" y="4152900"/>
            <a:ext cx="38100" cy="1219200"/>
          </a:xfrm>
          <a:prstGeom prst="roundRect">
            <a:avLst>
              <a:gd name="adj" fmla="val 0"/>
            </a:avLst>
          </a:pr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960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467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54856" y="4476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19200" y="434340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Impulsive Actions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4686300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Decisions become delayed or impulsive, driven by emotion rather than structured validation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175" y="5667376"/>
            <a:ext cx="6149975" cy="806450"/>
          </a:xfrm>
          <a:prstGeom prst="roundRect">
            <a:avLst>
              <a:gd name="adj" fmla="val 9449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87375" y="5975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92175" y="5822950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2175" y="6089650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focus • Increased stress • Poor financial outcomes</a:t>
            </a:r>
            <a:endParaRPr lang="en-US" sz="1600" dirty="0"/>
          </a:p>
        </p:txBody>
      </p:sp>
      <p:pic>
        <p:nvPicPr>
          <p:cNvPr id="27" name="Image 0" descr="https://kimi-web-img.moonshot.cn/img/images.stockcake.com/ea12ca31ae39b0aa5a310079539c947b944a9789.jpg"/>
          <p:cNvPicPr>
            <a:picLocks noChangeAspect="1"/>
          </p:cNvPicPr>
          <p:nvPr/>
        </p:nvPicPr>
        <p:blipFill>
          <a:blip r:embed="rId3"/>
          <a:srcRect l="282" r="282"/>
          <a:stretch/>
        </p:blipFill>
        <p:spPr>
          <a:xfrm>
            <a:off x="6770390" y="1409700"/>
            <a:ext cx="5038725" cy="5067300"/>
          </a:xfrm>
          <a:prstGeom prst="roundRect">
            <a:avLst>
              <a:gd name="adj" fmla="val 1512"/>
            </a:avLst>
          </a:prstGeom>
        </p:spPr>
      </p:pic>
      <p:sp>
        <p:nvSpPr>
          <p:cNvPr id="28" name="Shape 25"/>
          <p:cNvSpPr/>
          <p:nvPr/>
        </p:nvSpPr>
        <p:spPr>
          <a:xfrm>
            <a:off x="6770390" y="1409700"/>
            <a:ext cx="5038725" cy="5067300"/>
          </a:xfrm>
          <a:prstGeom prst="roundRect">
            <a:avLst>
              <a:gd name="adj" fmla="val 1512"/>
            </a:avLst>
          </a:prstGeom>
          <a:gradFill flip="none" rotWithShape="1">
            <a:gsLst>
              <a:gs pos="0">
                <a:srgbClr val="0A192F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7002165" y="5438776"/>
            <a:ext cx="4578350" cy="806450"/>
          </a:xfrm>
          <a:prstGeom prst="roundRect">
            <a:avLst>
              <a:gd name="adj" fmla="val 9449"/>
            </a:avLst>
          </a:prstGeom>
          <a:solidFill>
            <a:srgbClr val="0A192F">
              <a:alpha val="9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7157740" y="5594350"/>
            <a:ext cx="4343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reality:</a:t>
            </a: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notification, every market dip, every headline pulls employees away from their core work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175" y="369175"/>
            <a:ext cx="73835" cy="44301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53762" y="369175"/>
            <a:ext cx="5952945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8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Decisions Break Down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3756" y="881407"/>
            <a:ext cx="11263870" cy="27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financial mistakes happen in the last 10 seconds before action; </a:t>
            </a:r>
            <a:r>
              <a:rPr lang="en-US" sz="1600" dirty="0">
                <a:solidFill>
                  <a:schemeClr val="accent4"/>
                </a:solidFill>
              </a:rPr>
              <a:t>This is exactly what we’re observing in Telegram and Reddit conversations</a:t>
            </a:r>
          </a:p>
        </p:txBody>
      </p:sp>
      <p:pic>
        <p:nvPicPr>
          <p:cNvPr id="5" name="Image 0" descr="https://kimi-web-img.moonshot.cn/img/static.vecteezy.com/4ea694b1c133ce928862f5f2cc06d5058d2927dd.jpeg"/>
          <p:cNvPicPr>
            <a:picLocks noChangeAspect="1"/>
          </p:cNvPicPr>
          <p:nvPr/>
        </p:nvPicPr>
        <p:blipFill>
          <a:blip r:embed="rId3"/>
          <a:srcRect l="20399" r="20399"/>
          <a:stretch/>
        </p:blipFill>
        <p:spPr>
          <a:xfrm>
            <a:off x="369175" y="1292112"/>
            <a:ext cx="5629917" cy="5325347"/>
          </a:xfrm>
          <a:prstGeom prst="roundRect">
            <a:avLst>
              <a:gd name="adj" fmla="val 138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69175" y="1292112"/>
            <a:ext cx="5629917" cy="5325347"/>
          </a:xfrm>
          <a:prstGeom prst="roundRect">
            <a:avLst>
              <a:gd name="adj" fmla="val 1386"/>
            </a:avLst>
          </a:prstGeom>
          <a:gradFill flip="none" rotWithShape="1">
            <a:gsLst>
              <a:gs pos="0">
                <a:srgbClr val="0A192F">
                  <a:alpha val="3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A192F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93756" y="1516693"/>
            <a:ext cx="5183830" cy="929090"/>
          </a:xfrm>
          <a:prstGeom prst="roundRect">
            <a:avLst>
              <a:gd name="adj" fmla="val 7947"/>
            </a:avLst>
          </a:prstGeom>
          <a:solidFill>
            <a:srgbClr val="0A192F">
              <a:alpha val="90196"/>
            </a:srgbClr>
          </a:solidFill>
          <a:ln w="8467">
            <a:solidFill>
              <a:srgbClr val="FFB8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72191" y="1722817"/>
            <a:ext cx="221505" cy="221505"/>
          </a:xfrm>
          <a:custGeom>
            <a:avLst/>
            <a:gdLst/>
            <a:ahLst/>
            <a:cxnLst/>
            <a:rect l="l" t="t" r="r" b="b"/>
            <a:pathLst>
              <a:path w="221505" h="221505">
                <a:moveTo>
                  <a:pt x="110752" y="0"/>
                </a:moveTo>
                <a:cubicBezTo>
                  <a:pt x="171878" y="0"/>
                  <a:pt x="221505" y="49627"/>
                  <a:pt x="221505" y="110752"/>
                </a:cubicBezTo>
                <a:cubicBezTo>
                  <a:pt x="221505" y="171878"/>
                  <a:pt x="171878" y="221505"/>
                  <a:pt x="110752" y="221505"/>
                </a:cubicBezTo>
                <a:cubicBezTo>
                  <a:pt x="49627" y="221505"/>
                  <a:pt x="0" y="171878"/>
                  <a:pt x="0" y="110752"/>
                </a:cubicBezTo>
                <a:cubicBezTo>
                  <a:pt x="0" y="49627"/>
                  <a:pt x="49627" y="0"/>
                  <a:pt x="110752" y="0"/>
                </a:cubicBezTo>
                <a:close/>
                <a:moveTo>
                  <a:pt x="100369" y="51915"/>
                </a:moveTo>
                <a:lnTo>
                  <a:pt x="100369" y="110752"/>
                </a:lnTo>
                <a:cubicBezTo>
                  <a:pt x="100369" y="114213"/>
                  <a:pt x="102100" y="117458"/>
                  <a:pt x="104999" y="119405"/>
                </a:cubicBezTo>
                <a:lnTo>
                  <a:pt x="146531" y="147093"/>
                </a:lnTo>
                <a:cubicBezTo>
                  <a:pt x="151290" y="150295"/>
                  <a:pt x="157736" y="148997"/>
                  <a:pt x="160937" y="144195"/>
                </a:cubicBezTo>
                <a:cubicBezTo>
                  <a:pt x="164139" y="139392"/>
                  <a:pt x="162841" y="132989"/>
                  <a:pt x="158039" y="129788"/>
                </a:cubicBezTo>
                <a:lnTo>
                  <a:pt x="121136" y="105215"/>
                </a:lnTo>
                <a:lnTo>
                  <a:pt x="121136" y="51915"/>
                </a:lnTo>
                <a:cubicBezTo>
                  <a:pt x="121136" y="46161"/>
                  <a:pt x="116506" y="41532"/>
                  <a:pt x="110752" y="41532"/>
                </a:cubicBezTo>
                <a:cubicBezTo>
                  <a:pt x="104999" y="41532"/>
                  <a:pt x="100369" y="46161"/>
                  <a:pt x="100369" y="51915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32136" y="1667441"/>
            <a:ext cx="1550534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Seconds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4503" y="2073533"/>
            <a:ext cx="4956173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critical window where validation should happen — but doesn't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90793" y="1295188"/>
            <a:ext cx="5626840" cy="1076760"/>
          </a:xfrm>
          <a:prstGeom prst="roundRect">
            <a:avLst>
              <a:gd name="adj" fmla="val 685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6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41540" y="1445936"/>
            <a:ext cx="369175" cy="369175"/>
          </a:xfrm>
          <a:prstGeom prst="roundRect">
            <a:avLst>
              <a:gd name="adj" fmla="val 50000"/>
            </a:avLst>
          </a:prstGeom>
          <a:solidFill>
            <a:srgbClr val="FF6467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45370" y="1547459"/>
            <a:ext cx="166129" cy="166129"/>
          </a:xfrm>
          <a:custGeom>
            <a:avLst/>
            <a:gdLst/>
            <a:ahLst/>
            <a:cxnLst/>
            <a:rect l="l" t="t" r="r" b="b"/>
            <a:pathLst>
              <a:path w="166129" h="166129">
                <a:moveTo>
                  <a:pt x="83064" y="166129"/>
                </a:moveTo>
                <a:cubicBezTo>
                  <a:pt x="128909" y="166129"/>
                  <a:pt x="166129" y="128909"/>
                  <a:pt x="166129" y="83064"/>
                </a:cubicBezTo>
                <a:cubicBezTo>
                  <a:pt x="166129" y="37220"/>
                  <a:pt x="128909" y="0"/>
                  <a:pt x="83064" y="0"/>
                </a:cubicBezTo>
                <a:cubicBezTo>
                  <a:pt x="37220" y="0"/>
                  <a:pt x="0" y="37220"/>
                  <a:pt x="0" y="83064"/>
                </a:cubicBezTo>
                <a:cubicBezTo>
                  <a:pt x="0" y="128909"/>
                  <a:pt x="37220" y="166129"/>
                  <a:pt x="83064" y="166129"/>
                </a:cubicBezTo>
                <a:close/>
                <a:moveTo>
                  <a:pt x="83064" y="57107"/>
                </a:moveTo>
                <a:cubicBezTo>
                  <a:pt x="77321" y="57107"/>
                  <a:pt x="72681" y="61747"/>
                  <a:pt x="72681" y="67490"/>
                </a:cubicBezTo>
                <a:cubicBezTo>
                  <a:pt x="72681" y="71805"/>
                  <a:pt x="69209" y="75277"/>
                  <a:pt x="64894" y="75277"/>
                </a:cubicBezTo>
                <a:cubicBezTo>
                  <a:pt x="60579" y="75277"/>
                  <a:pt x="57107" y="71805"/>
                  <a:pt x="57107" y="67490"/>
                </a:cubicBezTo>
                <a:cubicBezTo>
                  <a:pt x="57107" y="53148"/>
                  <a:pt x="68723" y="41532"/>
                  <a:pt x="83064" y="41532"/>
                </a:cubicBezTo>
                <a:cubicBezTo>
                  <a:pt x="97406" y="41532"/>
                  <a:pt x="109022" y="53148"/>
                  <a:pt x="109022" y="67490"/>
                </a:cubicBezTo>
                <a:cubicBezTo>
                  <a:pt x="109022" y="82805"/>
                  <a:pt x="97341" y="89294"/>
                  <a:pt x="90852" y="91663"/>
                </a:cubicBezTo>
                <a:lnTo>
                  <a:pt x="90852" y="92896"/>
                </a:lnTo>
                <a:cubicBezTo>
                  <a:pt x="90852" y="97211"/>
                  <a:pt x="87380" y="100683"/>
                  <a:pt x="83064" y="100683"/>
                </a:cubicBezTo>
                <a:cubicBezTo>
                  <a:pt x="78749" y="100683"/>
                  <a:pt x="75277" y="97211"/>
                  <a:pt x="75277" y="92896"/>
                </a:cubicBezTo>
                <a:lnTo>
                  <a:pt x="75277" y="90268"/>
                </a:lnTo>
                <a:cubicBezTo>
                  <a:pt x="75277" y="83616"/>
                  <a:pt x="80079" y="78846"/>
                  <a:pt x="85044" y="77224"/>
                </a:cubicBezTo>
                <a:cubicBezTo>
                  <a:pt x="87120" y="76542"/>
                  <a:pt x="89327" y="75439"/>
                  <a:pt x="90949" y="73882"/>
                </a:cubicBezTo>
                <a:cubicBezTo>
                  <a:pt x="92344" y="72519"/>
                  <a:pt x="93447" y="70637"/>
                  <a:pt x="93447" y="67522"/>
                </a:cubicBezTo>
                <a:cubicBezTo>
                  <a:pt x="93447" y="61779"/>
                  <a:pt x="88807" y="57139"/>
                  <a:pt x="83064" y="57139"/>
                </a:cubicBezTo>
                <a:close/>
                <a:moveTo>
                  <a:pt x="72681" y="119405"/>
                </a:moveTo>
                <a:cubicBezTo>
                  <a:pt x="72681" y="113674"/>
                  <a:pt x="77334" y="109022"/>
                  <a:pt x="83064" y="109022"/>
                </a:cubicBezTo>
                <a:cubicBezTo>
                  <a:pt x="88795" y="109022"/>
                  <a:pt x="93447" y="113674"/>
                  <a:pt x="93447" y="119405"/>
                </a:cubicBezTo>
                <a:cubicBezTo>
                  <a:pt x="93447" y="125136"/>
                  <a:pt x="88795" y="129788"/>
                  <a:pt x="83064" y="129788"/>
                </a:cubicBezTo>
                <a:cubicBezTo>
                  <a:pt x="77334" y="129788"/>
                  <a:pt x="72681" y="125136"/>
                  <a:pt x="72681" y="119405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858385" y="1445936"/>
            <a:ext cx="489156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Uncertainty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385" y="1741276"/>
            <a:ext cx="4882338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Decisions happen under uncertainty with incomplete information and time pressure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90793" y="2488854"/>
            <a:ext cx="5626840" cy="836796"/>
          </a:xfrm>
          <a:prstGeom prst="roundRect">
            <a:avLst>
              <a:gd name="adj" fmla="val 8824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341540" y="2639600"/>
            <a:ext cx="369175" cy="369175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445370" y="2741123"/>
            <a:ext cx="166129" cy="166129"/>
          </a:xfrm>
          <a:custGeom>
            <a:avLst/>
            <a:gdLst/>
            <a:ahLst/>
            <a:cxnLst/>
            <a:rect l="l" t="t" r="r" b="b"/>
            <a:pathLst>
              <a:path w="166129" h="166129">
                <a:moveTo>
                  <a:pt x="83064" y="35010"/>
                </a:moveTo>
                <a:lnTo>
                  <a:pt x="78197" y="28261"/>
                </a:lnTo>
                <a:cubicBezTo>
                  <a:pt x="70086" y="17035"/>
                  <a:pt x="57074" y="10383"/>
                  <a:pt x="43187" y="10383"/>
                </a:cubicBezTo>
                <a:cubicBezTo>
                  <a:pt x="19338" y="10383"/>
                  <a:pt x="0" y="29721"/>
                  <a:pt x="0" y="53570"/>
                </a:cubicBezTo>
                <a:lnTo>
                  <a:pt x="0" y="54414"/>
                </a:lnTo>
                <a:cubicBezTo>
                  <a:pt x="0" y="62071"/>
                  <a:pt x="2012" y="69988"/>
                  <a:pt x="5386" y="77873"/>
                </a:cubicBezTo>
                <a:lnTo>
                  <a:pt x="39780" y="77873"/>
                </a:lnTo>
                <a:cubicBezTo>
                  <a:pt x="40818" y="77873"/>
                  <a:pt x="41759" y="77256"/>
                  <a:pt x="42181" y="76283"/>
                </a:cubicBezTo>
                <a:lnTo>
                  <a:pt x="52499" y="51526"/>
                </a:lnTo>
                <a:cubicBezTo>
                  <a:pt x="53700" y="48671"/>
                  <a:pt x="56490" y="46789"/>
                  <a:pt x="59573" y="46724"/>
                </a:cubicBezTo>
                <a:cubicBezTo>
                  <a:pt x="62655" y="46659"/>
                  <a:pt x="65511" y="48476"/>
                  <a:pt x="66776" y="51299"/>
                </a:cubicBezTo>
                <a:lnTo>
                  <a:pt x="83421" y="88256"/>
                </a:lnTo>
                <a:lnTo>
                  <a:pt x="96854" y="61390"/>
                </a:lnTo>
                <a:cubicBezTo>
                  <a:pt x="98185" y="58762"/>
                  <a:pt x="100878" y="57074"/>
                  <a:pt x="103830" y="57074"/>
                </a:cubicBezTo>
                <a:cubicBezTo>
                  <a:pt x="106783" y="57074"/>
                  <a:pt x="109476" y="58729"/>
                  <a:pt x="110807" y="61390"/>
                </a:cubicBezTo>
                <a:lnTo>
                  <a:pt x="118334" y="76413"/>
                </a:lnTo>
                <a:cubicBezTo>
                  <a:pt x="118789" y="77289"/>
                  <a:pt x="119665" y="77840"/>
                  <a:pt x="120670" y="77840"/>
                </a:cubicBezTo>
                <a:lnTo>
                  <a:pt x="160775" y="77840"/>
                </a:lnTo>
                <a:cubicBezTo>
                  <a:pt x="164182" y="69956"/>
                  <a:pt x="166161" y="62039"/>
                  <a:pt x="166161" y="54381"/>
                </a:cubicBezTo>
                <a:lnTo>
                  <a:pt x="166161" y="53538"/>
                </a:lnTo>
                <a:cubicBezTo>
                  <a:pt x="166129" y="29721"/>
                  <a:pt x="146790" y="10383"/>
                  <a:pt x="122942" y="10383"/>
                </a:cubicBezTo>
                <a:cubicBezTo>
                  <a:pt x="109087" y="10383"/>
                  <a:pt x="96043" y="17035"/>
                  <a:pt x="87931" y="28261"/>
                </a:cubicBezTo>
                <a:lnTo>
                  <a:pt x="83064" y="34978"/>
                </a:lnTo>
                <a:close/>
                <a:moveTo>
                  <a:pt x="152371" y="93447"/>
                </a:moveTo>
                <a:lnTo>
                  <a:pt x="120638" y="93447"/>
                </a:lnTo>
                <a:cubicBezTo>
                  <a:pt x="113759" y="93447"/>
                  <a:pt x="107464" y="89554"/>
                  <a:pt x="104382" y="83389"/>
                </a:cubicBezTo>
                <a:lnTo>
                  <a:pt x="103830" y="82286"/>
                </a:lnTo>
                <a:lnTo>
                  <a:pt x="90040" y="109898"/>
                </a:lnTo>
                <a:cubicBezTo>
                  <a:pt x="88710" y="112591"/>
                  <a:pt x="85920" y="114278"/>
                  <a:pt x="82902" y="114213"/>
                </a:cubicBezTo>
                <a:cubicBezTo>
                  <a:pt x="79885" y="114149"/>
                  <a:pt x="77191" y="112364"/>
                  <a:pt x="75958" y="109638"/>
                </a:cubicBezTo>
                <a:lnTo>
                  <a:pt x="59962" y="74109"/>
                </a:lnTo>
                <a:lnTo>
                  <a:pt x="56555" y="82286"/>
                </a:lnTo>
                <a:cubicBezTo>
                  <a:pt x="53732" y="89067"/>
                  <a:pt x="47113" y="93480"/>
                  <a:pt x="39780" y="93480"/>
                </a:cubicBezTo>
                <a:lnTo>
                  <a:pt x="13758" y="93480"/>
                </a:lnTo>
                <a:cubicBezTo>
                  <a:pt x="29073" y="117426"/>
                  <a:pt x="53667" y="139457"/>
                  <a:pt x="69047" y="151203"/>
                </a:cubicBezTo>
                <a:cubicBezTo>
                  <a:pt x="73071" y="154253"/>
                  <a:pt x="78003" y="155778"/>
                  <a:pt x="83032" y="155778"/>
                </a:cubicBezTo>
                <a:cubicBezTo>
                  <a:pt x="88061" y="155778"/>
                  <a:pt x="93026" y="154286"/>
                  <a:pt x="97017" y="151203"/>
                </a:cubicBezTo>
                <a:cubicBezTo>
                  <a:pt x="112461" y="139425"/>
                  <a:pt x="137056" y="117393"/>
                  <a:pt x="152371" y="93447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858385" y="2639600"/>
            <a:ext cx="474389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Triggers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385" y="2934940"/>
            <a:ext cx="4734668" cy="239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Fear, greed, and FOMO override rational thinking at the moment of action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90793" y="3442556"/>
            <a:ext cx="5626840" cy="1076760"/>
          </a:xfrm>
          <a:prstGeom prst="roundRect">
            <a:avLst>
              <a:gd name="adj" fmla="val 685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341540" y="3593302"/>
            <a:ext cx="369175" cy="369175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445370" y="3694826"/>
            <a:ext cx="166129" cy="166129"/>
          </a:xfrm>
          <a:custGeom>
            <a:avLst/>
            <a:gdLst/>
            <a:ahLst/>
            <a:cxnLst/>
            <a:rect l="l" t="t" r="r" b="b"/>
            <a:pathLst>
              <a:path w="166129" h="166129">
                <a:moveTo>
                  <a:pt x="72681" y="0"/>
                </a:moveTo>
                <a:cubicBezTo>
                  <a:pt x="84135" y="0"/>
                  <a:pt x="93447" y="6976"/>
                  <a:pt x="93447" y="15575"/>
                </a:cubicBezTo>
                <a:cubicBezTo>
                  <a:pt x="93447" y="18949"/>
                  <a:pt x="92020" y="22064"/>
                  <a:pt x="89554" y="24627"/>
                </a:cubicBezTo>
                <a:cubicBezTo>
                  <a:pt x="87412" y="26866"/>
                  <a:pt x="85660" y="29592"/>
                  <a:pt x="85660" y="32707"/>
                </a:cubicBezTo>
                <a:cubicBezTo>
                  <a:pt x="85660" y="37574"/>
                  <a:pt x="89619" y="41532"/>
                  <a:pt x="94486" y="41532"/>
                </a:cubicBezTo>
                <a:lnTo>
                  <a:pt x="109022" y="41532"/>
                </a:lnTo>
                <a:cubicBezTo>
                  <a:pt x="117620" y="41532"/>
                  <a:pt x="124597" y="48508"/>
                  <a:pt x="124597" y="57107"/>
                </a:cubicBezTo>
                <a:lnTo>
                  <a:pt x="124597" y="71643"/>
                </a:lnTo>
                <a:cubicBezTo>
                  <a:pt x="124597" y="76510"/>
                  <a:pt x="128555" y="80469"/>
                  <a:pt x="133422" y="80469"/>
                </a:cubicBezTo>
                <a:cubicBezTo>
                  <a:pt x="136505" y="80469"/>
                  <a:pt x="139263" y="78716"/>
                  <a:pt x="141501" y="76575"/>
                </a:cubicBezTo>
                <a:cubicBezTo>
                  <a:pt x="144065" y="74141"/>
                  <a:pt x="147180" y="72681"/>
                  <a:pt x="150554" y="72681"/>
                </a:cubicBezTo>
                <a:cubicBezTo>
                  <a:pt x="159153" y="72681"/>
                  <a:pt x="166129" y="81994"/>
                  <a:pt x="166129" y="93447"/>
                </a:cubicBezTo>
                <a:cubicBezTo>
                  <a:pt x="166129" y="104901"/>
                  <a:pt x="159153" y="114213"/>
                  <a:pt x="150554" y="114213"/>
                </a:cubicBezTo>
                <a:cubicBezTo>
                  <a:pt x="147180" y="114213"/>
                  <a:pt x="144032" y="112786"/>
                  <a:pt x="141501" y="110320"/>
                </a:cubicBezTo>
                <a:cubicBezTo>
                  <a:pt x="139263" y="108178"/>
                  <a:pt x="136537" y="106426"/>
                  <a:pt x="133422" y="106426"/>
                </a:cubicBezTo>
                <a:cubicBezTo>
                  <a:pt x="128555" y="106426"/>
                  <a:pt x="124597" y="110385"/>
                  <a:pt x="124597" y="115252"/>
                </a:cubicBezTo>
                <a:lnTo>
                  <a:pt x="124597" y="150554"/>
                </a:lnTo>
                <a:cubicBezTo>
                  <a:pt x="124597" y="159153"/>
                  <a:pt x="117620" y="166129"/>
                  <a:pt x="109022" y="166129"/>
                </a:cubicBezTo>
                <a:lnTo>
                  <a:pt x="90592" y="166129"/>
                </a:lnTo>
                <a:cubicBezTo>
                  <a:pt x="86439" y="166129"/>
                  <a:pt x="83064" y="162754"/>
                  <a:pt x="83064" y="158601"/>
                </a:cubicBezTo>
                <a:cubicBezTo>
                  <a:pt x="83064" y="155616"/>
                  <a:pt x="84946" y="152988"/>
                  <a:pt x="87347" y="151203"/>
                </a:cubicBezTo>
                <a:cubicBezTo>
                  <a:pt x="91111" y="148380"/>
                  <a:pt x="93447" y="144487"/>
                  <a:pt x="93447" y="140171"/>
                </a:cubicBezTo>
                <a:cubicBezTo>
                  <a:pt x="93447" y="131573"/>
                  <a:pt x="84135" y="124597"/>
                  <a:pt x="72681" y="124597"/>
                </a:cubicBezTo>
                <a:cubicBezTo>
                  <a:pt x="61228" y="124597"/>
                  <a:pt x="51915" y="131573"/>
                  <a:pt x="51915" y="140171"/>
                </a:cubicBezTo>
                <a:cubicBezTo>
                  <a:pt x="51915" y="144487"/>
                  <a:pt x="54251" y="148380"/>
                  <a:pt x="58015" y="151203"/>
                </a:cubicBezTo>
                <a:cubicBezTo>
                  <a:pt x="60416" y="152988"/>
                  <a:pt x="62298" y="155583"/>
                  <a:pt x="62298" y="158601"/>
                </a:cubicBezTo>
                <a:cubicBezTo>
                  <a:pt x="62298" y="162754"/>
                  <a:pt x="58924" y="166129"/>
                  <a:pt x="54771" y="166129"/>
                </a:cubicBezTo>
                <a:lnTo>
                  <a:pt x="15575" y="166129"/>
                </a:lnTo>
                <a:cubicBezTo>
                  <a:pt x="6976" y="166129"/>
                  <a:pt x="0" y="159153"/>
                  <a:pt x="0" y="150554"/>
                </a:cubicBezTo>
                <a:lnTo>
                  <a:pt x="0" y="111358"/>
                </a:lnTo>
                <a:cubicBezTo>
                  <a:pt x="0" y="107205"/>
                  <a:pt x="3374" y="103830"/>
                  <a:pt x="7528" y="103830"/>
                </a:cubicBezTo>
                <a:cubicBezTo>
                  <a:pt x="10513" y="103830"/>
                  <a:pt x="13141" y="105712"/>
                  <a:pt x="14926" y="108113"/>
                </a:cubicBezTo>
                <a:cubicBezTo>
                  <a:pt x="17749" y="111877"/>
                  <a:pt x="21642" y="114213"/>
                  <a:pt x="25958" y="114213"/>
                </a:cubicBezTo>
                <a:cubicBezTo>
                  <a:pt x="34556" y="114213"/>
                  <a:pt x="41532" y="104901"/>
                  <a:pt x="41532" y="93447"/>
                </a:cubicBezTo>
                <a:cubicBezTo>
                  <a:pt x="41532" y="81994"/>
                  <a:pt x="34556" y="72681"/>
                  <a:pt x="25958" y="72681"/>
                </a:cubicBezTo>
                <a:cubicBezTo>
                  <a:pt x="21642" y="72681"/>
                  <a:pt x="17749" y="75017"/>
                  <a:pt x="14926" y="78781"/>
                </a:cubicBezTo>
                <a:cubicBezTo>
                  <a:pt x="13141" y="81182"/>
                  <a:pt x="10545" y="83064"/>
                  <a:pt x="7528" y="83064"/>
                </a:cubicBezTo>
                <a:cubicBezTo>
                  <a:pt x="3374" y="83064"/>
                  <a:pt x="0" y="79690"/>
                  <a:pt x="0" y="75537"/>
                </a:cubicBezTo>
                <a:lnTo>
                  <a:pt x="0" y="57107"/>
                </a:lnTo>
                <a:cubicBezTo>
                  <a:pt x="0" y="48508"/>
                  <a:pt x="6976" y="41532"/>
                  <a:pt x="15575" y="41532"/>
                </a:cubicBezTo>
                <a:lnTo>
                  <a:pt x="50877" y="41532"/>
                </a:lnTo>
                <a:cubicBezTo>
                  <a:pt x="55744" y="41532"/>
                  <a:pt x="59702" y="37574"/>
                  <a:pt x="59702" y="32707"/>
                </a:cubicBezTo>
                <a:cubicBezTo>
                  <a:pt x="59702" y="29624"/>
                  <a:pt x="57950" y="26866"/>
                  <a:pt x="55809" y="24627"/>
                </a:cubicBezTo>
                <a:cubicBezTo>
                  <a:pt x="53375" y="22064"/>
                  <a:pt x="51915" y="18949"/>
                  <a:pt x="51915" y="15575"/>
                </a:cubicBezTo>
                <a:cubicBezTo>
                  <a:pt x="51915" y="6976"/>
                  <a:pt x="61228" y="0"/>
                  <a:pt x="72681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858385" y="3593302"/>
            <a:ext cx="489156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Inputs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385" y="3888642"/>
            <a:ext cx="4882338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rely on scattered sources — news, tips, forums — with no unified validation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90793" y="4636221"/>
            <a:ext cx="5626840" cy="1076760"/>
          </a:xfrm>
          <a:prstGeom prst="roundRect">
            <a:avLst>
              <a:gd name="adj" fmla="val 685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6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6341540" y="4786968"/>
            <a:ext cx="369175" cy="369175"/>
          </a:xfrm>
          <a:prstGeom prst="roundRect">
            <a:avLst>
              <a:gd name="adj" fmla="val 50000"/>
            </a:avLst>
          </a:prstGeom>
          <a:solidFill>
            <a:srgbClr val="FF6467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445370" y="4888491"/>
            <a:ext cx="166129" cy="166129"/>
          </a:xfrm>
          <a:custGeom>
            <a:avLst/>
            <a:gdLst/>
            <a:ahLst/>
            <a:cxnLst/>
            <a:rect l="l" t="t" r="r" b="b"/>
            <a:pathLst>
              <a:path w="166129" h="166129">
                <a:moveTo>
                  <a:pt x="83064" y="166129"/>
                </a:moveTo>
                <a:cubicBezTo>
                  <a:pt x="128909" y="166129"/>
                  <a:pt x="166129" y="128909"/>
                  <a:pt x="166129" y="83064"/>
                </a:cubicBezTo>
                <a:cubicBezTo>
                  <a:pt x="166129" y="37220"/>
                  <a:pt x="128909" y="0"/>
                  <a:pt x="83064" y="0"/>
                </a:cubicBezTo>
                <a:cubicBezTo>
                  <a:pt x="37220" y="0"/>
                  <a:pt x="0" y="37220"/>
                  <a:pt x="0" y="83064"/>
                </a:cubicBezTo>
                <a:cubicBezTo>
                  <a:pt x="0" y="128909"/>
                  <a:pt x="37220" y="166129"/>
                  <a:pt x="83064" y="166129"/>
                </a:cubicBezTo>
                <a:close/>
                <a:moveTo>
                  <a:pt x="54187" y="54187"/>
                </a:moveTo>
                <a:cubicBezTo>
                  <a:pt x="57237" y="51136"/>
                  <a:pt x="62168" y="51136"/>
                  <a:pt x="65186" y="54187"/>
                </a:cubicBezTo>
                <a:lnTo>
                  <a:pt x="83032" y="72032"/>
                </a:lnTo>
                <a:lnTo>
                  <a:pt x="100878" y="54187"/>
                </a:lnTo>
                <a:cubicBezTo>
                  <a:pt x="103928" y="51136"/>
                  <a:pt x="108860" y="51136"/>
                  <a:pt x="111877" y="54187"/>
                </a:cubicBezTo>
                <a:cubicBezTo>
                  <a:pt x="114895" y="57237"/>
                  <a:pt x="114927" y="62168"/>
                  <a:pt x="111877" y="65186"/>
                </a:cubicBezTo>
                <a:lnTo>
                  <a:pt x="94031" y="83032"/>
                </a:lnTo>
                <a:lnTo>
                  <a:pt x="111877" y="100878"/>
                </a:lnTo>
                <a:cubicBezTo>
                  <a:pt x="114927" y="103928"/>
                  <a:pt x="114927" y="108860"/>
                  <a:pt x="111877" y="111877"/>
                </a:cubicBezTo>
                <a:cubicBezTo>
                  <a:pt x="108827" y="114895"/>
                  <a:pt x="103895" y="114927"/>
                  <a:pt x="100878" y="111877"/>
                </a:cubicBezTo>
                <a:lnTo>
                  <a:pt x="83032" y="94031"/>
                </a:lnTo>
                <a:lnTo>
                  <a:pt x="65186" y="111877"/>
                </a:lnTo>
                <a:cubicBezTo>
                  <a:pt x="62136" y="114927"/>
                  <a:pt x="57204" y="114927"/>
                  <a:pt x="54187" y="111877"/>
                </a:cubicBezTo>
                <a:cubicBezTo>
                  <a:pt x="51169" y="108827"/>
                  <a:pt x="51136" y="103895"/>
                  <a:pt x="54187" y="100878"/>
                </a:cubicBezTo>
                <a:lnTo>
                  <a:pt x="72032" y="83032"/>
                </a:lnTo>
                <a:lnTo>
                  <a:pt x="54187" y="65186"/>
                </a:lnTo>
                <a:cubicBezTo>
                  <a:pt x="51136" y="62136"/>
                  <a:pt x="51136" y="57204"/>
                  <a:pt x="54187" y="54187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858385" y="4786968"/>
            <a:ext cx="489156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Validation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858385" y="5082308"/>
            <a:ext cx="4882338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structured process to validate decisions before execution leads to costly mistakes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90793" y="5829888"/>
            <a:ext cx="5626840" cy="781420"/>
          </a:xfrm>
          <a:prstGeom prst="roundRect">
            <a:avLst>
              <a:gd name="adj" fmla="val 9449"/>
            </a:avLst>
          </a:prstGeom>
          <a:solidFill>
            <a:srgbClr val="FF6467">
              <a:alpha val="10196"/>
            </a:srgbClr>
          </a:solidFill>
          <a:ln w="8467">
            <a:solidFill>
              <a:srgbClr val="FF6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6364613" y="6128303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92294" y="184587"/>
                </a:moveTo>
                <a:cubicBezTo>
                  <a:pt x="143232" y="184587"/>
                  <a:pt x="184587" y="143232"/>
                  <a:pt x="184587" y="92294"/>
                </a:cubicBezTo>
                <a:cubicBezTo>
                  <a:pt x="184587" y="41355"/>
                  <a:pt x="143232" y="0"/>
                  <a:pt x="92294" y="0"/>
                </a:cubicBezTo>
                <a:cubicBezTo>
                  <a:pt x="41355" y="0"/>
                  <a:pt x="0" y="41355"/>
                  <a:pt x="0" y="92294"/>
                </a:cubicBezTo>
                <a:cubicBezTo>
                  <a:pt x="0" y="143232"/>
                  <a:pt x="41355" y="184587"/>
                  <a:pt x="92294" y="184587"/>
                </a:cubicBezTo>
                <a:close/>
                <a:moveTo>
                  <a:pt x="92294" y="49031"/>
                </a:moveTo>
                <a:cubicBezTo>
                  <a:pt x="97089" y="49031"/>
                  <a:pt x="100946" y="52889"/>
                  <a:pt x="100946" y="57684"/>
                </a:cubicBezTo>
                <a:lnTo>
                  <a:pt x="100946" y="98062"/>
                </a:lnTo>
                <a:cubicBezTo>
                  <a:pt x="100946" y="102857"/>
                  <a:pt x="97089" y="106715"/>
                  <a:pt x="92294" y="106715"/>
                </a:cubicBezTo>
                <a:cubicBezTo>
                  <a:pt x="87499" y="106715"/>
                  <a:pt x="83641" y="102857"/>
                  <a:pt x="83641" y="98062"/>
                </a:cubicBezTo>
                <a:lnTo>
                  <a:pt x="83641" y="57684"/>
                </a:lnTo>
                <a:cubicBezTo>
                  <a:pt x="83641" y="52889"/>
                  <a:pt x="87499" y="49031"/>
                  <a:pt x="92294" y="49031"/>
                </a:cubicBezTo>
                <a:close/>
                <a:moveTo>
                  <a:pt x="82668" y="126904"/>
                </a:moveTo>
                <a:cubicBezTo>
                  <a:pt x="82449" y="123331"/>
                  <a:pt x="84231" y="119931"/>
                  <a:pt x="87294" y="118079"/>
                </a:cubicBezTo>
                <a:cubicBezTo>
                  <a:pt x="90357" y="116226"/>
                  <a:pt x="94195" y="116226"/>
                  <a:pt x="97258" y="118079"/>
                </a:cubicBezTo>
                <a:cubicBezTo>
                  <a:pt x="100321" y="119931"/>
                  <a:pt x="102103" y="123331"/>
                  <a:pt x="101884" y="126904"/>
                </a:cubicBezTo>
                <a:cubicBezTo>
                  <a:pt x="102103" y="130477"/>
                  <a:pt x="100321" y="133876"/>
                  <a:pt x="97258" y="135729"/>
                </a:cubicBezTo>
                <a:cubicBezTo>
                  <a:pt x="94195" y="137582"/>
                  <a:pt x="90357" y="137582"/>
                  <a:pt x="87294" y="135729"/>
                </a:cubicBezTo>
                <a:cubicBezTo>
                  <a:pt x="84231" y="133876"/>
                  <a:pt x="82449" y="130477"/>
                  <a:pt x="82668" y="12690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683027" y="5980633"/>
            <a:ext cx="311029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683027" y="6239055"/>
            <a:ext cx="311029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entries • Missed opportunities • Regret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7153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Fnomo = Decision Validation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92D050"/>
                </a:solidFill>
              </a:rPr>
              <a:t>Users don’t need more data — they need a final check before acting.</a:t>
            </a:r>
          </a:p>
        </p:txBody>
      </p:sp>
      <p:sp>
        <p:nvSpPr>
          <p:cNvPr id="5" name="Shape 3"/>
          <p:cNvSpPr/>
          <p:nvPr/>
        </p:nvSpPr>
        <p:spPr>
          <a:xfrm>
            <a:off x="384175" y="1412875"/>
            <a:ext cx="11426825" cy="2968625"/>
          </a:xfrm>
          <a:prstGeom prst="roundRect">
            <a:avLst>
              <a:gd name="adj" fmla="val 2567"/>
            </a:avLst>
          </a:prstGeom>
          <a:solidFill>
            <a:srgbClr val="112240">
              <a:alpha val="4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15950" y="172085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6F1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06450" y="19113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E6F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77950" y="1758951"/>
            <a:ext cx="1304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7950" y="2063751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opportunities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43027" y="18827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E6F1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96481" y="172085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6F1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58406" y="191135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E6F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58481" y="1758951"/>
            <a:ext cx="131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8481" y="2063751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options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34571" y="18827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E6F1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87927" y="1644651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28433" y="18827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502327" y="1720851"/>
            <a:ext cx="1114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02327" y="2063751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4FFD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44757" y="18827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E6F1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498211" y="172085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6F1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688711" y="19113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E6F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260211" y="1758951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60211" y="2063751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 with confidence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" y="2638426"/>
            <a:ext cx="3549650" cy="1511300"/>
          </a:xfrm>
          <a:prstGeom prst="roundRect">
            <a:avLst>
              <a:gd name="adj" fmla="val 5042"/>
            </a:avLst>
          </a:prstGeom>
          <a:solidFill>
            <a:srgbClr val="0A192F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251273" y="27940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838" y="3194052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Complements Platforms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6600" y="3536952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alongside existing tools — doesn't replace them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23259" y="2638426"/>
            <a:ext cx="3549650" cy="1511300"/>
          </a:xfrm>
          <a:prstGeom prst="roundRect">
            <a:avLst>
              <a:gd name="adj" fmla="val 5042"/>
            </a:avLst>
          </a:prstGeom>
          <a:solidFill>
            <a:srgbClr val="0A192F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73267" y="279400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435971" y="3194052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Moment of Decision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40734" y="3536952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Activates when users need clarity most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27392" y="2638426"/>
            <a:ext cx="3549650" cy="1511300"/>
          </a:xfrm>
          <a:prstGeom prst="roundRect">
            <a:avLst>
              <a:gd name="adj" fmla="val 5042"/>
            </a:avLst>
          </a:prstGeom>
          <a:solidFill>
            <a:srgbClr val="0A192F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659541" y="27940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140105" y="3194052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 → Clarity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44867" y="3536952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overwhelming data into simple decisions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0050" y="4616451"/>
            <a:ext cx="11410950" cy="933450"/>
          </a:xfrm>
          <a:custGeom>
            <a:avLst/>
            <a:gdLst/>
            <a:ahLst/>
            <a:cxnLst/>
            <a:rect l="l" t="t" r="r" b="b"/>
            <a:pathLst>
              <a:path w="11410950" h="93345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857250"/>
                </a:lnTo>
                <a:cubicBezTo>
                  <a:pt x="11410950" y="899306"/>
                  <a:pt x="11376806" y="933450"/>
                  <a:pt x="11334750" y="933450"/>
                </a:cubicBez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FFB8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00050" y="4616451"/>
            <a:ext cx="38100" cy="93345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66750" y="484505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047750" y="4806951"/>
            <a:ext cx="1035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Gap Fnomo Fills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47750" y="5111751"/>
            <a:ext cx="10344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financial platform focuses on data and execution. </a:t>
            </a: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 focus on the decision itself </a:t>
            </a:r>
            <a:r>
              <a:rPr lang="en-US" sz="13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“Fnomo is not used to explore — it’s used right before action.”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354" y="351354"/>
            <a:ext cx="70271" cy="421625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27032" y="351354"/>
            <a:ext cx="6087216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10-Second Decision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7032" y="843251"/>
            <a:ext cx="11401452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+ clarity = trust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4282" y="1267804"/>
            <a:ext cx="5636311" cy="1613303"/>
          </a:xfrm>
          <a:prstGeom prst="roundRect">
            <a:avLst>
              <a:gd name="adj" fmla="val 4356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2888" y="1446410"/>
            <a:ext cx="491896" cy="491896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73429" y="1586952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142052" y="112406"/>
                </a:moveTo>
                <a:cubicBezTo>
                  <a:pt x="145922" y="108536"/>
                  <a:pt x="145922" y="102277"/>
                  <a:pt x="142052" y="98448"/>
                </a:cubicBezTo>
                <a:lnTo>
                  <a:pt x="82760" y="39116"/>
                </a:lnTo>
                <a:cubicBezTo>
                  <a:pt x="79919" y="36275"/>
                  <a:pt x="75678" y="35451"/>
                  <a:pt x="71973" y="36975"/>
                </a:cubicBezTo>
                <a:cubicBezTo>
                  <a:pt x="68267" y="38498"/>
                  <a:pt x="65879" y="42121"/>
                  <a:pt x="65879" y="46115"/>
                </a:cubicBezTo>
                <a:lnTo>
                  <a:pt x="65879" y="79055"/>
                </a:lnTo>
                <a:lnTo>
                  <a:pt x="19764" y="79055"/>
                </a:lnTo>
                <a:cubicBezTo>
                  <a:pt x="8852" y="79055"/>
                  <a:pt x="0" y="87907"/>
                  <a:pt x="0" y="98818"/>
                </a:cubicBezTo>
                <a:lnTo>
                  <a:pt x="0" y="111994"/>
                </a:lnTo>
                <a:cubicBezTo>
                  <a:pt x="0" y="122905"/>
                  <a:pt x="8852" y="131758"/>
                  <a:pt x="19764" y="131758"/>
                </a:cubicBezTo>
                <a:lnTo>
                  <a:pt x="65879" y="131758"/>
                </a:lnTo>
                <a:lnTo>
                  <a:pt x="65879" y="164697"/>
                </a:lnTo>
                <a:cubicBezTo>
                  <a:pt x="65879" y="168691"/>
                  <a:pt x="68267" y="172315"/>
                  <a:pt x="71973" y="173838"/>
                </a:cubicBezTo>
                <a:cubicBezTo>
                  <a:pt x="75678" y="175362"/>
                  <a:pt x="79919" y="174538"/>
                  <a:pt x="82760" y="171697"/>
                </a:cubicBezTo>
                <a:lnTo>
                  <a:pt x="142052" y="112406"/>
                </a:lnTo>
                <a:close/>
                <a:moveTo>
                  <a:pt x="144934" y="171285"/>
                </a:moveTo>
                <a:cubicBezTo>
                  <a:pt x="137646" y="171285"/>
                  <a:pt x="131758" y="177173"/>
                  <a:pt x="131758" y="184461"/>
                </a:cubicBezTo>
                <a:cubicBezTo>
                  <a:pt x="131758" y="191749"/>
                  <a:pt x="137646" y="197637"/>
                  <a:pt x="144934" y="197637"/>
                </a:cubicBezTo>
                <a:lnTo>
                  <a:pt x="171285" y="197637"/>
                </a:lnTo>
                <a:cubicBezTo>
                  <a:pt x="193108" y="197637"/>
                  <a:pt x="210813" y="179932"/>
                  <a:pt x="210813" y="158110"/>
                </a:cubicBezTo>
                <a:lnTo>
                  <a:pt x="210813" y="52703"/>
                </a:lnTo>
                <a:cubicBezTo>
                  <a:pt x="210813" y="30881"/>
                  <a:pt x="193108" y="13176"/>
                  <a:pt x="171285" y="13176"/>
                </a:cubicBezTo>
                <a:lnTo>
                  <a:pt x="144934" y="13176"/>
                </a:lnTo>
                <a:cubicBezTo>
                  <a:pt x="137646" y="13176"/>
                  <a:pt x="131758" y="19064"/>
                  <a:pt x="131758" y="26352"/>
                </a:cubicBezTo>
                <a:cubicBezTo>
                  <a:pt x="131758" y="33639"/>
                  <a:pt x="137646" y="39527"/>
                  <a:pt x="144934" y="39527"/>
                </a:cubicBezTo>
                <a:lnTo>
                  <a:pt x="171285" y="39527"/>
                </a:lnTo>
                <a:cubicBezTo>
                  <a:pt x="178573" y="39527"/>
                  <a:pt x="184461" y="45415"/>
                  <a:pt x="184461" y="52703"/>
                </a:cubicBezTo>
                <a:lnTo>
                  <a:pt x="184461" y="158110"/>
                </a:lnTo>
                <a:cubicBezTo>
                  <a:pt x="184461" y="165397"/>
                  <a:pt x="178573" y="171285"/>
                  <a:pt x="171285" y="171285"/>
                </a:cubicBezTo>
                <a:lnTo>
                  <a:pt x="144934" y="171285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65326" y="1551816"/>
            <a:ext cx="579735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2888" y="2078848"/>
            <a:ext cx="5358156" cy="25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enters a stock, trade idea, or investment question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5816" y="2444110"/>
            <a:ext cx="831539" cy="251804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2888" y="2441182"/>
            <a:ext cx="887170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ticker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47324" y="2444110"/>
            <a:ext cx="778836" cy="251804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444396" y="2441182"/>
            <a:ext cx="834467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 idea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98627" y="2444110"/>
            <a:ext cx="1112622" cy="251804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95699" y="2441182"/>
            <a:ext cx="1168254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question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4282" y="3023845"/>
            <a:ext cx="5636311" cy="1560599"/>
          </a:xfrm>
          <a:prstGeom prst="roundRect">
            <a:avLst>
              <a:gd name="adj" fmla="val 4503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2888" y="3202451"/>
            <a:ext cx="491896" cy="491896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7078" y="3342993"/>
            <a:ext cx="263516" cy="210813"/>
          </a:xfrm>
          <a:custGeom>
            <a:avLst/>
            <a:gdLst/>
            <a:ahLst/>
            <a:cxnLst/>
            <a:rect l="l" t="t" r="r" b="b"/>
            <a:pathLst>
              <a:path w="263516" h="210813">
                <a:moveTo>
                  <a:pt x="171244" y="86672"/>
                </a:moveTo>
                <a:cubicBezTo>
                  <a:pt x="176267" y="85313"/>
                  <a:pt x="181538" y="87701"/>
                  <a:pt x="183802" y="92354"/>
                </a:cubicBezTo>
                <a:lnTo>
                  <a:pt x="191461" y="107836"/>
                </a:lnTo>
                <a:cubicBezTo>
                  <a:pt x="195702" y="108412"/>
                  <a:pt x="199860" y="109565"/>
                  <a:pt x="203772" y="111171"/>
                </a:cubicBezTo>
                <a:lnTo>
                  <a:pt x="218183" y="101577"/>
                </a:lnTo>
                <a:cubicBezTo>
                  <a:pt x="222506" y="98695"/>
                  <a:pt x="228229" y="99271"/>
                  <a:pt x="231894" y="102936"/>
                </a:cubicBezTo>
                <a:lnTo>
                  <a:pt x="239799" y="110841"/>
                </a:lnTo>
                <a:cubicBezTo>
                  <a:pt x="243464" y="114506"/>
                  <a:pt x="244040" y="120270"/>
                  <a:pt x="241158" y="124552"/>
                </a:cubicBezTo>
                <a:lnTo>
                  <a:pt x="231565" y="138922"/>
                </a:lnTo>
                <a:cubicBezTo>
                  <a:pt x="232347" y="140857"/>
                  <a:pt x="233047" y="142875"/>
                  <a:pt x="233623" y="144975"/>
                </a:cubicBezTo>
                <a:cubicBezTo>
                  <a:pt x="234200" y="147075"/>
                  <a:pt x="234570" y="149134"/>
                  <a:pt x="234859" y="151233"/>
                </a:cubicBezTo>
                <a:lnTo>
                  <a:pt x="250381" y="158892"/>
                </a:lnTo>
                <a:cubicBezTo>
                  <a:pt x="255034" y="161198"/>
                  <a:pt x="257422" y="166468"/>
                  <a:pt x="256063" y="171450"/>
                </a:cubicBezTo>
                <a:lnTo>
                  <a:pt x="253181" y="182238"/>
                </a:lnTo>
                <a:cubicBezTo>
                  <a:pt x="251822" y="187220"/>
                  <a:pt x="247170" y="190596"/>
                  <a:pt x="241982" y="190267"/>
                </a:cubicBezTo>
                <a:lnTo>
                  <a:pt x="224688" y="189155"/>
                </a:lnTo>
                <a:cubicBezTo>
                  <a:pt x="222094" y="192490"/>
                  <a:pt x="219089" y="195578"/>
                  <a:pt x="215671" y="198213"/>
                </a:cubicBezTo>
                <a:lnTo>
                  <a:pt x="216783" y="215465"/>
                </a:lnTo>
                <a:cubicBezTo>
                  <a:pt x="217112" y="220653"/>
                  <a:pt x="213736" y="225347"/>
                  <a:pt x="208754" y="226665"/>
                </a:cubicBezTo>
                <a:lnTo>
                  <a:pt x="197966" y="229547"/>
                </a:lnTo>
                <a:cubicBezTo>
                  <a:pt x="192943" y="230906"/>
                  <a:pt x="187714" y="228518"/>
                  <a:pt x="185408" y="223865"/>
                </a:cubicBezTo>
                <a:lnTo>
                  <a:pt x="177750" y="208383"/>
                </a:lnTo>
                <a:cubicBezTo>
                  <a:pt x="173509" y="207807"/>
                  <a:pt x="169350" y="206654"/>
                  <a:pt x="165439" y="205048"/>
                </a:cubicBezTo>
                <a:lnTo>
                  <a:pt x="151028" y="214642"/>
                </a:lnTo>
                <a:cubicBezTo>
                  <a:pt x="146704" y="217524"/>
                  <a:pt x="140981" y="216948"/>
                  <a:pt x="137316" y="213283"/>
                </a:cubicBezTo>
                <a:lnTo>
                  <a:pt x="129411" y="205378"/>
                </a:lnTo>
                <a:cubicBezTo>
                  <a:pt x="125746" y="201713"/>
                  <a:pt x="125170" y="195990"/>
                  <a:pt x="128052" y="191667"/>
                </a:cubicBezTo>
                <a:lnTo>
                  <a:pt x="137646" y="177256"/>
                </a:lnTo>
                <a:cubicBezTo>
                  <a:pt x="136864" y="175320"/>
                  <a:pt x="136164" y="173303"/>
                  <a:pt x="135587" y="171203"/>
                </a:cubicBezTo>
                <a:cubicBezTo>
                  <a:pt x="135011" y="169103"/>
                  <a:pt x="134640" y="167003"/>
                  <a:pt x="134352" y="164944"/>
                </a:cubicBezTo>
                <a:lnTo>
                  <a:pt x="118829" y="157286"/>
                </a:lnTo>
                <a:cubicBezTo>
                  <a:pt x="114176" y="154980"/>
                  <a:pt x="111830" y="149710"/>
                  <a:pt x="113147" y="144728"/>
                </a:cubicBezTo>
                <a:lnTo>
                  <a:pt x="116029" y="133940"/>
                </a:lnTo>
                <a:cubicBezTo>
                  <a:pt x="117388" y="128958"/>
                  <a:pt x="122041" y="125582"/>
                  <a:pt x="127229" y="125911"/>
                </a:cubicBezTo>
                <a:lnTo>
                  <a:pt x="144481" y="127023"/>
                </a:lnTo>
                <a:cubicBezTo>
                  <a:pt x="147075" y="123688"/>
                  <a:pt x="150081" y="120600"/>
                  <a:pt x="153498" y="117965"/>
                </a:cubicBezTo>
                <a:lnTo>
                  <a:pt x="152386" y="100754"/>
                </a:lnTo>
                <a:cubicBezTo>
                  <a:pt x="152057" y="95566"/>
                  <a:pt x="155433" y="90872"/>
                  <a:pt x="160415" y="89554"/>
                </a:cubicBezTo>
                <a:lnTo>
                  <a:pt x="171203" y="86672"/>
                </a:lnTo>
                <a:close/>
                <a:moveTo>
                  <a:pt x="184626" y="139993"/>
                </a:moveTo>
                <a:cubicBezTo>
                  <a:pt x="174627" y="140004"/>
                  <a:pt x="166518" y="148131"/>
                  <a:pt x="166530" y="158130"/>
                </a:cubicBezTo>
                <a:cubicBezTo>
                  <a:pt x="166541" y="168129"/>
                  <a:pt x="174668" y="176238"/>
                  <a:pt x="184667" y="176226"/>
                </a:cubicBezTo>
                <a:cubicBezTo>
                  <a:pt x="194666" y="176215"/>
                  <a:pt x="202774" y="168088"/>
                  <a:pt x="202763" y="158089"/>
                </a:cubicBezTo>
                <a:cubicBezTo>
                  <a:pt x="202752" y="148090"/>
                  <a:pt x="194625" y="139981"/>
                  <a:pt x="184626" y="139993"/>
                </a:cubicBezTo>
                <a:close/>
                <a:moveTo>
                  <a:pt x="92601" y="-18734"/>
                </a:moveTo>
                <a:lnTo>
                  <a:pt x="103389" y="-15852"/>
                </a:lnTo>
                <a:cubicBezTo>
                  <a:pt x="108371" y="-14493"/>
                  <a:pt x="111747" y="-9799"/>
                  <a:pt x="111418" y="-4653"/>
                </a:cubicBezTo>
                <a:lnTo>
                  <a:pt x="110306" y="12558"/>
                </a:lnTo>
                <a:cubicBezTo>
                  <a:pt x="113724" y="15193"/>
                  <a:pt x="116729" y="18240"/>
                  <a:pt x="119323" y="21617"/>
                </a:cubicBezTo>
                <a:lnTo>
                  <a:pt x="136616" y="20505"/>
                </a:lnTo>
                <a:cubicBezTo>
                  <a:pt x="141763" y="20175"/>
                  <a:pt x="146457" y="23552"/>
                  <a:pt x="147816" y="28534"/>
                </a:cubicBezTo>
                <a:lnTo>
                  <a:pt x="150698" y="39322"/>
                </a:lnTo>
                <a:cubicBezTo>
                  <a:pt x="152016" y="44304"/>
                  <a:pt x="149669" y="49574"/>
                  <a:pt x="145016" y="51880"/>
                </a:cubicBezTo>
                <a:lnTo>
                  <a:pt x="129493" y="59538"/>
                </a:lnTo>
                <a:cubicBezTo>
                  <a:pt x="129205" y="61638"/>
                  <a:pt x="128793" y="63738"/>
                  <a:pt x="128258" y="65797"/>
                </a:cubicBezTo>
                <a:cubicBezTo>
                  <a:pt x="127723" y="67855"/>
                  <a:pt x="126982" y="69914"/>
                  <a:pt x="126199" y="71849"/>
                </a:cubicBezTo>
                <a:lnTo>
                  <a:pt x="135793" y="86260"/>
                </a:lnTo>
                <a:cubicBezTo>
                  <a:pt x="138675" y="90584"/>
                  <a:pt x="138099" y="96307"/>
                  <a:pt x="134434" y="99971"/>
                </a:cubicBezTo>
                <a:lnTo>
                  <a:pt x="126529" y="107877"/>
                </a:lnTo>
                <a:cubicBezTo>
                  <a:pt x="122864" y="111541"/>
                  <a:pt x="117141" y="112118"/>
                  <a:pt x="112818" y="109236"/>
                </a:cubicBezTo>
                <a:lnTo>
                  <a:pt x="98407" y="99642"/>
                </a:lnTo>
                <a:cubicBezTo>
                  <a:pt x="94495" y="101248"/>
                  <a:pt x="90337" y="102401"/>
                  <a:pt x="86096" y="102977"/>
                </a:cubicBezTo>
                <a:lnTo>
                  <a:pt x="78437" y="118459"/>
                </a:lnTo>
                <a:cubicBezTo>
                  <a:pt x="76131" y="123111"/>
                  <a:pt x="70861" y="125458"/>
                  <a:pt x="65879" y="124141"/>
                </a:cubicBezTo>
                <a:lnTo>
                  <a:pt x="55091" y="121258"/>
                </a:lnTo>
                <a:cubicBezTo>
                  <a:pt x="50068" y="119900"/>
                  <a:pt x="46733" y="115206"/>
                  <a:pt x="47062" y="110059"/>
                </a:cubicBezTo>
                <a:lnTo>
                  <a:pt x="48174" y="92807"/>
                </a:lnTo>
                <a:cubicBezTo>
                  <a:pt x="44757" y="90172"/>
                  <a:pt x="41751" y="87125"/>
                  <a:pt x="39157" y="83749"/>
                </a:cubicBezTo>
                <a:lnTo>
                  <a:pt x="21864" y="84860"/>
                </a:lnTo>
                <a:cubicBezTo>
                  <a:pt x="16717" y="85190"/>
                  <a:pt x="12023" y="81813"/>
                  <a:pt x="10664" y="76831"/>
                </a:cubicBezTo>
                <a:lnTo>
                  <a:pt x="7782" y="66044"/>
                </a:lnTo>
                <a:cubicBezTo>
                  <a:pt x="6464" y="61062"/>
                  <a:pt x="8811" y="55791"/>
                  <a:pt x="13464" y="53485"/>
                </a:cubicBezTo>
                <a:lnTo>
                  <a:pt x="28987" y="45827"/>
                </a:lnTo>
                <a:cubicBezTo>
                  <a:pt x="29275" y="43727"/>
                  <a:pt x="29687" y="41668"/>
                  <a:pt x="30222" y="39569"/>
                </a:cubicBezTo>
                <a:cubicBezTo>
                  <a:pt x="30798" y="37469"/>
                  <a:pt x="31457" y="35451"/>
                  <a:pt x="32281" y="33516"/>
                </a:cubicBezTo>
                <a:lnTo>
                  <a:pt x="22687" y="19146"/>
                </a:lnTo>
                <a:cubicBezTo>
                  <a:pt x="19805" y="14823"/>
                  <a:pt x="20381" y="9100"/>
                  <a:pt x="24046" y="5435"/>
                </a:cubicBezTo>
                <a:lnTo>
                  <a:pt x="31951" y="-2470"/>
                </a:lnTo>
                <a:cubicBezTo>
                  <a:pt x="35616" y="-6135"/>
                  <a:pt x="41339" y="-6711"/>
                  <a:pt x="45662" y="-3829"/>
                </a:cubicBezTo>
                <a:lnTo>
                  <a:pt x="60073" y="5764"/>
                </a:lnTo>
                <a:cubicBezTo>
                  <a:pt x="63985" y="4159"/>
                  <a:pt x="68144" y="3006"/>
                  <a:pt x="72385" y="2429"/>
                </a:cubicBezTo>
                <a:lnTo>
                  <a:pt x="80043" y="-13052"/>
                </a:lnTo>
                <a:cubicBezTo>
                  <a:pt x="82349" y="-17705"/>
                  <a:pt x="87578" y="-20052"/>
                  <a:pt x="92601" y="-18734"/>
                </a:cubicBezTo>
                <a:close/>
                <a:moveTo>
                  <a:pt x="79219" y="34586"/>
                </a:moveTo>
                <a:cubicBezTo>
                  <a:pt x="69221" y="34586"/>
                  <a:pt x="61103" y="42704"/>
                  <a:pt x="61103" y="52703"/>
                </a:cubicBezTo>
                <a:cubicBezTo>
                  <a:pt x="61103" y="62702"/>
                  <a:pt x="69221" y="70820"/>
                  <a:pt x="79219" y="70820"/>
                </a:cubicBezTo>
                <a:cubicBezTo>
                  <a:pt x="89218" y="70820"/>
                  <a:pt x="97336" y="62702"/>
                  <a:pt x="97336" y="52703"/>
                </a:cubicBezTo>
                <a:cubicBezTo>
                  <a:pt x="97336" y="42704"/>
                  <a:pt x="89218" y="34586"/>
                  <a:pt x="79219" y="34586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165326" y="3307857"/>
            <a:ext cx="808115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2888" y="3834889"/>
            <a:ext cx="5358156" cy="25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 analyzes key signals, risk factors, and market context in real-time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0455" y="4232359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70271" y="0"/>
                </a:moveTo>
                <a:cubicBezTo>
                  <a:pt x="109054" y="0"/>
                  <a:pt x="140542" y="31487"/>
                  <a:pt x="140542" y="70271"/>
                </a:cubicBezTo>
                <a:cubicBezTo>
                  <a:pt x="140542" y="109054"/>
                  <a:pt x="109054" y="140542"/>
                  <a:pt x="70271" y="140542"/>
                </a:cubicBezTo>
                <a:cubicBezTo>
                  <a:pt x="31487" y="140542"/>
                  <a:pt x="0" y="109054"/>
                  <a:pt x="0" y="70271"/>
                </a:cubicBezTo>
                <a:cubicBezTo>
                  <a:pt x="0" y="31487"/>
                  <a:pt x="31487" y="0"/>
                  <a:pt x="70271" y="0"/>
                </a:cubicBezTo>
                <a:close/>
                <a:moveTo>
                  <a:pt x="63683" y="32939"/>
                </a:moveTo>
                <a:lnTo>
                  <a:pt x="63683" y="70271"/>
                </a:lnTo>
                <a:cubicBezTo>
                  <a:pt x="63683" y="72467"/>
                  <a:pt x="64781" y="74526"/>
                  <a:pt x="66620" y="75761"/>
                </a:cubicBezTo>
                <a:lnTo>
                  <a:pt x="92972" y="93329"/>
                </a:lnTo>
                <a:cubicBezTo>
                  <a:pt x="95991" y="95360"/>
                  <a:pt x="100081" y="94536"/>
                  <a:pt x="102112" y="91489"/>
                </a:cubicBezTo>
                <a:cubicBezTo>
                  <a:pt x="104144" y="88443"/>
                  <a:pt x="103320" y="84380"/>
                  <a:pt x="100273" y="82349"/>
                </a:cubicBezTo>
                <a:lnTo>
                  <a:pt x="76859" y="66757"/>
                </a:lnTo>
                <a:lnTo>
                  <a:pt x="76859" y="32939"/>
                </a:lnTo>
                <a:cubicBezTo>
                  <a:pt x="76859" y="29289"/>
                  <a:pt x="73922" y="26352"/>
                  <a:pt x="70271" y="26352"/>
                </a:cubicBezTo>
                <a:cubicBezTo>
                  <a:pt x="66620" y="26352"/>
                  <a:pt x="63683" y="29289"/>
                  <a:pt x="63683" y="32939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8836" y="4197223"/>
            <a:ext cx="1150686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10 seconds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4282" y="4733037"/>
            <a:ext cx="5636311" cy="1868035"/>
          </a:xfrm>
          <a:prstGeom prst="roundRect">
            <a:avLst>
              <a:gd name="adj" fmla="val 3762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32888" y="4911643"/>
            <a:ext cx="491896" cy="491896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73429" y="5052185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105406" y="210813"/>
                </a:moveTo>
                <a:cubicBezTo>
                  <a:pt x="163582" y="210813"/>
                  <a:pt x="210813" y="163582"/>
                  <a:pt x="210813" y="105406"/>
                </a:cubicBezTo>
                <a:cubicBezTo>
                  <a:pt x="210813" y="47231"/>
                  <a:pt x="163582" y="0"/>
                  <a:pt x="105406" y="0"/>
                </a:cubicBezTo>
                <a:cubicBezTo>
                  <a:pt x="47231" y="0"/>
                  <a:pt x="0" y="47231"/>
                  <a:pt x="0" y="105406"/>
                </a:cubicBezTo>
                <a:cubicBezTo>
                  <a:pt x="0" y="163582"/>
                  <a:pt x="47231" y="210813"/>
                  <a:pt x="105406" y="210813"/>
                </a:cubicBezTo>
                <a:close/>
                <a:moveTo>
                  <a:pt x="140157" y="87578"/>
                </a:moveTo>
                <a:lnTo>
                  <a:pt x="107218" y="140281"/>
                </a:lnTo>
                <a:cubicBezTo>
                  <a:pt x="105489" y="143040"/>
                  <a:pt x="102524" y="144769"/>
                  <a:pt x="99271" y="144934"/>
                </a:cubicBezTo>
                <a:cubicBezTo>
                  <a:pt x="96019" y="145098"/>
                  <a:pt x="92889" y="143616"/>
                  <a:pt x="90954" y="140981"/>
                </a:cubicBezTo>
                <a:lnTo>
                  <a:pt x="71190" y="114629"/>
                </a:lnTo>
                <a:cubicBezTo>
                  <a:pt x="67897" y="110265"/>
                  <a:pt x="68802" y="104089"/>
                  <a:pt x="73167" y="100795"/>
                </a:cubicBezTo>
                <a:cubicBezTo>
                  <a:pt x="77531" y="97501"/>
                  <a:pt x="83707" y="98407"/>
                  <a:pt x="87001" y="102771"/>
                </a:cubicBezTo>
                <a:lnTo>
                  <a:pt x="98118" y="117594"/>
                </a:lnTo>
                <a:lnTo>
                  <a:pt x="123400" y="77120"/>
                </a:lnTo>
                <a:cubicBezTo>
                  <a:pt x="126282" y="72508"/>
                  <a:pt x="132376" y="71067"/>
                  <a:pt x="137028" y="73990"/>
                </a:cubicBezTo>
                <a:cubicBezTo>
                  <a:pt x="141681" y="76914"/>
                  <a:pt x="143081" y="82966"/>
                  <a:pt x="140157" y="87619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165326" y="5017050"/>
            <a:ext cx="746628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1671" y="5579217"/>
            <a:ext cx="158110" cy="140542"/>
          </a:xfrm>
          <a:custGeom>
            <a:avLst/>
            <a:gdLst/>
            <a:ahLst/>
            <a:cxnLst/>
            <a:rect l="l" t="t" r="r" b="b"/>
            <a:pathLst>
              <a:path w="158110" h="140542">
                <a:moveTo>
                  <a:pt x="84956" y="-5188"/>
                </a:moveTo>
                <a:cubicBezTo>
                  <a:pt x="83831" y="-7384"/>
                  <a:pt x="81553" y="-8784"/>
                  <a:pt x="79082" y="-8784"/>
                </a:cubicBezTo>
                <a:cubicBezTo>
                  <a:pt x="76612" y="-8784"/>
                  <a:pt x="74333" y="-7384"/>
                  <a:pt x="73208" y="-5188"/>
                </a:cubicBezTo>
                <a:lnTo>
                  <a:pt x="53005" y="34394"/>
                </a:lnTo>
                <a:lnTo>
                  <a:pt x="9113" y="41366"/>
                </a:lnTo>
                <a:cubicBezTo>
                  <a:pt x="6670" y="41751"/>
                  <a:pt x="4639" y="43480"/>
                  <a:pt x="3870" y="45841"/>
                </a:cubicBezTo>
                <a:cubicBezTo>
                  <a:pt x="3102" y="48201"/>
                  <a:pt x="3733" y="50782"/>
                  <a:pt x="5462" y="52538"/>
                </a:cubicBezTo>
                <a:lnTo>
                  <a:pt x="36865" y="83968"/>
                </a:lnTo>
                <a:lnTo>
                  <a:pt x="29947" y="127860"/>
                </a:lnTo>
                <a:cubicBezTo>
                  <a:pt x="29563" y="130303"/>
                  <a:pt x="30579" y="132774"/>
                  <a:pt x="32583" y="134228"/>
                </a:cubicBezTo>
                <a:cubicBezTo>
                  <a:pt x="34586" y="135683"/>
                  <a:pt x="37222" y="135903"/>
                  <a:pt x="39445" y="134777"/>
                </a:cubicBezTo>
                <a:lnTo>
                  <a:pt x="79082" y="114629"/>
                </a:lnTo>
                <a:lnTo>
                  <a:pt x="118692" y="134777"/>
                </a:lnTo>
                <a:cubicBezTo>
                  <a:pt x="120888" y="135903"/>
                  <a:pt x="123551" y="135683"/>
                  <a:pt x="125554" y="134228"/>
                </a:cubicBezTo>
                <a:cubicBezTo>
                  <a:pt x="127558" y="132774"/>
                  <a:pt x="128574" y="130331"/>
                  <a:pt x="128189" y="127860"/>
                </a:cubicBezTo>
                <a:lnTo>
                  <a:pt x="121245" y="83968"/>
                </a:lnTo>
                <a:lnTo>
                  <a:pt x="152647" y="52538"/>
                </a:lnTo>
                <a:cubicBezTo>
                  <a:pt x="154404" y="50782"/>
                  <a:pt x="155008" y="48201"/>
                  <a:pt x="154239" y="45841"/>
                </a:cubicBezTo>
                <a:cubicBezTo>
                  <a:pt x="153471" y="43480"/>
                  <a:pt x="151467" y="41751"/>
                  <a:pt x="148996" y="41366"/>
                </a:cubicBezTo>
                <a:lnTo>
                  <a:pt x="105132" y="34394"/>
                </a:lnTo>
                <a:lnTo>
                  <a:pt x="84956" y="-5188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8836" y="5544081"/>
            <a:ext cx="983793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8836" y="5754894"/>
            <a:ext cx="975009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Quantified clarity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42160" y="5579217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70271" y="0"/>
                </a:moveTo>
                <a:cubicBezTo>
                  <a:pt x="71534" y="0"/>
                  <a:pt x="72796" y="274"/>
                  <a:pt x="73949" y="796"/>
                </a:cubicBezTo>
                <a:lnTo>
                  <a:pt x="125664" y="22728"/>
                </a:lnTo>
                <a:cubicBezTo>
                  <a:pt x="131703" y="25281"/>
                  <a:pt x="136205" y="31238"/>
                  <a:pt x="136177" y="38429"/>
                </a:cubicBezTo>
                <a:cubicBezTo>
                  <a:pt x="136040" y="65659"/>
                  <a:pt x="124841" y="115480"/>
                  <a:pt x="77545" y="138126"/>
                </a:cubicBezTo>
                <a:cubicBezTo>
                  <a:pt x="72961" y="140322"/>
                  <a:pt x="67636" y="140322"/>
                  <a:pt x="63052" y="138126"/>
                </a:cubicBezTo>
                <a:cubicBezTo>
                  <a:pt x="15729" y="115480"/>
                  <a:pt x="4557" y="65659"/>
                  <a:pt x="4419" y="38429"/>
                </a:cubicBezTo>
                <a:cubicBezTo>
                  <a:pt x="4392" y="31238"/>
                  <a:pt x="8894" y="25281"/>
                  <a:pt x="14933" y="22728"/>
                </a:cubicBezTo>
                <a:lnTo>
                  <a:pt x="66620" y="796"/>
                </a:lnTo>
                <a:cubicBezTo>
                  <a:pt x="67773" y="274"/>
                  <a:pt x="69008" y="0"/>
                  <a:pt x="70271" y="0"/>
                </a:cubicBezTo>
                <a:close/>
                <a:moveTo>
                  <a:pt x="70271" y="18336"/>
                </a:moveTo>
                <a:lnTo>
                  <a:pt x="70271" y="122123"/>
                </a:lnTo>
                <a:cubicBezTo>
                  <a:pt x="108151" y="103787"/>
                  <a:pt x="118335" y="63161"/>
                  <a:pt x="118582" y="38841"/>
                </a:cubicBezTo>
                <a:lnTo>
                  <a:pt x="70271" y="18364"/>
                </a:lnTo>
                <a:lnTo>
                  <a:pt x="70271" y="18364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70541" y="5544081"/>
            <a:ext cx="1203389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Level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70541" y="5754894"/>
            <a:ext cx="1194605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/ Medium / High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8023" y="6071113"/>
            <a:ext cx="105406" cy="140542"/>
          </a:xfrm>
          <a:custGeom>
            <a:avLst/>
            <a:gdLst/>
            <a:ahLst/>
            <a:cxnLst/>
            <a:rect l="l" t="t" r="r" b="b"/>
            <a:pathLst>
              <a:path w="105406" h="140542">
                <a:moveTo>
                  <a:pt x="80400" y="105406"/>
                </a:moveTo>
                <a:cubicBezTo>
                  <a:pt x="82404" y="99285"/>
                  <a:pt x="86411" y="93740"/>
                  <a:pt x="90940" y="88964"/>
                </a:cubicBezTo>
                <a:cubicBezTo>
                  <a:pt x="99916" y="79521"/>
                  <a:pt x="105406" y="66757"/>
                  <a:pt x="105406" y="52703"/>
                </a:cubicBezTo>
                <a:cubicBezTo>
                  <a:pt x="105406" y="23607"/>
                  <a:pt x="81800" y="0"/>
                  <a:pt x="52703" y="0"/>
                </a:cubicBezTo>
                <a:cubicBezTo>
                  <a:pt x="23607" y="0"/>
                  <a:pt x="0" y="23607"/>
                  <a:pt x="0" y="52703"/>
                </a:cubicBezTo>
                <a:cubicBezTo>
                  <a:pt x="0" y="66757"/>
                  <a:pt x="5490" y="79521"/>
                  <a:pt x="14466" y="88964"/>
                </a:cubicBezTo>
                <a:cubicBezTo>
                  <a:pt x="18995" y="93740"/>
                  <a:pt x="23030" y="99285"/>
                  <a:pt x="25007" y="105406"/>
                </a:cubicBezTo>
                <a:lnTo>
                  <a:pt x="80372" y="105406"/>
                </a:lnTo>
                <a:close/>
                <a:moveTo>
                  <a:pt x="79055" y="118582"/>
                </a:moveTo>
                <a:lnTo>
                  <a:pt x="26352" y="118582"/>
                </a:lnTo>
                <a:lnTo>
                  <a:pt x="26352" y="122974"/>
                </a:lnTo>
                <a:cubicBezTo>
                  <a:pt x="26352" y="135107"/>
                  <a:pt x="36179" y="144934"/>
                  <a:pt x="48311" y="144934"/>
                </a:cubicBezTo>
                <a:lnTo>
                  <a:pt x="57095" y="144934"/>
                </a:lnTo>
                <a:cubicBezTo>
                  <a:pt x="69228" y="144934"/>
                  <a:pt x="79055" y="135107"/>
                  <a:pt x="79055" y="122974"/>
                </a:cubicBezTo>
                <a:lnTo>
                  <a:pt x="79055" y="118582"/>
                </a:lnTo>
                <a:close/>
                <a:moveTo>
                  <a:pt x="50507" y="30744"/>
                </a:moveTo>
                <a:cubicBezTo>
                  <a:pt x="39582" y="30744"/>
                  <a:pt x="30744" y="39582"/>
                  <a:pt x="30744" y="50507"/>
                </a:cubicBezTo>
                <a:cubicBezTo>
                  <a:pt x="30744" y="54158"/>
                  <a:pt x="27806" y="57095"/>
                  <a:pt x="24156" y="57095"/>
                </a:cubicBezTo>
                <a:cubicBezTo>
                  <a:pt x="20505" y="57095"/>
                  <a:pt x="17568" y="54158"/>
                  <a:pt x="17568" y="50507"/>
                </a:cubicBezTo>
                <a:cubicBezTo>
                  <a:pt x="17568" y="32308"/>
                  <a:pt x="32308" y="17568"/>
                  <a:pt x="50507" y="17568"/>
                </a:cubicBezTo>
                <a:cubicBezTo>
                  <a:pt x="54158" y="17568"/>
                  <a:pt x="57095" y="20505"/>
                  <a:pt x="57095" y="24156"/>
                </a:cubicBezTo>
                <a:cubicBezTo>
                  <a:pt x="57095" y="27806"/>
                  <a:pt x="54158" y="30744"/>
                  <a:pt x="50507" y="30744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78836" y="6035978"/>
            <a:ext cx="1203389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8836" y="6246790"/>
            <a:ext cx="1194605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Simplified key signals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42160" y="6071113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137962" y="41339"/>
                </a:moveTo>
                <a:lnTo>
                  <a:pt x="111610" y="67691"/>
                </a:lnTo>
                <a:cubicBezTo>
                  <a:pt x="109085" y="70216"/>
                  <a:pt x="105324" y="70957"/>
                  <a:pt x="102030" y="69585"/>
                </a:cubicBezTo>
                <a:cubicBezTo>
                  <a:pt x="98736" y="68212"/>
                  <a:pt x="96622" y="65028"/>
                  <a:pt x="96622" y="61487"/>
                </a:cubicBezTo>
                <a:lnTo>
                  <a:pt x="96622" y="43919"/>
                </a:lnTo>
                <a:lnTo>
                  <a:pt x="8784" y="43919"/>
                </a:lnTo>
                <a:cubicBezTo>
                  <a:pt x="3925" y="43919"/>
                  <a:pt x="0" y="39994"/>
                  <a:pt x="0" y="35135"/>
                </a:cubicBezTo>
                <a:cubicBezTo>
                  <a:pt x="0" y="30277"/>
                  <a:pt x="3925" y="26352"/>
                  <a:pt x="8784" y="26352"/>
                </a:cubicBezTo>
                <a:lnTo>
                  <a:pt x="96622" y="26352"/>
                </a:lnTo>
                <a:lnTo>
                  <a:pt x="96622" y="8784"/>
                </a:lnTo>
                <a:cubicBezTo>
                  <a:pt x="96622" y="5243"/>
                  <a:pt x="98764" y="2031"/>
                  <a:pt x="102057" y="659"/>
                </a:cubicBezTo>
                <a:cubicBezTo>
                  <a:pt x="105351" y="-714"/>
                  <a:pt x="109112" y="55"/>
                  <a:pt x="111637" y="2553"/>
                </a:cubicBezTo>
                <a:lnTo>
                  <a:pt x="137989" y="28904"/>
                </a:lnTo>
                <a:cubicBezTo>
                  <a:pt x="141420" y="32336"/>
                  <a:pt x="141420" y="37908"/>
                  <a:pt x="137989" y="41339"/>
                </a:cubicBezTo>
                <a:close/>
                <a:moveTo>
                  <a:pt x="28904" y="137962"/>
                </a:moveTo>
                <a:lnTo>
                  <a:pt x="2553" y="111610"/>
                </a:lnTo>
                <a:cubicBezTo>
                  <a:pt x="-878" y="108179"/>
                  <a:pt x="-878" y="102606"/>
                  <a:pt x="2553" y="99175"/>
                </a:cubicBezTo>
                <a:lnTo>
                  <a:pt x="28904" y="72824"/>
                </a:lnTo>
                <a:cubicBezTo>
                  <a:pt x="31430" y="70298"/>
                  <a:pt x="35190" y="69557"/>
                  <a:pt x="38484" y="70930"/>
                </a:cubicBezTo>
                <a:cubicBezTo>
                  <a:pt x="41778" y="72302"/>
                  <a:pt x="43919" y="75514"/>
                  <a:pt x="43919" y="79055"/>
                </a:cubicBezTo>
                <a:lnTo>
                  <a:pt x="43919" y="96622"/>
                </a:lnTo>
                <a:lnTo>
                  <a:pt x="131758" y="96622"/>
                </a:lnTo>
                <a:cubicBezTo>
                  <a:pt x="136616" y="96622"/>
                  <a:pt x="140542" y="100548"/>
                  <a:pt x="140542" y="105406"/>
                </a:cubicBezTo>
                <a:cubicBezTo>
                  <a:pt x="140542" y="110265"/>
                  <a:pt x="136616" y="114190"/>
                  <a:pt x="131758" y="114190"/>
                </a:cubicBezTo>
                <a:lnTo>
                  <a:pt x="43919" y="114190"/>
                </a:lnTo>
                <a:lnTo>
                  <a:pt x="43919" y="131758"/>
                </a:lnTo>
                <a:cubicBezTo>
                  <a:pt x="43919" y="135299"/>
                  <a:pt x="41778" y="138511"/>
                  <a:pt x="38484" y="139883"/>
                </a:cubicBezTo>
                <a:cubicBezTo>
                  <a:pt x="35190" y="141255"/>
                  <a:pt x="31430" y="140487"/>
                  <a:pt x="28904" y="137989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470541" y="6035978"/>
            <a:ext cx="1185821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70541" y="6246790"/>
            <a:ext cx="1177037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option if exists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06256" y="1267804"/>
            <a:ext cx="5636311" cy="4318732"/>
          </a:xfrm>
          <a:prstGeom prst="roundRect">
            <a:avLst>
              <a:gd name="adj" fmla="val 1627"/>
            </a:avLst>
          </a:prstGeom>
          <a:solidFill>
            <a:srgbClr val="112240">
              <a:alpha val="8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63916" y="1516681"/>
            <a:ext cx="131758" cy="175677"/>
          </a:xfrm>
          <a:custGeom>
            <a:avLst/>
            <a:gdLst/>
            <a:ahLst/>
            <a:cxnLst/>
            <a:rect l="l" t="t" r="r" b="b"/>
            <a:pathLst>
              <a:path w="131758" h="175677">
                <a:moveTo>
                  <a:pt x="5490" y="21960"/>
                </a:moveTo>
                <a:cubicBezTo>
                  <a:pt x="5490" y="9848"/>
                  <a:pt x="15337" y="0"/>
                  <a:pt x="27450" y="0"/>
                </a:cubicBezTo>
                <a:lnTo>
                  <a:pt x="104308" y="0"/>
                </a:lnTo>
                <a:cubicBezTo>
                  <a:pt x="116420" y="0"/>
                  <a:pt x="126268" y="9848"/>
                  <a:pt x="126268" y="21960"/>
                </a:cubicBezTo>
                <a:lnTo>
                  <a:pt x="126268" y="153718"/>
                </a:lnTo>
                <a:cubicBezTo>
                  <a:pt x="126268" y="165830"/>
                  <a:pt x="116420" y="175677"/>
                  <a:pt x="104308" y="175677"/>
                </a:cubicBezTo>
                <a:lnTo>
                  <a:pt x="27450" y="175677"/>
                </a:lnTo>
                <a:cubicBezTo>
                  <a:pt x="15337" y="175677"/>
                  <a:pt x="5490" y="165830"/>
                  <a:pt x="5490" y="153718"/>
                </a:cubicBezTo>
                <a:lnTo>
                  <a:pt x="5490" y="21960"/>
                </a:lnTo>
                <a:close/>
                <a:moveTo>
                  <a:pt x="27450" y="21960"/>
                </a:moveTo>
                <a:lnTo>
                  <a:pt x="27450" y="126268"/>
                </a:lnTo>
                <a:lnTo>
                  <a:pt x="104308" y="126268"/>
                </a:lnTo>
                <a:lnTo>
                  <a:pt x="104308" y="21960"/>
                </a:lnTo>
                <a:lnTo>
                  <a:pt x="27450" y="21960"/>
                </a:lnTo>
                <a:close/>
                <a:moveTo>
                  <a:pt x="65879" y="161952"/>
                </a:moveTo>
                <a:cubicBezTo>
                  <a:pt x="71952" y="161952"/>
                  <a:pt x="76859" y="157046"/>
                  <a:pt x="76859" y="150973"/>
                </a:cubicBezTo>
                <a:cubicBezTo>
                  <a:pt x="76859" y="144899"/>
                  <a:pt x="71952" y="139993"/>
                  <a:pt x="65879" y="139993"/>
                </a:cubicBezTo>
                <a:cubicBezTo>
                  <a:pt x="59806" y="139993"/>
                  <a:pt x="54899" y="144899"/>
                  <a:pt x="54899" y="150973"/>
                </a:cubicBezTo>
                <a:cubicBezTo>
                  <a:pt x="54899" y="157046"/>
                  <a:pt x="59806" y="161952"/>
                  <a:pt x="65879" y="161952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639593" y="1481545"/>
            <a:ext cx="5077072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Rules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9997" y="1868035"/>
            <a:ext cx="281084" cy="281084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490267" y="1938306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70271" y="0"/>
                </a:moveTo>
                <a:cubicBezTo>
                  <a:pt x="109054" y="0"/>
                  <a:pt x="140542" y="31487"/>
                  <a:pt x="140542" y="70271"/>
                </a:cubicBezTo>
                <a:cubicBezTo>
                  <a:pt x="140542" y="109054"/>
                  <a:pt x="109054" y="140542"/>
                  <a:pt x="70271" y="140542"/>
                </a:cubicBezTo>
                <a:cubicBezTo>
                  <a:pt x="31487" y="140542"/>
                  <a:pt x="0" y="109054"/>
                  <a:pt x="0" y="70271"/>
                </a:cubicBezTo>
                <a:cubicBezTo>
                  <a:pt x="0" y="31487"/>
                  <a:pt x="31487" y="0"/>
                  <a:pt x="70271" y="0"/>
                </a:cubicBezTo>
                <a:close/>
                <a:moveTo>
                  <a:pt x="63683" y="32939"/>
                </a:moveTo>
                <a:lnTo>
                  <a:pt x="63683" y="70271"/>
                </a:lnTo>
                <a:cubicBezTo>
                  <a:pt x="63683" y="72467"/>
                  <a:pt x="64781" y="74526"/>
                  <a:pt x="66620" y="75761"/>
                </a:cubicBezTo>
                <a:lnTo>
                  <a:pt x="92972" y="93329"/>
                </a:lnTo>
                <a:cubicBezTo>
                  <a:pt x="95991" y="95360"/>
                  <a:pt x="100081" y="94536"/>
                  <a:pt x="102112" y="91489"/>
                </a:cubicBezTo>
                <a:cubicBezTo>
                  <a:pt x="104144" y="88443"/>
                  <a:pt x="103320" y="84380"/>
                  <a:pt x="100273" y="82349"/>
                </a:cubicBezTo>
                <a:lnTo>
                  <a:pt x="76859" y="66757"/>
                </a:lnTo>
                <a:lnTo>
                  <a:pt x="76859" y="32939"/>
                </a:lnTo>
                <a:cubicBezTo>
                  <a:pt x="76859" y="29289"/>
                  <a:pt x="73922" y="26352"/>
                  <a:pt x="70271" y="26352"/>
                </a:cubicBezTo>
                <a:cubicBezTo>
                  <a:pt x="66620" y="26352"/>
                  <a:pt x="63683" y="29289"/>
                  <a:pt x="63683" y="32939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806486" y="1868035"/>
            <a:ext cx="139663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10 Seconds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06486" y="2078848"/>
            <a:ext cx="1387850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clarity, no waiting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19997" y="2395067"/>
            <a:ext cx="281084" cy="281084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481484" y="2465338"/>
            <a:ext cx="158110" cy="140542"/>
          </a:xfrm>
          <a:custGeom>
            <a:avLst/>
            <a:gdLst/>
            <a:ahLst/>
            <a:cxnLst/>
            <a:rect l="l" t="t" r="r" b="b"/>
            <a:pathLst>
              <a:path w="158110" h="140542">
                <a:moveTo>
                  <a:pt x="11254" y="-6835"/>
                </a:moveTo>
                <a:cubicBezTo>
                  <a:pt x="8674" y="-9415"/>
                  <a:pt x="4502" y="-9415"/>
                  <a:pt x="1949" y="-6835"/>
                </a:cubicBezTo>
                <a:cubicBezTo>
                  <a:pt x="-604" y="-4255"/>
                  <a:pt x="-631" y="-82"/>
                  <a:pt x="1921" y="2498"/>
                </a:cubicBezTo>
                <a:lnTo>
                  <a:pt x="146855" y="147432"/>
                </a:lnTo>
                <a:cubicBezTo>
                  <a:pt x="149435" y="150012"/>
                  <a:pt x="153608" y="150012"/>
                  <a:pt x="156161" y="147432"/>
                </a:cubicBezTo>
                <a:cubicBezTo>
                  <a:pt x="158713" y="144851"/>
                  <a:pt x="158741" y="140679"/>
                  <a:pt x="156161" y="138126"/>
                </a:cubicBezTo>
                <a:lnTo>
                  <a:pt x="85505" y="67444"/>
                </a:lnTo>
                <a:cubicBezTo>
                  <a:pt x="100603" y="64452"/>
                  <a:pt x="111994" y="51111"/>
                  <a:pt x="111994" y="35135"/>
                </a:cubicBezTo>
                <a:cubicBezTo>
                  <a:pt x="111994" y="16936"/>
                  <a:pt x="97254" y="2196"/>
                  <a:pt x="79055" y="2196"/>
                </a:cubicBezTo>
                <a:cubicBezTo>
                  <a:pt x="63079" y="2196"/>
                  <a:pt x="49739" y="13588"/>
                  <a:pt x="46747" y="28685"/>
                </a:cubicBezTo>
                <a:lnTo>
                  <a:pt x="11254" y="-6835"/>
                </a:lnTo>
                <a:close/>
                <a:moveTo>
                  <a:pt x="64671" y="83831"/>
                </a:moveTo>
                <a:cubicBezTo>
                  <a:pt x="40598" y="86905"/>
                  <a:pt x="21960" y="107465"/>
                  <a:pt x="21960" y="132389"/>
                </a:cubicBezTo>
                <a:cubicBezTo>
                  <a:pt x="21960" y="136891"/>
                  <a:pt x="25610" y="140542"/>
                  <a:pt x="30112" y="140542"/>
                </a:cubicBezTo>
                <a:lnTo>
                  <a:pt x="121382" y="140542"/>
                </a:lnTo>
                <a:lnTo>
                  <a:pt x="64671" y="83831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806486" y="2395067"/>
            <a:ext cx="1194605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Login Required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06486" y="2605880"/>
            <a:ext cx="1185821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friction to start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19997" y="2922099"/>
            <a:ext cx="281084" cy="281084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490267" y="2992370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100795" y="113229"/>
                </a:moveTo>
                <a:lnTo>
                  <a:pt x="27312" y="39747"/>
                </a:lnTo>
                <a:cubicBezTo>
                  <a:pt x="21164" y="48366"/>
                  <a:pt x="17568" y="58907"/>
                  <a:pt x="17568" y="70271"/>
                </a:cubicBezTo>
                <a:cubicBezTo>
                  <a:pt x="17568" y="99367"/>
                  <a:pt x="41174" y="122974"/>
                  <a:pt x="70271" y="122974"/>
                </a:cubicBezTo>
                <a:cubicBezTo>
                  <a:pt x="81662" y="122974"/>
                  <a:pt x="92203" y="119378"/>
                  <a:pt x="100795" y="113229"/>
                </a:cubicBezTo>
                <a:close/>
                <a:moveTo>
                  <a:pt x="113229" y="100795"/>
                </a:moveTo>
                <a:cubicBezTo>
                  <a:pt x="119378" y="92176"/>
                  <a:pt x="122974" y="81635"/>
                  <a:pt x="122974" y="70271"/>
                </a:cubicBezTo>
                <a:cubicBezTo>
                  <a:pt x="122974" y="41174"/>
                  <a:pt x="99367" y="17568"/>
                  <a:pt x="70271" y="17568"/>
                </a:cubicBezTo>
                <a:cubicBezTo>
                  <a:pt x="58879" y="17568"/>
                  <a:pt x="48339" y="21164"/>
                  <a:pt x="39747" y="27312"/>
                </a:cubicBezTo>
                <a:lnTo>
                  <a:pt x="113229" y="100795"/>
                </a:lnTo>
                <a:close/>
                <a:moveTo>
                  <a:pt x="0" y="70271"/>
                </a:moveTo>
                <a:cubicBezTo>
                  <a:pt x="0" y="31487"/>
                  <a:pt x="31487" y="0"/>
                  <a:pt x="70271" y="0"/>
                </a:cubicBezTo>
                <a:cubicBezTo>
                  <a:pt x="109054" y="0"/>
                  <a:pt x="140542" y="31487"/>
                  <a:pt x="140542" y="70271"/>
                </a:cubicBezTo>
                <a:cubicBezTo>
                  <a:pt x="140542" y="109054"/>
                  <a:pt x="109054" y="140542"/>
                  <a:pt x="70271" y="140542"/>
                </a:cubicBezTo>
                <a:cubicBezTo>
                  <a:pt x="31487" y="140542"/>
                  <a:pt x="0" y="109054"/>
                  <a:pt x="0" y="7027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806486" y="2922099"/>
            <a:ext cx="1264876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Dashboards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06486" y="3132911"/>
            <a:ext cx="1256092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complex interfaces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9997" y="3449130"/>
            <a:ext cx="281084" cy="281084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490267" y="3519401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32939" y="15372"/>
                </a:moveTo>
                <a:cubicBezTo>
                  <a:pt x="32939" y="6890"/>
                  <a:pt x="39829" y="0"/>
                  <a:pt x="48311" y="0"/>
                </a:cubicBezTo>
                <a:lnTo>
                  <a:pt x="54899" y="0"/>
                </a:lnTo>
                <a:cubicBezTo>
                  <a:pt x="59758" y="0"/>
                  <a:pt x="63683" y="3925"/>
                  <a:pt x="63683" y="8784"/>
                </a:cubicBezTo>
                <a:lnTo>
                  <a:pt x="63683" y="131758"/>
                </a:lnTo>
                <a:cubicBezTo>
                  <a:pt x="63683" y="136616"/>
                  <a:pt x="59758" y="140542"/>
                  <a:pt x="54899" y="140542"/>
                </a:cubicBezTo>
                <a:lnTo>
                  <a:pt x="46115" y="140542"/>
                </a:lnTo>
                <a:cubicBezTo>
                  <a:pt x="37935" y="140542"/>
                  <a:pt x="31045" y="134942"/>
                  <a:pt x="29097" y="127366"/>
                </a:cubicBezTo>
                <a:cubicBezTo>
                  <a:pt x="28904" y="127366"/>
                  <a:pt x="28740" y="127366"/>
                  <a:pt x="28548" y="127366"/>
                </a:cubicBezTo>
                <a:cubicBezTo>
                  <a:pt x="16415" y="127366"/>
                  <a:pt x="6588" y="117539"/>
                  <a:pt x="6588" y="105406"/>
                </a:cubicBezTo>
                <a:cubicBezTo>
                  <a:pt x="6588" y="100465"/>
                  <a:pt x="8235" y="95909"/>
                  <a:pt x="10980" y="92231"/>
                </a:cubicBezTo>
                <a:cubicBezTo>
                  <a:pt x="5655" y="88223"/>
                  <a:pt x="2196" y="81855"/>
                  <a:pt x="2196" y="74663"/>
                </a:cubicBezTo>
                <a:cubicBezTo>
                  <a:pt x="2196" y="66181"/>
                  <a:pt x="7027" y="58797"/>
                  <a:pt x="14054" y="55146"/>
                </a:cubicBezTo>
                <a:cubicBezTo>
                  <a:pt x="12105" y="51852"/>
                  <a:pt x="10980" y="48009"/>
                  <a:pt x="10980" y="43919"/>
                </a:cubicBezTo>
                <a:cubicBezTo>
                  <a:pt x="10980" y="31787"/>
                  <a:pt x="20807" y="21960"/>
                  <a:pt x="32939" y="21960"/>
                </a:cubicBezTo>
                <a:lnTo>
                  <a:pt x="32939" y="15372"/>
                </a:lnTo>
                <a:close/>
                <a:moveTo>
                  <a:pt x="107602" y="15372"/>
                </a:moveTo>
                <a:lnTo>
                  <a:pt x="107602" y="21960"/>
                </a:lnTo>
                <a:cubicBezTo>
                  <a:pt x="119735" y="21960"/>
                  <a:pt x="129562" y="31787"/>
                  <a:pt x="129562" y="43919"/>
                </a:cubicBezTo>
                <a:cubicBezTo>
                  <a:pt x="129562" y="48037"/>
                  <a:pt x="128437" y="51880"/>
                  <a:pt x="126488" y="55146"/>
                </a:cubicBezTo>
                <a:cubicBezTo>
                  <a:pt x="133542" y="58797"/>
                  <a:pt x="138346" y="66153"/>
                  <a:pt x="138346" y="74663"/>
                </a:cubicBezTo>
                <a:cubicBezTo>
                  <a:pt x="138346" y="81855"/>
                  <a:pt x="134887" y="88223"/>
                  <a:pt x="129562" y="92231"/>
                </a:cubicBezTo>
                <a:cubicBezTo>
                  <a:pt x="132307" y="95909"/>
                  <a:pt x="133954" y="100465"/>
                  <a:pt x="133954" y="105406"/>
                </a:cubicBezTo>
                <a:cubicBezTo>
                  <a:pt x="133954" y="117539"/>
                  <a:pt x="124127" y="127366"/>
                  <a:pt x="111994" y="127366"/>
                </a:cubicBezTo>
                <a:cubicBezTo>
                  <a:pt x="111802" y="127366"/>
                  <a:pt x="111637" y="127366"/>
                  <a:pt x="111445" y="127366"/>
                </a:cubicBezTo>
                <a:cubicBezTo>
                  <a:pt x="109496" y="134942"/>
                  <a:pt x="102606" y="140542"/>
                  <a:pt x="94427" y="140542"/>
                </a:cubicBezTo>
                <a:lnTo>
                  <a:pt x="85643" y="140542"/>
                </a:lnTo>
                <a:cubicBezTo>
                  <a:pt x="80784" y="140542"/>
                  <a:pt x="76859" y="136616"/>
                  <a:pt x="76859" y="131758"/>
                </a:cubicBezTo>
                <a:lnTo>
                  <a:pt x="76859" y="8784"/>
                </a:lnTo>
                <a:cubicBezTo>
                  <a:pt x="76859" y="3925"/>
                  <a:pt x="80784" y="0"/>
                  <a:pt x="85643" y="0"/>
                </a:cubicBezTo>
                <a:lnTo>
                  <a:pt x="92231" y="0"/>
                </a:lnTo>
                <a:cubicBezTo>
                  <a:pt x="100712" y="0"/>
                  <a:pt x="107602" y="6890"/>
                  <a:pt x="107602" y="15372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806486" y="3449130"/>
            <a:ext cx="1589879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Technical Complexity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06486" y="3659943"/>
            <a:ext cx="1581095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Human-readable output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06256" y="5730006"/>
            <a:ext cx="5636311" cy="875458"/>
          </a:xfrm>
          <a:prstGeom prst="roundRect">
            <a:avLst>
              <a:gd name="adj" fmla="val 8027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382665" y="5908612"/>
            <a:ext cx="153718" cy="175677"/>
          </a:xfrm>
          <a:custGeom>
            <a:avLst/>
            <a:gdLst/>
            <a:ahLst/>
            <a:cxnLst/>
            <a:rect l="l" t="t" r="r" b="b"/>
            <a:pathLst>
              <a:path w="153718" h="175677">
                <a:moveTo>
                  <a:pt x="0" y="74114"/>
                </a:moveTo>
                <a:cubicBezTo>
                  <a:pt x="0" y="51365"/>
                  <a:pt x="18426" y="32939"/>
                  <a:pt x="41174" y="32939"/>
                </a:cubicBezTo>
                <a:lnTo>
                  <a:pt x="43919" y="32939"/>
                </a:lnTo>
                <a:cubicBezTo>
                  <a:pt x="49993" y="32939"/>
                  <a:pt x="54899" y="37846"/>
                  <a:pt x="54899" y="43919"/>
                </a:cubicBezTo>
                <a:cubicBezTo>
                  <a:pt x="54899" y="49993"/>
                  <a:pt x="49993" y="54899"/>
                  <a:pt x="43919" y="54899"/>
                </a:cubicBezTo>
                <a:lnTo>
                  <a:pt x="41174" y="54899"/>
                </a:lnTo>
                <a:cubicBezTo>
                  <a:pt x="30572" y="54899"/>
                  <a:pt x="21960" y="63511"/>
                  <a:pt x="21960" y="74114"/>
                </a:cubicBezTo>
                <a:lnTo>
                  <a:pt x="21960" y="76859"/>
                </a:lnTo>
                <a:lnTo>
                  <a:pt x="43919" y="76859"/>
                </a:lnTo>
                <a:cubicBezTo>
                  <a:pt x="56031" y="76859"/>
                  <a:pt x="65879" y="86706"/>
                  <a:pt x="65879" y="98818"/>
                </a:cubicBezTo>
                <a:lnTo>
                  <a:pt x="65879" y="120778"/>
                </a:lnTo>
                <a:cubicBezTo>
                  <a:pt x="65879" y="132890"/>
                  <a:pt x="56031" y="142738"/>
                  <a:pt x="43919" y="142738"/>
                </a:cubicBezTo>
                <a:lnTo>
                  <a:pt x="21960" y="142738"/>
                </a:lnTo>
                <a:cubicBezTo>
                  <a:pt x="9848" y="142738"/>
                  <a:pt x="0" y="132890"/>
                  <a:pt x="0" y="120778"/>
                </a:cubicBezTo>
                <a:lnTo>
                  <a:pt x="0" y="74114"/>
                </a:lnTo>
                <a:close/>
                <a:moveTo>
                  <a:pt x="87839" y="74114"/>
                </a:moveTo>
                <a:cubicBezTo>
                  <a:pt x="87839" y="51365"/>
                  <a:pt x="106264" y="32939"/>
                  <a:pt x="129013" y="32939"/>
                </a:cubicBezTo>
                <a:lnTo>
                  <a:pt x="131758" y="32939"/>
                </a:lnTo>
                <a:cubicBezTo>
                  <a:pt x="137831" y="32939"/>
                  <a:pt x="142738" y="37846"/>
                  <a:pt x="142738" y="43919"/>
                </a:cubicBezTo>
                <a:cubicBezTo>
                  <a:pt x="142738" y="49993"/>
                  <a:pt x="137831" y="54899"/>
                  <a:pt x="131758" y="54899"/>
                </a:cubicBezTo>
                <a:lnTo>
                  <a:pt x="129013" y="54899"/>
                </a:lnTo>
                <a:cubicBezTo>
                  <a:pt x="118411" y="54899"/>
                  <a:pt x="109798" y="63511"/>
                  <a:pt x="109798" y="74114"/>
                </a:cubicBezTo>
                <a:lnTo>
                  <a:pt x="109798" y="76859"/>
                </a:lnTo>
                <a:lnTo>
                  <a:pt x="131758" y="76859"/>
                </a:lnTo>
                <a:cubicBezTo>
                  <a:pt x="143870" y="76859"/>
                  <a:pt x="153718" y="86706"/>
                  <a:pt x="153718" y="98818"/>
                </a:cubicBezTo>
                <a:lnTo>
                  <a:pt x="153718" y="120778"/>
                </a:lnTo>
                <a:cubicBezTo>
                  <a:pt x="153718" y="132890"/>
                  <a:pt x="143870" y="142738"/>
                  <a:pt x="131758" y="142738"/>
                </a:cubicBezTo>
                <a:lnTo>
                  <a:pt x="109798" y="142738"/>
                </a:lnTo>
                <a:cubicBezTo>
                  <a:pt x="97686" y="142738"/>
                  <a:pt x="87839" y="132890"/>
                  <a:pt x="87839" y="120778"/>
                </a:cubicBezTo>
                <a:lnTo>
                  <a:pt x="87839" y="74114"/>
                </a:ln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641148" y="5908612"/>
            <a:ext cx="5103424" cy="518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it takes more than 10 seconds to understand a decision, people won't use it. Fnomo respects that reality."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6829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 for Companies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decisions reduce mental noise and improve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581650" cy="2057400"/>
          </a:xfrm>
          <a:custGeom>
            <a:avLst/>
            <a:gdLst/>
            <a:ahLst/>
            <a:cxnLst/>
            <a:rect l="l" t="t" r="r" b="b"/>
            <a:pathLst>
              <a:path w="5581650" h="20574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981200"/>
                </a:lnTo>
                <a:cubicBezTo>
                  <a:pt x="5581650" y="2023256"/>
                  <a:pt x="5547506" y="2057400"/>
                  <a:pt x="5505450" y="2057400"/>
                </a:cubicBez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FF6467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371600"/>
            <a:ext cx="38100" cy="2057400"/>
          </a:xfrm>
          <a:prstGeom prst="roundRect">
            <a:avLst>
              <a:gd name="adj" fmla="val 0"/>
            </a:avLst>
          </a:pr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38175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9650" y="15621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Fnomo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650" y="201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198120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frequently engage with markets during work hours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232410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stress impacts productivity and focus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8650" y="2705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667000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clarity causes distraction and mental overload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30480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3009900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Decisions are delayed, impulsive, or avoided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175" y="3584575"/>
            <a:ext cx="5597525" cy="1339850"/>
          </a:xfrm>
          <a:prstGeom prst="roundRect">
            <a:avLst>
              <a:gd name="adj" fmla="val 568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01663" y="38163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15975" y="3778253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6413" y="4159253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513" y="454025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employees check markets during 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67063" y="4159253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5163" y="454025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distraction recovery time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1371600"/>
            <a:ext cx="5581650" cy="2057400"/>
          </a:xfrm>
          <a:custGeom>
            <a:avLst/>
            <a:gdLst/>
            <a:ahLst/>
            <a:cxnLst/>
            <a:rect l="l" t="t" r="r" b="b"/>
            <a:pathLst>
              <a:path w="5581650" h="20574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981200"/>
                </a:lnTo>
                <a:cubicBezTo>
                  <a:pt x="5581650" y="2023256"/>
                  <a:pt x="5547506" y="2057400"/>
                  <a:pt x="5505450" y="2057400"/>
                </a:cubicBez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64FFDA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29350" y="1371600"/>
            <a:ext cx="38100" cy="20574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67475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38950" y="1562100"/>
            <a:ext cx="1352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Fnomo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67475" y="2019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743700" y="1981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decision friction with instant validation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579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743700" y="23241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mental clarity and reduces stress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77000" y="2705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743700" y="26670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faster decision closure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7950" y="3048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743700" y="300990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employees refocus on core work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3475" y="3584575"/>
            <a:ext cx="5597525" cy="1339850"/>
          </a:xfrm>
          <a:prstGeom prst="roundRect">
            <a:avLst>
              <a:gd name="adj" fmla="val 568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30963" y="38163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645275" y="3778253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Impact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35713" y="4159253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73813" y="454025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validation time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96363" y="4159253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34463" y="454025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focus &amp; productivity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4175" y="5895978"/>
            <a:ext cx="11426825" cy="577850"/>
          </a:xfrm>
          <a:prstGeom prst="roundRect">
            <a:avLst>
              <a:gd name="adj" fmla="val 13187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96900" y="60706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77900" y="6051552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is clear:</a:t>
            </a:r>
            <a:r>
              <a:rPr lang="en-US" sz="135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 mental noise = better performance = measurable business impact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871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Implementation, Immediate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B0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Adoption happens because friction is near zero , </a:t>
            </a:r>
            <a:r>
              <a:rPr lang="en-US" sz="1600" dirty="0">
                <a:solidFill>
                  <a:srgbClr val="00B050"/>
                </a:solidFill>
              </a:rPr>
              <a:t>“We’ll test this with a small group first to understand real usage.”</a:t>
            </a:r>
          </a:p>
        </p:txBody>
      </p:sp>
      <p:sp>
        <p:nvSpPr>
          <p:cNvPr id="5" name="Shape 3"/>
          <p:cNvSpPr/>
          <p:nvPr/>
        </p:nvSpPr>
        <p:spPr>
          <a:xfrm>
            <a:off x="384175" y="1374775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7850" y="156845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98810" y="1682753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3650" y="156845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Access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650" y="1911353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receive a simple link or tool access — no downloads, no setup, no IT involvement required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175" y="2759077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77850" y="29527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8073" y="30670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3650" y="2952750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Session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3650" y="3295650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30-minute leadership and employee awareness session to introduce the concept and demonstrate value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175" y="4143378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77850" y="433705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081" y="4451352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3650" y="4337052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Access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3650" y="4679952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decision validation available whenever employees need it — at the moment of decision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175" y="5934078"/>
            <a:ext cx="6149975" cy="539750"/>
          </a:xfrm>
          <a:prstGeom prst="roundRect">
            <a:avLst>
              <a:gd name="adj" fmla="val 14118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63563" y="61087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2175" y="6089652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Immediate adoption with zero operational overhead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73565" y="1374775"/>
            <a:ext cx="5035550" cy="2444750"/>
          </a:xfrm>
          <a:prstGeom prst="roundRect">
            <a:avLst>
              <a:gd name="adj" fmla="val 3117"/>
            </a:avLst>
          </a:prstGeom>
          <a:solidFill>
            <a:srgbClr val="112240">
              <a:alpha val="80000"/>
            </a:srgbClr>
          </a:solidFill>
          <a:ln w="8467">
            <a:solidFill>
              <a:srgbClr val="FF646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029152" y="16446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243465" y="1606553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Requirements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24390" y="2063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0140" y="2025653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System Integration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0140" y="2254253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independently of existing infrastructure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24390" y="26352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310140" y="2597153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Learning Curve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0140" y="2825753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design, instant understanding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24390" y="3206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310140" y="3168653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Operational Overhead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0140" y="3397253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maintenance or management required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73565" y="3978277"/>
            <a:ext cx="5035550" cy="2492375"/>
          </a:xfrm>
          <a:prstGeom prst="roundRect">
            <a:avLst>
              <a:gd name="adj" fmla="val 3057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991052" y="4219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443" y="4085"/>
                </a:moveTo>
                <a:lnTo>
                  <a:pt x="103908" y="33620"/>
                </a:lnTo>
                <a:lnTo>
                  <a:pt x="137830" y="67542"/>
                </a:lnTo>
                <a:lnTo>
                  <a:pt x="167365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5" y="18250"/>
                </a:cubicBezTo>
                <a:lnTo>
                  <a:pt x="153200" y="4085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5"/>
                </a:cubicBezTo>
                <a:close/>
                <a:moveTo>
                  <a:pt x="92556" y="44972"/>
                </a:moveTo>
                <a:lnTo>
                  <a:pt x="4085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5" y="153200"/>
                </a:cubicBezTo>
                <a:lnTo>
                  <a:pt x="18250" y="167365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5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186315" y="417195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Experience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67240" y="45529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47012" y="46386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9258" y="25003"/>
                </a:moveTo>
                <a:cubicBezTo>
                  <a:pt x="104935" y="25003"/>
                  <a:pt x="100742" y="26175"/>
                  <a:pt x="97069" y="28311"/>
                </a:cubicBezTo>
                <a:cubicBezTo>
                  <a:pt x="92954" y="24144"/>
                  <a:pt x="88162" y="20654"/>
                  <a:pt x="82875" y="18023"/>
                </a:cubicBezTo>
                <a:cubicBezTo>
                  <a:pt x="90220" y="11772"/>
                  <a:pt x="99570" y="8334"/>
                  <a:pt x="109258" y="8334"/>
                </a:cubicBezTo>
                <a:cubicBezTo>
                  <a:pt x="131761" y="8334"/>
                  <a:pt x="150019" y="26566"/>
                  <a:pt x="150019" y="49095"/>
                </a:cubicBezTo>
                <a:cubicBezTo>
                  <a:pt x="150019" y="59903"/>
                  <a:pt x="145721" y="70269"/>
                  <a:pt x="138090" y="77900"/>
                </a:cubicBezTo>
                <a:lnTo>
                  <a:pt x="119572" y="96418"/>
                </a:lnTo>
                <a:cubicBezTo>
                  <a:pt x="111941" y="104049"/>
                  <a:pt x="101575" y="108347"/>
                  <a:pt x="90767" y="108347"/>
                </a:cubicBezTo>
                <a:cubicBezTo>
                  <a:pt x="68264" y="108347"/>
                  <a:pt x="50006" y="90115"/>
                  <a:pt x="50006" y="67587"/>
                </a:cubicBezTo>
                <a:cubicBezTo>
                  <a:pt x="50006" y="67196"/>
                  <a:pt x="50006" y="66805"/>
                  <a:pt x="50032" y="66415"/>
                </a:cubicBezTo>
                <a:cubicBezTo>
                  <a:pt x="50163" y="61805"/>
                  <a:pt x="53991" y="58184"/>
                  <a:pt x="58601" y="58315"/>
                </a:cubicBezTo>
                <a:cubicBezTo>
                  <a:pt x="63211" y="58445"/>
                  <a:pt x="66831" y="62273"/>
                  <a:pt x="66701" y="66883"/>
                </a:cubicBezTo>
                <a:cubicBezTo>
                  <a:pt x="66701" y="67118"/>
                  <a:pt x="66701" y="67352"/>
                  <a:pt x="66701" y="67561"/>
                </a:cubicBezTo>
                <a:cubicBezTo>
                  <a:pt x="66701" y="80869"/>
                  <a:pt x="77484" y="91652"/>
                  <a:pt x="90793" y="91652"/>
                </a:cubicBezTo>
                <a:cubicBezTo>
                  <a:pt x="97174" y="91652"/>
                  <a:pt x="103294" y="89126"/>
                  <a:pt x="107826" y="84594"/>
                </a:cubicBezTo>
                <a:lnTo>
                  <a:pt x="126344" y="66076"/>
                </a:lnTo>
                <a:cubicBezTo>
                  <a:pt x="130850" y="61570"/>
                  <a:pt x="133402" y="55424"/>
                  <a:pt x="133402" y="49043"/>
                </a:cubicBezTo>
                <a:cubicBezTo>
                  <a:pt x="133402" y="35734"/>
                  <a:pt x="122619" y="24951"/>
                  <a:pt x="109311" y="24951"/>
                </a:cubicBezTo>
                <a:close/>
                <a:moveTo>
                  <a:pt x="71676" y="45136"/>
                </a:moveTo>
                <a:cubicBezTo>
                  <a:pt x="71181" y="44927"/>
                  <a:pt x="70686" y="44641"/>
                  <a:pt x="70243" y="44328"/>
                </a:cubicBezTo>
                <a:cubicBezTo>
                  <a:pt x="66961" y="42636"/>
                  <a:pt x="63211" y="41672"/>
                  <a:pt x="59278" y="41672"/>
                </a:cubicBezTo>
                <a:cubicBezTo>
                  <a:pt x="52897" y="41672"/>
                  <a:pt x="46777" y="44198"/>
                  <a:pt x="42245" y="48730"/>
                </a:cubicBezTo>
                <a:lnTo>
                  <a:pt x="23727" y="67248"/>
                </a:lnTo>
                <a:cubicBezTo>
                  <a:pt x="19221" y="71754"/>
                  <a:pt x="16669" y="77900"/>
                  <a:pt x="16669" y="84281"/>
                </a:cubicBezTo>
                <a:cubicBezTo>
                  <a:pt x="16669" y="97590"/>
                  <a:pt x="27451" y="108373"/>
                  <a:pt x="40760" y="108373"/>
                </a:cubicBezTo>
                <a:cubicBezTo>
                  <a:pt x="45058" y="108373"/>
                  <a:pt x="49251" y="107227"/>
                  <a:pt x="52923" y="105091"/>
                </a:cubicBezTo>
                <a:cubicBezTo>
                  <a:pt x="57038" y="109258"/>
                  <a:pt x="61831" y="112748"/>
                  <a:pt x="67144" y="115379"/>
                </a:cubicBezTo>
                <a:cubicBezTo>
                  <a:pt x="59799" y="121604"/>
                  <a:pt x="50475" y="125068"/>
                  <a:pt x="40760" y="125068"/>
                </a:cubicBezTo>
                <a:cubicBezTo>
                  <a:pt x="18257" y="125068"/>
                  <a:pt x="0" y="106836"/>
                  <a:pt x="0" y="84307"/>
                </a:cubicBezTo>
                <a:cubicBezTo>
                  <a:pt x="0" y="73499"/>
                  <a:pt x="4297" y="63133"/>
                  <a:pt x="11929" y="55502"/>
                </a:cubicBezTo>
                <a:lnTo>
                  <a:pt x="30447" y="36984"/>
                </a:lnTo>
                <a:cubicBezTo>
                  <a:pt x="38078" y="29353"/>
                  <a:pt x="48444" y="25055"/>
                  <a:pt x="59252" y="25055"/>
                </a:cubicBezTo>
                <a:cubicBezTo>
                  <a:pt x="81807" y="25055"/>
                  <a:pt x="100013" y="43443"/>
                  <a:pt x="100013" y="65920"/>
                </a:cubicBezTo>
                <a:cubicBezTo>
                  <a:pt x="100013" y="66258"/>
                  <a:pt x="100013" y="66597"/>
                  <a:pt x="100013" y="66935"/>
                </a:cubicBezTo>
                <a:cubicBezTo>
                  <a:pt x="99908" y="71545"/>
                  <a:pt x="96080" y="75166"/>
                  <a:pt x="91470" y="75061"/>
                </a:cubicBezTo>
                <a:cubicBezTo>
                  <a:pt x="86860" y="74957"/>
                  <a:pt x="83240" y="71129"/>
                  <a:pt x="83344" y="66519"/>
                </a:cubicBezTo>
                <a:cubicBezTo>
                  <a:pt x="83344" y="66310"/>
                  <a:pt x="83344" y="66128"/>
                  <a:pt x="83344" y="65920"/>
                </a:cubicBezTo>
                <a:cubicBezTo>
                  <a:pt x="83344" y="57143"/>
                  <a:pt x="78656" y="49433"/>
                  <a:pt x="71676" y="4518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386340" y="459105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link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67240" y="49720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047012" y="50577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33350" y="116681"/>
                </a:lnTo>
                <a:cubicBezTo>
                  <a:pt x="142544" y="116681"/>
                  <a:pt x="150019" y="109206"/>
                  <a:pt x="150019" y="100013"/>
                </a:cubicBezTo>
                <a:lnTo>
                  <a:pt x="150019" y="33337"/>
                </a:lnTo>
                <a:cubicBezTo>
                  <a:pt x="150019" y="24144"/>
                  <a:pt x="142544" y="16669"/>
                  <a:pt x="133350" y="16669"/>
                </a:cubicBezTo>
                <a:lnTo>
                  <a:pt x="16669" y="16669"/>
                </a:lnTo>
                <a:close/>
                <a:moveTo>
                  <a:pt x="20836" y="33337"/>
                </a:moveTo>
                <a:lnTo>
                  <a:pt x="29170" y="33337"/>
                </a:lnTo>
                <a:cubicBezTo>
                  <a:pt x="31462" y="33337"/>
                  <a:pt x="33337" y="35213"/>
                  <a:pt x="33337" y="37505"/>
                </a:cubicBezTo>
                <a:lnTo>
                  <a:pt x="33337" y="45839"/>
                </a:lnTo>
                <a:cubicBezTo>
                  <a:pt x="33337" y="48131"/>
                  <a:pt x="31462" y="50006"/>
                  <a:pt x="29170" y="50006"/>
                </a:cubicBezTo>
                <a:lnTo>
                  <a:pt x="20836" y="50006"/>
                </a:lnTo>
                <a:cubicBezTo>
                  <a:pt x="18544" y="50006"/>
                  <a:pt x="16669" y="48131"/>
                  <a:pt x="16669" y="45839"/>
                </a:cubicBezTo>
                <a:lnTo>
                  <a:pt x="16669" y="37505"/>
                </a:lnTo>
                <a:cubicBezTo>
                  <a:pt x="16669" y="35213"/>
                  <a:pt x="18544" y="33337"/>
                  <a:pt x="20836" y="33337"/>
                </a:cubicBezTo>
                <a:close/>
                <a:moveTo>
                  <a:pt x="16669" y="62508"/>
                </a:moveTo>
                <a:cubicBezTo>
                  <a:pt x="16669" y="60216"/>
                  <a:pt x="18544" y="58341"/>
                  <a:pt x="20836" y="58341"/>
                </a:cubicBezTo>
                <a:lnTo>
                  <a:pt x="29170" y="58341"/>
                </a:lnTo>
                <a:cubicBezTo>
                  <a:pt x="31462" y="58341"/>
                  <a:pt x="33337" y="60216"/>
                  <a:pt x="33337" y="62508"/>
                </a:cubicBezTo>
                <a:lnTo>
                  <a:pt x="33337" y="70842"/>
                </a:lnTo>
                <a:cubicBezTo>
                  <a:pt x="33337" y="73134"/>
                  <a:pt x="31462" y="75009"/>
                  <a:pt x="29170" y="75009"/>
                </a:cubicBezTo>
                <a:lnTo>
                  <a:pt x="20836" y="75009"/>
                </a:lnTo>
                <a:cubicBezTo>
                  <a:pt x="18544" y="75009"/>
                  <a:pt x="16669" y="73134"/>
                  <a:pt x="16669" y="70842"/>
                </a:cubicBezTo>
                <a:lnTo>
                  <a:pt x="16669" y="62508"/>
                </a:lnTo>
                <a:close/>
                <a:moveTo>
                  <a:pt x="45839" y="33337"/>
                </a:moveTo>
                <a:lnTo>
                  <a:pt x="54173" y="33337"/>
                </a:lnTo>
                <a:cubicBezTo>
                  <a:pt x="56465" y="33337"/>
                  <a:pt x="58341" y="35213"/>
                  <a:pt x="58341" y="37505"/>
                </a:cubicBezTo>
                <a:lnTo>
                  <a:pt x="58341" y="45839"/>
                </a:lnTo>
                <a:cubicBezTo>
                  <a:pt x="58341" y="48131"/>
                  <a:pt x="56465" y="50006"/>
                  <a:pt x="54173" y="50006"/>
                </a:cubicBezTo>
                <a:lnTo>
                  <a:pt x="45839" y="50006"/>
                </a:lnTo>
                <a:cubicBezTo>
                  <a:pt x="43547" y="50006"/>
                  <a:pt x="41672" y="48131"/>
                  <a:pt x="41672" y="45839"/>
                </a:cubicBezTo>
                <a:lnTo>
                  <a:pt x="41672" y="37505"/>
                </a:lnTo>
                <a:cubicBezTo>
                  <a:pt x="41672" y="35213"/>
                  <a:pt x="43547" y="33337"/>
                  <a:pt x="45839" y="33337"/>
                </a:cubicBezTo>
                <a:close/>
                <a:moveTo>
                  <a:pt x="41672" y="62508"/>
                </a:moveTo>
                <a:cubicBezTo>
                  <a:pt x="41672" y="60216"/>
                  <a:pt x="43547" y="58341"/>
                  <a:pt x="45839" y="58341"/>
                </a:cubicBezTo>
                <a:lnTo>
                  <a:pt x="54173" y="58341"/>
                </a:lnTo>
                <a:cubicBezTo>
                  <a:pt x="56465" y="58341"/>
                  <a:pt x="58341" y="60216"/>
                  <a:pt x="58341" y="62508"/>
                </a:cubicBezTo>
                <a:lnTo>
                  <a:pt x="58341" y="70842"/>
                </a:lnTo>
                <a:cubicBezTo>
                  <a:pt x="58341" y="73134"/>
                  <a:pt x="56465" y="75009"/>
                  <a:pt x="54173" y="75009"/>
                </a:cubicBezTo>
                <a:lnTo>
                  <a:pt x="45839" y="75009"/>
                </a:lnTo>
                <a:cubicBezTo>
                  <a:pt x="43547" y="75009"/>
                  <a:pt x="41672" y="73134"/>
                  <a:pt x="41672" y="70842"/>
                </a:cubicBezTo>
                <a:lnTo>
                  <a:pt x="41672" y="62508"/>
                </a:lnTo>
                <a:close/>
                <a:moveTo>
                  <a:pt x="45839" y="83344"/>
                </a:moveTo>
                <a:lnTo>
                  <a:pt x="104180" y="83344"/>
                </a:lnTo>
                <a:cubicBezTo>
                  <a:pt x="106472" y="83344"/>
                  <a:pt x="108347" y="85219"/>
                  <a:pt x="108347" y="87511"/>
                </a:cubicBezTo>
                <a:lnTo>
                  <a:pt x="108347" y="95845"/>
                </a:lnTo>
                <a:cubicBezTo>
                  <a:pt x="108347" y="98137"/>
                  <a:pt x="106472" y="100013"/>
                  <a:pt x="104180" y="100013"/>
                </a:cubicBezTo>
                <a:lnTo>
                  <a:pt x="45839" y="100013"/>
                </a:lnTo>
                <a:cubicBezTo>
                  <a:pt x="43547" y="100013"/>
                  <a:pt x="41672" y="98137"/>
                  <a:pt x="41672" y="95845"/>
                </a:cubicBezTo>
                <a:lnTo>
                  <a:pt x="41672" y="87511"/>
                </a:lnTo>
                <a:cubicBezTo>
                  <a:pt x="41672" y="85219"/>
                  <a:pt x="43547" y="83344"/>
                  <a:pt x="45839" y="83344"/>
                </a:cubicBezTo>
                <a:close/>
                <a:moveTo>
                  <a:pt x="66675" y="37505"/>
                </a:moveTo>
                <a:cubicBezTo>
                  <a:pt x="66675" y="35213"/>
                  <a:pt x="68550" y="33337"/>
                  <a:pt x="70842" y="33337"/>
                </a:cubicBezTo>
                <a:lnTo>
                  <a:pt x="79177" y="33337"/>
                </a:lnTo>
                <a:cubicBezTo>
                  <a:pt x="81469" y="33337"/>
                  <a:pt x="83344" y="35213"/>
                  <a:pt x="83344" y="37505"/>
                </a:cubicBezTo>
                <a:lnTo>
                  <a:pt x="83344" y="45839"/>
                </a:lnTo>
                <a:cubicBezTo>
                  <a:pt x="83344" y="48131"/>
                  <a:pt x="81469" y="50006"/>
                  <a:pt x="79177" y="50006"/>
                </a:cubicBezTo>
                <a:lnTo>
                  <a:pt x="70842" y="50006"/>
                </a:lnTo>
                <a:cubicBezTo>
                  <a:pt x="68550" y="50006"/>
                  <a:pt x="66675" y="48131"/>
                  <a:pt x="66675" y="45839"/>
                </a:cubicBezTo>
                <a:lnTo>
                  <a:pt x="66675" y="37505"/>
                </a:lnTo>
                <a:close/>
                <a:moveTo>
                  <a:pt x="70842" y="58341"/>
                </a:moveTo>
                <a:lnTo>
                  <a:pt x="79177" y="58341"/>
                </a:lnTo>
                <a:cubicBezTo>
                  <a:pt x="8146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1469" y="75009"/>
                  <a:pt x="79177" y="75009"/>
                </a:cubicBezTo>
                <a:lnTo>
                  <a:pt x="70842" y="75009"/>
                </a:lnTo>
                <a:cubicBezTo>
                  <a:pt x="6855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8550" y="58341"/>
                  <a:pt x="70842" y="58341"/>
                </a:cubicBezTo>
                <a:close/>
                <a:moveTo>
                  <a:pt x="91678" y="37505"/>
                </a:moveTo>
                <a:cubicBezTo>
                  <a:pt x="91678" y="35213"/>
                  <a:pt x="93553" y="33337"/>
                  <a:pt x="95845" y="33337"/>
                </a:cubicBezTo>
                <a:lnTo>
                  <a:pt x="104180" y="33337"/>
                </a:lnTo>
                <a:cubicBezTo>
                  <a:pt x="106472" y="33337"/>
                  <a:pt x="108347" y="35213"/>
                  <a:pt x="108347" y="37505"/>
                </a:cubicBezTo>
                <a:lnTo>
                  <a:pt x="108347" y="45839"/>
                </a:lnTo>
                <a:cubicBezTo>
                  <a:pt x="108347" y="48131"/>
                  <a:pt x="106472" y="50006"/>
                  <a:pt x="104180" y="50006"/>
                </a:cubicBezTo>
                <a:lnTo>
                  <a:pt x="95845" y="50006"/>
                </a:lnTo>
                <a:cubicBezTo>
                  <a:pt x="93553" y="50006"/>
                  <a:pt x="91678" y="48131"/>
                  <a:pt x="91678" y="45839"/>
                </a:cubicBezTo>
                <a:lnTo>
                  <a:pt x="91678" y="37505"/>
                </a:lnTo>
                <a:close/>
                <a:moveTo>
                  <a:pt x="95845" y="58341"/>
                </a:moveTo>
                <a:lnTo>
                  <a:pt x="104180" y="58341"/>
                </a:lnTo>
                <a:cubicBezTo>
                  <a:pt x="106472" y="58341"/>
                  <a:pt x="108347" y="60216"/>
                  <a:pt x="108347" y="62508"/>
                </a:cubicBezTo>
                <a:lnTo>
                  <a:pt x="108347" y="70842"/>
                </a:lnTo>
                <a:cubicBezTo>
                  <a:pt x="108347" y="73134"/>
                  <a:pt x="106472" y="75009"/>
                  <a:pt x="104180" y="75009"/>
                </a:cubicBezTo>
                <a:lnTo>
                  <a:pt x="95845" y="75009"/>
                </a:lnTo>
                <a:cubicBezTo>
                  <a:pt x="93553" y="75009"/>
                  <a:pt x="91678" y="73134"/>
                  <a:pt x="91678" y="70842"/>
                </a:cubicBezTo>
                <a:lnTo>
                  <a:pt x="91678" y="62508"/>
                </a:lnTo>
                <a:cubicBezTo>
                  <a:pt x="91678" y="60216"/>
                  <a:pt x="93553" y="58341"/>
                  <a:pt x="95845" y="58341"/>
                </a:cubicBezTo>
                <a:close/>
                <a:moveTo>
                  <a:pt x="116681" y="37505"/>
                </a:moveTo>
                <a:cubicBezTo>
                  <a:pt x="116681" y="35213"/>
                  <a:pt x="118556" y="33337"/>
                  <a:pt x="120848" y="33337"/>
                </a:cubicBezTo>
                <a:lnTo>
                  <a:pt x="129183" y="33337"/>
                </a:lnTo>
                <a:cubicBezTo>
                  <a:pt x="131475" y="33337"/>
                  <a:pt x="133350" y="35213"/>
                  <a:pt x="133350" y="37505"/>
                </a:cubicBezTo>
                <a:lnTo>
                  <a:pt x="133350" y="45839"/>
                </a:lnTo>
                <a:cubicBezTo>
                  <a:pt x="133350" y="48131"/>
                  <a:pt x="131475" y="50006"/>
                  <a:pt x="129183" y="50006"/>
                </a:cubicBezTo>
                <a:lnTo>
                  <a:pt x="120848" y="50006"/>
                </a:lnTo>
                <a:cubicBezTo>
                  <a:pt x="118556" y="50006"/>
                  <a:pt x="116681" y="48131"/>
                  <a:pt x="116681" y="45839"/>
                </a:cubicBezTo>
                <a:lnTo>
                  <a:pt x="116681" y="37505"/>
                </a:lnTo>
                <a:close/>
                <a:moveTo>
                  <a:pt x="120848" y="58341"/>
                </a:moveTo>
                <a:lnTo>
                  <a:pt x="129183" y="58341"/>
                </a:lnTo>
                <a:cubicBezTo>
                  <a:pt x="131475" y="58341"/>
                  <a:pt x="133350" y="60216"/>
                  <a:pt x="133350" y="62508"/>
                </a:cubicBezTo>
                <a:lnTo>
                  <a:pt x="133350" y="70842"/>
                </a:lnTo>
                <a:cubicBezTo>
                  <a:pt x="133350" y="73134"/>
                  <a:pt x="131475" y="75009"/>
                  <a:pt x="129183" y="75009"/>
                </a:cubicBezTo>
                <a:lnTo>
                  <a:pt x="120848" y="75009"/>
                </a:lnTo>
                <a:cubicBezTo>
                  <a:pt x="118556" y="75009"/>
                  <a:pt x="116681" y="73134"/>
                  <a:pt x="116681" y="70842"/>
                </a:cubicBezTo>
                <a:lnTo>
                  <a:pt x="116681" y="62508"/>
                </a:lnTo>
                <a:cubicBezTo>
                  <a:pt x="116681" y="60216"/>
                  <a:pt x="118556" y="58341"/>
                  <a:pt x="120848" y="58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386340" y="50101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stock/idea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67240" y="53911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063680" y="5476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386340" y="542925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clarity in 10s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67240" y="58102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055346" y="5895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2090" y="12502"/>
                </a:moveTo>
                <a:lnTo>
                  <a:pt x="81260" y="12502"/>
                </a:lnTo>
                <a:cubicBezTo>
                  <a:pt x="82406" y="12502"/>
                  <a:pt x="83344" y="13439"/>
                  <a:pt x="83344" y="14585"/>
                </a:cubicBezTo>
                <a:lnTo>
                  <a:pt x="83344" y="25003"/>
                </a:lnTo>
                <a:lnTo>
                  <a:pt x="50006" y="25003"/>
                </a:lnTo>
                <a:lnTo>
                  <a:pt x="50006" y="14585"/>
                </a:lnTo>
                <a:cubicBezTo>
                  <a:pt x="50006" y="13439"/>
                  <a:pt x="50944" y="12502"/>
                  <a:pt x="52090" y="12502"/>
                </a:cubicBezTo>
                <a:close/>
                <a:moveTo>
                  <a:pt x="37505" y="14585"/>
                </a:moveTo>
                <a:lnTo>
                  <a:pt x="37505" y="25003"/>
                </a:lnTo>
                <a:lnTo>
                  <a:pt x="16669" y="25003"/>
                </a:lnTo>
                <a:cubicBezTo>
                  <a:pt x="7475" y="25003"/>
                  <a:pt x="0" y="32478"/>
                  <a:pt x="0" y="41672"/>
                </a:cubicBezTo>
                <a:lnTo>
                  <a:pt x="0" y="66675"/>
                </a:lnTo>
                <a:lnTo>
                  <a:pt x="133350" y="66675"/>
                </a:lnTo>
                <a:lnTo>
                  <a:pt x="133350" y="41672"/>
                </a:lnTo>
                <a:cubicBezTo>
                  <a:pt x="133350" y="32478"/>
                  <a:pt x="125875" y="25003"/>
                  <a:pt x="116681" y="25003"/>
                </a:cubicBezTo>
                <a:lnTo>
                  <a:pt x="95845" y="25003"/>
                </a:lnTo>
                <a:lnTo>
                  <a:pt x="95845" y="14585"/>
                </a:lnTo>
                <a:cubicBezTo>
                  <a:pt x="95845" y="6537"/>
                  <a:pt x="89308" y="0"/>
                  <a:pt x="81260" y="0"/>
                </a:cubicBezTo>
                <a:lnTo>
                  <a:pt x="52090" y="0"/>
                </a:lnTo>
                <a:cubicBezTo>
                  <a:pt x="44042" y="0"/>
                  <a:pt x="37505" y="6537"/>
                  <a:pt x="37505" y="14585"/>
                </a:cubicBezTo>
                <a:close/>
                <a:moveTo>
                  <a:pt x="133350" y="79177"/>
                </a:moveTo>
                <a:lnTo>
                  <a:pt x="83344" y="79177"/>
                </a:lnTo>
                <a:lnTo>
                  <a:pt x="83344" y="83344"/>
                </a:lnTo>
                <a:cubicBezTo>
                  <a:pt x="83344" y="87954"/>
                  <a:pt x="79619" y="91678"/>
                  <a:pt x="75009" y="91678"/>
                </a:cubicBezTo>
                <a:lnTo>
                  <a:pt x="58341" y="91678"/>
                </a:lnTo>
                <a:cubicBezTo>
                  <a:pt x="53731" y="91678"/>
                  <a:pt x="50006" y="87954"/>
                  <a:pt x="50006" y="83344"/>
                </a:cubicBezTo>
                <a:lnTo>
                  <a:pt x="50006" y="79177"/>
                </a:lnTo>
                <a:lnTo>
                  <a:pt x="0" y="79177"/>
                </a:ln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16681" y="125016"/>
                </a:lnTo>
                <a:cubicBezTo>
                  <a:pt x="125875" y="125016"/>
                  <a:pt x="133350" y="117541"/>
                  <a:pt x="133350" y="108347"/>
                </a:cubicBezTo>
                <a:lnTo>
                  <a:pt x="133350" y="79177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386340" y="584835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 to work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344650"/>
            <a:ext cx="68930" cy="41358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6975" y="344650"/>
            <a:ext cx="4678626" cy="41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7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Low-Risk Pilot Approach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6975" y="827160"/>
            <a:ext cx="1141653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before scale ensures long-term adoption,</a:t>
            </a:r>
            <a:r>
              <a:rPr lang="en-US" sz="1600" dirty="0">
                <a:solidFill>
                  <a:schemeClr val="accent4"/>
                </a:solidFill>
              </a:rPr>
              <a:t> We can initiate the first pilot immediately.</a:t>
            </a:r>
          </a:p>
        </p:txBody>
      </p:sp>
      <p:sp>
        <p:nvSpPr>
          <p:cNvPr id="5" name="Shape 3"/>
          <p:cNvSpPr/>
          <p:nvPr/>
        </p:nvSpPr>
        <p:spPr>
          <a:xfrm>
            <a:off x="361883" y="1240741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1883" y="1240741"/>
            <a:ext cx="34465" cy="878858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51440" y="1413066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1319" y="1516461"/>
            <a:ext cx="189558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1811" y="1413066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Small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1811" y="1723251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 with a small employee group (20-50 people) to test adoption and gather initial feedback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1883" y="2257459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1883" y="2257459"/>
            <a:ext cx="34465" cy="878858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51440" y="2429784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2561" y="2533179"/>
            <a:ext cx="22402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1811" y="2429784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Awareness + Session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1811" y="2739969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 a brief usage session to demonstrate value and establish the decision-validation habit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1883" y="3274177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1883" y="3274177"/>
            <a:ext cx="34465" cy="878858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51440" y="3446502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664" y="3549897"/>
            <a:ext cx="22402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1811" y="3446502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Access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1811" y="3756687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 the pilot group continuous access to Fnomo for real-world decision validation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883" y="4290895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1883" y="4290895"/>
            <a:ext cx="34465" cy="878858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51440" y="4463220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753" y="4566615"/>
            <a:ext cx="22402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1811" y="4463220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&amp; Optimize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1811" y="4773405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engagement, collect feedback, and refine the approach based on real usage 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1883" y="5307613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61883" y="5307613"/>
            <a:ext cx="34465" cy="878858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51440" y="5479938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3100" y="5583333"/>
            <a:ext cx="22402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71811" y="5479938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71811" y="5790123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to broader employee base with validated approach and proven ROI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32433" y="1243613"/>
            <a:ext cx="4512045" cy="4322488"/>
          </a:xfrm>
          <a:prstGeom prst="roundRect">
            <a:avLst>
              <a:gd name="adj" fmla="val 1595"/>
            </a:avLst>
          </a:prstGeom>
          <a:solidFill>
            <a:srgbClr val="112240">
              <a:alpha val="8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563636" y="1487743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86163" y="0"/>
                </a:moveTo>
                <a:cubicBezTo>
                  <a:pt x="87711" y="0"/>
                  <a:pt x="89259" y="337"/>
                  <a:pt x="90673" y="976"/>
                </a:cubicBezTo>
                <a:lnTo>
                  <a:pt x="154083" y="27868"/>
                </a:lnTo>
                <a:cubicBezTo>
                  <a:pt x="161487" y="30998"/>
                  <a:pt x="167007" y="38302"/>
                  <a:pt x="166974" y="47120"/>
                </a:cubicBezTo>
                <a:cubicBezTo>
                  <a:pt x="166805" y="80508"/>
                  <a:pt x="153073" y="141596"/>
                  <a:pt x="95082" y="169363"/>
                </a:cubicBezTo>
                <a:cubicBezTo>
                  <a:pt x="89461" y="172056"/>
                  <a:pt x="82931" y="172056"/>
                  <a:pt x="77311" y="169363"/>
                </a:cubicBezTo>
                <a:cubicBezTo>
                  <a:pt x="19286" y="141596"/>
                  <a:pt x="5587" y="80508"/>
                  <a:pt x="5419" y="47120"/>
                </a:cubicBezTo>
                <a:cubicBezTo>
                  <a:pt x="5385" y="38302"/>
                  <a:pt x="10905" y="30998"/>
                  <a:pt x="18310" y="27868"/>
                </a:cubicBezTo>
                <a:lnTo>
                  <a:pt x="81686" y="976"/>
                </a:lnTo>
                <a:cubicBezTo>
                  <a:pt x="83100" y="337"/>
                  <a:pt x="84614" y="0"/>
                  <a:pt x="86163" y="0"/>
                </a:cubicBezTo>
                <a:close/>
                <a:moveTo>
                  <a:pt x="86163" y="22483"/>
                </a:moveTo>
                <a:lnTo>
                  <a:pt x="86163" y="149741"/>
                </a:lnTo>
                <a:cubicBezTo>
                  <a:pt x="132610" y="127258"/>
                  <a:pt x="145096" y="77445"/>
                  <a:pt x="145399" y="47625"/>
                </a:cubicBezTo>
                <a:lnTo>
                  <a:pt x="86163" y="22517"/>
                </a:lnTo>
                <a:lnTo>
                  <a:pt x="86163" y="22517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757501" y="1453278"/>
            <a:ext cx="396347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Works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59328" y="186685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817815" y="1832393"/>
            <a:ext cx="247286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financial risk with small initial group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59328" y="221150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817815" y="2177043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feedback from actual users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59328" y="255615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817815" y="2521693"/>
            <a:ext cx="231777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optimization before scale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59328" y="290080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817815" y="2866343"/>
            <a:ext cx="237808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champions emerge organically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59328" y="3245459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817815" y="3210994"/>
            <a:ext cx="254179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ROI before company-wide rollout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32433" y="5712579"/>
            <a:ext cx="4512045" cy="798440"/>
          </a:xfrm>
          <a:prstGeom prst="roundRect">
            <a:avLst>
              <a:gd name="adj" fmla="val 8633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533479" y="6008403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0"/>
                </a:moveTo>
                <a:cubicBezTo>
                  <a:pt x="160460" y="0"/>
                  <a:pt x="206790" y="46330"/>
                  <a:pt x="206790" y="103395"/>
                </a:cubicBezTo>
                <a:cubicBezTo>
                  <a:pt x="206790" y="160460"/>
                  <a:pt x="160460" y="206790"/>
                  <a:pt x="103395" y="206790"/>
                </a:cubicBezTo>
                <a:cubicBezTo>
                  <a:pt x="46330" y="206790"/>
                  <a:pt x="0" y="160460"/>
                  <a:pt x="0" y="103395"/>
                </a:cubicBezTo>
                <a:cubicBezTo>
                  <a:pt x="0" y="46330"/>
                  <a:pt x="46330" y="0"/>
                  <a:pt x="103395" y="0"/>
                </a:cubicBezTo>
                <a:close/>
                <a:moveTo>
                  <a:pt x="93702" y="48466"/>
                </a:moveTo>
                <a:lnTo>
                  <a:pt x="93702" y="103395"/>
                </a:lnTo>
                <a:cubicBezTo>
                  <a:pt x="93702" y="106626"/>
                  <a:pt x="95317" y="109655"/>
                  <a:pt x="98023" y="111473"/>
                </a:cubicBezTo>
                <a:lnTo>
                  <a:pt x="136797" y="137322"/>
                </a:lnTo>
                <a:cubicBezTo>
                  <a:pt x="141239" y="140310"/>
                  <a:pt x="147257" y="139099"/>
                  <a:pt x="150246" y="134616"/>
                </a:cubicBezTo>
                <a:cubicBezTo>
                  <a:pt x="153235" y="130132"/>
                  <a:pt x="152023" y="124155"/>
                  <a:pt x="147540" y="121166"/>
                </a:cubicBezTo>
                <a:lnTo>
                  <a:pt x="113088" y="98225"/>
                </a:lnTo>
                <a:lnTo>
                  <a:pt x="113088" y="48466"/>
                </a:lnTo>
                <a:cubicBezTo>
                  <a:pt x="113088" y="43095"/>
                  <a:pt x="108767" y="38773"/>
                  <a:pt x="103395" y="38773"/>
                </a:cubicBezTo>
                <a:cubicBezTo>
                  <a:pt x="98023" y="38773"/>
                  <a:pt x="93702" y="43095"/>
                  <a:pt x="93702" y="48466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869513" y="5887775"/>
            <a:ext cx="180941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69513" y="6129030"/>
            <a:ext cx="180941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4-6 weeks for pilot validation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341" y="349341"/>
            <a:ext cx="69868" cy="419209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24011" y="349341"/>
            <a:ext cx="5266315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Fnomo Reaches Users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4011" y="796933"/>
            <a:ext cx="11405983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accent6"/>
                </a:solidFill>
              </a:rPr>
              <a:t>“Users don’t discover Fnomo — they encounter it during decisions.”</a:t>
            </a:r>
            <a:r>
              <a:rPr lang="en-US" sz="1600" dirty="0">
                <a:solidFill>
                  <a:schemeClr val="accent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Growth is driven by behavior, not advertising, </a:t>
            </a:r>
            <a:endParaRPr lang="en-US" sz="1600" dirty="0">
              <a:solidFill>
                <a:schemeClr val="accent6"/>
              </a:solidFill>
            </a:endParaRPr>
          </a:p>
        </p:txBody>
      </p:sp>
      <p:pic>
        <p:nvPicPr>
          <p:cNvPr id="5" name="Image 0" descr="https://kimi-web-img.moonshot.cn/img/t3.ftcdn.net/0de89b764aad75c5de6bc70c542a64226f88a5d6.jpg"/>
          <p:cNvPicPr>
            <a:picLocks noChangeAspect="1"/>
          </p:cNvPicPr>
          <p:nvPr/>
        </p:nvPicPr>
        <p:blipFill>
          <a:blip r:embed="rId3"/>
          <a:srcRect l="21656" r="21656"/>
          <a:stretch/>
        </p:blipFill>
        <p:spPr>
          <a:xfrm>
            <a:off x="349341" y="1257628"/>
            <a:ext cx="5641857" cy="5598189"/>
          </a:xfrm>
          <a:prstGeom prst="roundRect">
            <a:avLst>
              <a:gd name="adj" fmla="val 1248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49341" y="1257628"/>
            <a:ext cx="5641857" cy="5598189"/>
          </a:xfrm>
          <a:prstGeom prst="roundRect">
            <a:avLst>
              <a:gd name="adj" fmla="val 1248"/>
            </a:avLst>
          </a:prstGeom>
          <a:gradFill flip="none" rotWithShape="1">
            <a:gsLst>
              <a:gs pos="0">
                <a:srgbClr val="0A192F">
                  <a:alpha val="4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A192F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61857" y="5906774"/>
            <a:ext cx="5211003" cy="739438"/>
          </a:xfrm>
          <a:prstGeom prst="roundRect">
            <a:avLst>
              <a:gd name="adj" fmla="val 9449"/>
            </a:avLst>
          </a:prstGeom>
          <a:solidFill>
            <a:srgbClr val="0A192F">
              <a:alpha val="9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04504" y="6049424"/>
            <a:ext cx="4995576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Strategy:</a:t>
            </a:r>
            <a:r>
              <a:rPr lang="en-US" sz="11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Enter decision environments, deliver value before pitch, build trust before conversion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01712" y="1260539"/>
            <a:ext cx="5630212" cy="1481788"/>
          </a:xfrm>
          <a:prstGeom prst="roundRect">
            <a:avLst>
              <a:gd name="adj" fmla="val 4715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379294" y="1438123"/>
            <a:ext cx="489077" cy="489077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519030" y="1577860"/>
            <a:ext cx="209605" cy="209605"/>
          </a:xfrm>
          <a:custGeom>
            <a:avLst/>
            <a:gdLst/>
            <a:ahLst/>
            <a:cxnLst/>
            <a:rect l="l" t="t" r="r" b="b"/>
            <a:pathLst>
              <a:path w="209605" h="209605">
                <a:moveTo>
                  <a:pt x="104802" y="3275"/>
                </a:moveTo>
                <a:cubicBezTo>
                  <a:pt x="48768" y="3275"/>
                  <a:pt x="3275" y="48768"/>
                  <a:pt x="3275" y="104802"/>
                </a:cubicBezTo>
                <a:cubicBezTo>
                  <a:pt x="3275" y="160837"/>
                  <a:pt x="48768" y="206330"/>
                  <a:pt x="104802" y="206330"/>
                </a:cubicBezTo>
                <a:cubicBezTo>
                  <a:pt x="160837" y="206330"/>
                  <a:pt x="206330" y="160837"/>
                  <a:pt x="206330" y="104802"/>
                </a:cubicBezTo>
                <a:cubicBezTo>
                  <a:pt x="206330" y="48768"/>
                  <a:pt x="160837" y="3275"/>
                  <a:pt x="104802" y="3275"/>
                </a:cubicBezTo>
                <a:close/>
                <a:moveTo>
                  <a:pt x="151881" y="72338"/>
                </a:moveTo>
                <a:cubicBezTo>
                  <a:pt x="150367" y="88386"/>
                  <a:pt x="143735" y="127359"/>
                  <a:pt x="140378" y="145331"/>
                </a:cubicBezTo>
                <a:cubicBezTo>
                  <a:pt x="138945" y="152946"/>
                  <a:pt x="136161" y="155484"/>
                  <a:pt x="133459" y="155730"/>
                </a:cubicBezTo>
                <a:cubicBezTo>
                  <a:pt x="127564" y="156262"/>
                  <a:pt x="123102" y="151841"/>
                  <a:pt x="117370" y="148074"/>
                </a:cubicBezTo>
                <a:cubicBezTo>
                  <a:pt x="108446" y="142220"/>
                  <a:pt x="103369" y="138576"/>
                  <a:pt x="94731" y="132845"/>
                </a:cubicBezTo>
                <a:cubicBezTo>
                  <a:pt x="84702" y="126254"/>
                  <a:pt x="91211" y="122610"/>
                  <a:pt x="96901" y="116674"/>
                </a:cubicBezTo>
                <a:cubicBezTo>
                  <a:pt x="98416" y="115119"/>
                  <a:pt x="124371" y="91497"/>
                  <a:pt x="124862" y="89369"/>
                </a:cubicBezTo>
                <a:cubicBezTo>
                  <a:pt x="124944" y="89082"/>
                  <a:pt x="124985" y="88099"/>
                  <a:pt x="124371" y="87567"/>
                </a:cubicBezTo>
                <a:cubicBezTo>
                  <a:pt x="123757" y="87035"/>
                  <a:pt x="122897" y="87240"/>
                  <a:pt x="122283" y="87363"/>
                </a:cubicBezTo>
                <a:cubicBezTo>
                  <a:pt x="121382" y="87567"/>
                  <a:pt x="107095" y="96983"/>
                  <a:pt x="79461" y="115651"/>
                </a:cubicBezTo>
                <a:cubicBezTo>
                  <a:pt x="75409" y="118435"/>
                  <a:pt x="71724" y="119786"/>
                  <a:pt x="68449" y="119704"/>
                </a:cubicBezTo>
                <a:cubicBezTo>
                  <a:pt x="64805" y="119622"/>
                  <a:pt x="57846" y="117657"/>
                  <a:pt x="52647" y="115978"/>
                </a:cubicBezTo>
                <a:cubicBezTo>
                  <a:pt x="46301" y="113932"/>
                  <a:pt x="41225" y="112826"/>
                  <a:pt x="41675" y="109306"/>
                </a:cubicBezTo>
                <a:cubicBezTo>
                  <a:pt x="41921" y="107463"/>
                  <a:pt x="44418" y="105621"/>
                  <a:pt x="49208" y="103697"/>
                </a:cubicBezTo>
                <a:cubicBezTo>
                  <a:pt x="78806" y="90801"/>
                  <a:pt x="98539" y="82286"/>
                  <a:pt x="108405" y="78192"/>
                </a:cubicBezTo>
                <a:cubicBezTo>
                  <a:pt x="136611" y="66484"/>
                  <a:pt x="142466" y="64437"/>
                  <a:pt x="146273" y="64355"/>
                </a:cubicBezTo>
                <a:cubicBezTo>
                  <a:pt x="147133" y="64355"/>
                  <a:pt x="148975" y="64560"/>
                  <a:pt x="150203" y="65542"/>
                </a:cubicBezTo>
                <a:cubicBezTo>
                  <a:pt x="151022" y="66238"/>
                  <a:pt x="151513" y="67221"/>
                  <a:pt x="151636" y="68285"/>
                </a:cubicBezTo>
                <a:cubicBezTo>
                  <a:pt x="151841" y="69595"/>
                  <a:pt x="151881" y="70946"/>
                  <a:pt x="151800" y="72297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008107" y="1438123"/>
            <a:ext cx="4733570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Platforms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08107" y="1752530"/>
            <a:ext cx="4716103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 groups, Reddit communities, Discord servers where financial decisions are actively discussed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11019" y="2314387"/>
            <a:ext cx="704504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008107" y="2311476"/>
            <a:ext cx="759817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94580" y="2314387"/>
            <a:ext cx="556034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791668" y="2311476"/>
            <a:ext cx="611347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Reddit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428215" y="2314387"/>
            <a:ext cx="625903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425304" y="2311476"/>
            <a:ext cx="681215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Discord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01712" y="2890799"/>
            <a:ext cx="5630212" cy="1481788"/>
          </a:xfrm>
          <a:prstGeom prst="roundRect">
            <a:avLst>
              <a:gd name="adj" fmla="val 4715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379294" y="3068380"/>
            <a:ext cx="489077" cy="489077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532130" y="3208116"/>
            <a:ext cx="183404" cy="209605"/>
          </a:xfrm>
          <a:custGeom>
            <a:avLst/>
            <a:gdLst/>
            <a:ahLst/>
            <a:cxnLst/>
            <a:rect l="l" t="t" r="r" b="b"/>
            <a:pathLst>
              <a:path w="183404" h="209605">
                <a:moveTo>
                  <a:pt x="91702" y="101527"/>
                </a:moveTo>
                <a:cubicBezTo>
                  <a:pt x="64589" y="101527"/>
                  <a:pt x="42576" y="79515"/>
                  <a:pt x="42576" y="52401"/>
                </a:cubicBezTo>
                <a:cubicBezTo>
                  <a:pt x="42576" y="25288"/>
                  <a:pt x="64589" y="3275"/>
                  <a:pt x="91702" y="3275"/>
                </a:cubicBezTo>
                <a:cubicBezTo>
                  <a:pt x="118815" y="3275"/>
                  <a:pt x="140828" y="25288"/>
                  <a:pt x="140828" y="52401"/>
                </a:cubicBezTo>
                <a:cubicBezTo>
                  <a:pt x="140828" y="79515"/>
                  <a:pt x="118815" y="101527"/>
                  <a:pt x="91702" y="101527"/>
                </a:cubicBezTo>
                <a:close/>
                <a:moveTo>
                  <a:pt x="79216" y="124453"/>
                </a:moveTo>
                <a:lnTo>
                  <a:pt x="104188" y="124453"/>
                </a:lnTo>
                <a:cubicBezTo>
                  <a:pt x="108159" y="124453"/>
                  <a:pt x="111352" y="127646"/>
                  <a:pt x="111352" y="131617"/>
                </a:cubicBezTo>
                <a:cubicBezTo>
                  <a:pt x="111352" y="133336"/>
                  <a:pt x="110738" y="134974"/>
                  <a:pt x="109633" y="136284"/>
                </a:cubicBezTo>
                <a:lnTo>
                  <a:pt x="98416" y="149384"/>
                </a:lnTo>
                <a:lnTo>
                  <a:pt x="111107" y="196504"/>
                </a:lnTo>
                <a:lnTo>
                  <a:pt x="111352" y="196504"/>
                </a:lnTo>
                <a:lnTo>
                  <a:pt x="125517" y="139805"/>
                </a:lnTo>
                <a:cubicBezTo>
                  <a:pt x="126418" y="136243"/>
                  <a:pt x="130061" y="134073"/>
                  <a:pt x="133500" y="135383"/>
                </a:cubicBezTo>
                <a:cubicBezTo>
                  <a:pt x="158841" y="145045"/>
                  <a:pt x="176854" y="169608"/>
                  <a:pt x="176854" y="198347"/>
                </a:cubicBezTo>
                <a:cubicBezTo>
                  <a:pt x="176854" y="204528"/>
                  <a:pt x="171818" y="209564"/>
                  <a:pt x="165637" y="209564"/>
                </a:cubicBezTo>
                <a:lnTo>
                  <a:pt x="17767" y="209605"/>
                </a:lnTo>
                <a:cubicBezTo>
                  <a:pt x="11586" y="209605"/>
                  <a:pt x="6550" y="204569"/>
                  <a:pt x="6550" y="198387"/>
                </a:cubicBezTo>
                <a:cubicBezTo>
                  <a:pt x="6550" y="169649"/>
                  <a:pt x="24563" y="145086"/>
                  <a:pt x="49904" y="135424"/>
                </a:cubicBezTo>
                <a:cubicBezTo>
                  <a:pt x="53343" y="134114"/>
                  <a:pt x="56986" y="136284"/>
                  <a:pt x="57887" y="139846"/>
                </a:cubicBezTo>
                <a:lnTo>
                  <a:pt x="72052" y="196545"/>
                </a:lnTo>
                <a:lnTo>
                  <a:pt x="72297" y="196545"/>
                </a:lnTo>
                <a:lnTo>
                  <a:pt x="84988" y="149425"/>
                </a:lnTo>
                <a:lnTo>
                  <a:pt x="73771" y="136325"/>
                </a:lnTo>
                <a:cubicBezTo>
                  <a:pt x="72666" y="135015"/>
                  <a:pt x="72052" y="133377"/>
                  <a:pt x="72052" y="131658"/>
                </a:cubicBezTo>
                <a:cubicBezTo>
                  <a:pt x="72052" y="127687"/>
                  <a:pt x="75245" y="124494"/>
                  <a:pt x="79216" y="124494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008107" y="3068380"/>
            <a:ext cx="4733570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 Network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008107" y="3382787"/>
            <a:ext cx="4716103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advisors, coaches, and influencers bring their audience to Fnomo as a value-added tool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011019" y="3944643"/>
            <a:ext cx="678304" cy="250361"/>
          </a:xfrm>
          <a:prstGeom prst="roundRect">
            <a:avLst>
              <a:gd name="adj" fmla="val 50000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008107" y="3941732"/>
            <a:ext cx="733616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762375" y="3944643"/>
            <a:ext cx="669570" cy="250361"/>
          </a:xfrm>
          <a:prstGeom prst="roundRect">
            <a:avLst>
              <a:gd name="adj" fmla="val 50000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759463" y="3941732"/>
            <a:ext cx="724883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Coaches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506453" y="3944643"/>
            <a:ext cx="800573" cy="250361"/>
          </a:xfrm>
          <a:prstGeom prst="roundRect">
            <a:avLst>
              <a:gd name="adj" fmla="val 50000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503542" y="3941732"/>
            <a:ext cx="855885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Influencers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01712" y="4521056"/>
            <a:ext cx="5630212" cy="1481788"/>
          </a:xfrm>
          <a:prstGeom prst="roundRect">
            <a:avLst>
              <a:gd name="adj" fmla="val 4715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6379294" y="4698636"/>
            <a:ext cx="489077" cy="489077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6545231" y="4838372"/>
            <a:ext cx="157203" cy="209605"/>
          </a:xfrm>
          <a:custGeom>
            <a:avLst/>
            <a:gdLst/>
            <a:ahLst/>
            <a:cxnLst/>
            <a:rect l="l" t="t" r="r" b="b"/>
            <a:pathLst>
              <a:path w="157203" h="209605">
                <a:moveTo>
                  <a:pt x="26201" y="0"/>
                </a:moveTo>
                <a:cubicBezTo>
                  <a:pt x="11749" y="0"/>
                  <a:pt x="0" y="11749"/>
                  <a:pt x="0" y="26201"/>
                </a:cubicBezTo>
                <a:lnTo>
                  <a:pt x="0" y="183404"/>
                </a:lnTo>
                <a:cubicBezTo>
                  <a:pt x="0" y="197855"/>
                  <a:pt x="11749" y="209605"/>
                  <a:pt x="26201" y="209605"/>
                </a:cubicBezTo>
                <a:lnTo>
                  <a:pt x="131003" y="209605"/>
                </a:lnTo>
                <a:cubicBezTo>
                  <a:pt x="145454" y="209605"/>
                  <a:pt x="157203" y="197855"/>
                  <a:pt x="157203" y="183404"/>
                </a:cubicBezTo>
                <a:lnTo>
                  <a:pt x="157203" y="26201"/>
                </a:lnTo>
                <a:cubicBezTo>
                  <a:pt x="157203" y="11749"/>
                  <a:pt x="145454" y="0"/>
                  <a:pt x="131003" y="0"/>
                </a:cubicBezTo>
                <a:lnTo>
                  <a:pt x="26201" y="0"/>
                </a:lnTo>
                <a:close/>
                <a:moveTo>
                  <a:pt x="72052" y="144103"/>
                </a:moveTo>
                <a:lnTo>
                  <a:pt x="85152" y="144103"/>
                </a:lnTo>
                <a:cubicBezTo>
                  <a:pt x="92398" y="144103"/>
                  <a:pt x="98252" y="149957"/>
                  <a:pt x="98252" y="157203"/>
                </a:cubicBezTo>
                <a:lnTo>
                  <a:pt x="98252" y="189954"/>
                </a:lnTo>
                <a:lnTo>
                  <a:pt x="58951" y="189954"/>
                </a:lnTo>
                <a:lnTo>
                  <a:pt x="58951" y="157203"/>
                </a:lnTo>
                <a:cubicBezTo>
                  <a:pt x="58951" y="149957"/>
                  <a:pt x="64805" y="144103"/>
                  <a:pt x="72052" y="144103"/>
                </a:cubicBezTo>
                <a:close/>
                <a:moveTo>
                  <a:pt x="39301" y="45851"/>
                </a:moveTo>
                <a:cubicBezTo>
                  <a:pt x="39301" y="42248"/>
                  <a:pt x="42248" y="39301"/>
                  <a:pt x="45851" y="39301"/>
                </a:cubicBezTo>
                <a:lnTo>
                  <a:pt x="58951" y="39301"/>
                </a:lnTo>
                <a:cubicBezTo>
                  <a:pt x="62554" y="39301"/>
                  <a:pt x="65501" y="42248"/>
                  <a:pt x="65501" y="45851"/>
                </a:cubicBezTo>
                <a:lnTo>
                  <a:pt x="65501" y="58951"/>
                </a:lnTo>
                <a:cubicBezTo>
                  <a:pt x="65501" y="62554"/>
                  <a:pt x="62554" y="65501"/>
                  <a:pt x="58951" y="65501"/>
                </a:cubicBezTo>
                <a:lnTo>
                  <a:pt x="45851" y="65501"/>
                </a:lnTo>
                <a:cubicBezTo>
                  <a:pt x="42248" y="65501"/>
                  <a:pt x="39301" y="62554"/>
                  <a:pt x="39301" y="58951"/>
                </a:cubicBezTo>
                <a:lnTo>
                  <a:pt x="39301" y="45851"/>
                </a:lnTo>
                <a:close/>
                <a:moveTo>
                  <a:pt x="98252" y="39301"/>
                </a:moveTo>
                <a:lnTo>
                  <a:pt x="111352" y="39301"/>
                </a:lnTo>
                <a:cubicBezTo>
                  <a:pt x="114955" y="39301"/>
                  <a:pt x="117903" y="42248"/>
                  <a:pt x="117903" y="45851"/>
                </a:cubicBezTo>
                <a:lnTo>
                  <a:pt x="117903" y="58951"/>
                </a:lnTo>
                <a:cubicBezTo>
                  <a:pt x="117903" y="62554"/>
                  <a:pt x="114955" y="65501"/>
                  <a:pt x="111352" y="65501"/>
                </a:cubicBezTo>
                <a:lnTo>
                  <a:pt x="98252" y="65501"/>
                </a:lnTo>
                <a:cubicBezTo>
                  <a:pt x="94650" y="65501"/>
                  <a:pt x="91702" y="62554"/>
                  <a:pt x="91702" y="58951"/>
                </a:cubicBezTo>
                <a:lnTo>
                  <a:pt x="91702" y="45851"/>
                </a:lnTo>
                <a:cubicBezTo>
                  <a:pt x="91702" y="42248"/>
                  <a:pt x="94650" y="39301"/>
                  <a:pt x="98252" y="39301"/>
                </a:cubicBezTo>
                <a:close/>
                <a:moveTo>
                  <a:pt x="39301" y="98252"/>
                </a:moveTo>
                <a:cubicBezTo>
                  <a:pt x="39301" y="94650"/>
                  <a:pt x="42248" y="91702"/>
                  <a:pt x="45851" y="91702"/>
                </a:cubicBezTo>
                <a:lnTo>
                  <a:pt x="58951" y="91702"/>
                </a:lnTo>
                <a:cubicBezTo>
                  <a:pt x="62554" y="91702"/>
                  <a:pt x="65501" y="94650"/>
                  <a:pt x="65501" y="98252"/>
                </a:cubicBezTo>
                <a:lnTo>
                  <a:pt x="65501" y="111352"/>
                </a:lnTo>
                <a:cubicBezTo>
                  <a:pt x="65501" y="114955"/>
                  <a:pt x="62554" y="117903"/>
                  <a:pt x="58951" y="117903"/>
                </a:cubicBezTo>
                <a:lnTo>
                  <a:pt x="45851" y="117903"/>
                </a:lnTo>
                <a:cubicBezTo>
                  <a:pt x="42248" y="117903"/>
                  <a:pt x="39301" y="114955"/>
                  <a:pt x="39301" y="111352"/>
                </a:cubicBezTo>
                <a:lnTo>
                  <a:pt x="39301" y="98252"/>
                </a:lnTo>
                <a:close/>
                <a:moveTo>
                  <a:pt x="98252" y="91702"/>
                </a:moveTo>
                <a:lnTo>
                  <a:pt x="111352" y="91702"/>
                </a:lnTo>
                <a:cubicBezTo>
                  <a:pt x="114955" y="91702"/>
                  <a:pt x="117903" y="94650"/>
                  <a:pt x="117903" y="98252"/>
                </a:cubicBezTo>
                <a:lnTo>
                  <a:pt x="117903" y="111352"/>
                </a:lnTo>
                <a:cubicBezTo>
                  <a:pt x="117903" y="114955"/>
                  <a:pt x="114955" y="117903"/>
                  <a:pt x="111352" y="117903"/>
                </a:cubicBezTo>
                <a:lnTo>
                  <a:pt x="98252" y="117903"/>
                </a:lnTo>
                <a:cubicBezTo>
                  <a:pt x="94650" y="117903"/>
                  <a:pt x="91702" y="114955"/>
                  <a:pt x="91702" y="111352"/>
                </a:cubicBezTo>
                <a:lnTo>
                  <a:pt x="91702" y="98252"/>
                </a:lnTo>
                <a:cubicBezTo>
                  <a:pt x="91702" y="94650"/>
                  <a:pt x="94650" y="91702"/>
                  <a:pt x="98252" y="91702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7008107" y="4698636"/>
            <a:ext cx="4733570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Corporate Partnerships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008107" y="5013043"/>
            <a:ext cx="4716103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Companies provide Fnomo as an employee benefit, improving productivity and financial wellness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011019" y="5574900"/>
            <a:ext cx="818040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008107" y="5571989"/>
            <a:ext cx="873352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Benefits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908479" y="5574900"/>
            <a:ext cx="1237249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7905568" y="5571989"/>
            <a:ext cx="1292562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Wellness Programs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01712" y="6151312"/>
            <a:ext cx="5630212" cy="704504"/>
          </a:xfrm>
          <a:prstGeom prst="roundRect">
            <a:avLst>
              <a:gd name="adj" fmla="val 9917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6383660" y="6416232"/>
            <a:ext cx="131003" cy="174670"/>
          </a:xfrm>
          <a:custGeom>
            <a:avLst/>
            <a:gdLst/>
            <a:ahLst/>
            <a:cxnLst/>
            <a:rect l="l" t="t" r="r" b="b"/>
            <a:pathLst>
              <a:path w="131003" h="174670">
                <a:moveTo>
                  <a:pt x="99924" y="131003"/>
                </a:moveTo>
                <a:cubicBezTo>
                  <a:pt x="102414" y="123395"/>
                  <a:pt x="107395" y="116504"/>
                  <a:pt x="113024" y="110568"/>
                </a:cubicBezTo>
                <a:cubicBezTo>
                  <a:pt x="124180" y="98832"/>
                  <a:pt x="131003" y="82968"/>
                  <a:pt x="131003" y="65501"/>
                </a:cubicBezTo>
                <a:cubicBezTo>
                  <a:pt x="131003" y="29339"/>
                  <a:pt x="101664" y="0"/>
                  <a:pt x="65501" y="0"/>
                </a:cubicBezTo>
                <a:cubicBezTo>
                  <a:pt x="29339" y="0"/>
                  <a:pt x="0" y="29339"/>
                  <a:pt x="0" y="65501"/>
                </a:cubicBezTo>
                <a:cubicBezTo>
                  <a:pt x="0" y="82968"/>
                  <a:pt x="6823" y="98832"/>
                  <a:pt x="17979" y="110568"/>
                </a:cubicBezTo>
                <a:cubicBezTo>
                  <a:pt x="23608" y="116504"/>
                  <a:pt x="28623" y="123395"/>
                  <a:pt x="31079" y="131003"/>
                </a:cubicBezTo>
                <a:lnTo>
                  <a:pt x="99890" y="131003"/>
                </a:lnTo>
                <a:close/>
                <a:moveTo>
                  <a:pt x="98252" y="147378"/>
                </a:moveTo>
                <a:lnTo>
                  <a:pt x="32751" y="147378"/>
                </a:lnTo>
                <a:lnTo>
                  <a:pt x="32751" y="152837"/>
                </a:lnTo>
                <a:cubicBezTo>
                  <a:pt x="32751" y="167916"/>
                  <a:pt x="44964" y="180129"/>
                  <a:pt x="60043" y="180129"/>
                </a:cubicBezTo>
                <a:lnTo>
                  <a:pt x="70960" y="180129"/>
                </a:lnTo>
                <a:cubicBezTo>
                  <a:pt x="86039" y="180129"/>
                  <a:pt x="98252" y="167916"/>
                  <a:pt x="98252" y="152837"/>
                </a:cubicBezTo>
                <a:lnTo>
                  <a:pt x="98252" y="147378"/>
                </a:lnTo>
                <a:close/>
                <a:moveTo>
                  <a:pt x="62772" y="38209"/>
                </a:moveTo>
                <a:cubicBezTo>
                  <a:pt x="49194" y="38209"/>
                  <a:pt x="38209" y="49194"/>
                  <a:pt x="38209" y="62772"/>
                </a:cubicBezTo>
                <a:cubicBezTo>
                  <a:pt x="38209" y="67310"/>
                  <a:pt x="34559" y="70960"/>
                  <a:pt x="30021" y="70960"/>
                </a:cubicBezTo>
                <a:cubicBezTo>
                  <a:pt x="25484" y="70960"/>
                  <a:pt x="21834" y="67310"/>
                  <a:pt x="21834" y="62772"/>
                </a:cubicBezTo>
                <a:cubicBezTo>
                  <a:pt x="21834" y="40154"/>
                  <a:pt x="40154" y="21834"/>
                  <a:pt x="62772" y="21834"/>
                </a:cubicBezTo>
                <a:cubicBezTo>
                  <a:pt x="67310" y="21834"/>
                  <a:pt x="70960" y="25484"/>
                  <a:pt x="70960" y="30021"/>
                </a:cubicBezTo>
                <a:cubicBezTo>
                  <a:pt x="70960" y="34559"/>
                  <a:pt x="67310" y="38209"/>
                  <a:pt x="62772" y="38209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657493" y="6293963"/>
            <a:ext cx="5109112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1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Users discover Fnomo when they need it most — at the moment of decision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5915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Advisor-Led Growth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 are not users — they are growth drivers,</a:t>
            </a:r>
            <a:r>
              <a:rPr lang="en-US" sz="1600" dirty="0">
                <a:solidFill>
                  <a:schemeClr val="accent4"/>
                </a:solidFill>
              </a:rPr>
              <a:t> We’re starting simple — anyone who brings users earns. Structure evolves as we scale.”</a:t>
            </a:r>
          </a:p>
        </p:txBody>
      </p:sp>
      <p:sp>
        <p:nvSpPr>
          <p:cNvPr id="5" name="Shape 3"/>
          <p:cNvSpPr/>
          <p:nvPr/>
        </p:nvSpPr>
        <p:spPr>
          <a:xfrm>
            <a:off x="384175" y="1374775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7850" y="156845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5963" y="172085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63650" y="156845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 Onboard as Partners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650" y="1911353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advisors, coaches, and community leaders join Fnomo as strategic partners, not just users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175" y="2759077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77850" y="29527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01675" y="31051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63650" y="2952750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Bring Their Audience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3650" y="3295650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 introduce Fnomo to their clients and followers as a value-added decision-validation tool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175" y="4143378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77850" y="433705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4538" y="448945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85725" y="57150"/>
                </a:moveTo>
                <a:cubicBezTo>
                  <a:pt x="85725" y="33494"/>
                  <a:pt x="66519" y="14288"/>
                  <a:pt x="42863" y="14288"/>
                </a:cubicBezTo>
                <a:cubicBezTo>
                  <a:pt x="19206" y="14288"/>
                  <a:pt x="0" y="33494"/>
                  <a:pt x="0" y="57150"/>
                </a:cubicBezTo>
                <a:cubicBezTo>
                  <a:pt x="0" y="80806"/>
                  <a:pt x="19206" y="100013"/>
                  <a:pt x="42862" y="100013"/>
                </a:cubicBezTo>
                <a:cubicBezTo>
                  <a:pt x="66519" y="100013"/>
                  <a:pt x="85725" y="80806"/>
                  <a:pt x="85725" y="57150"/>
                </a:cubicBezTo>
                <a:close/>
                <a:moveTo>
                  <a:pt x="200025" y="171450"/>
                </a:moveTo>
                <a:cubicBezTo>
                  <a:pt x="200025" y="147794"/>
                  <a:pt x="180819" y="128588"/>
                  <a:pt x="157163" y="128588"/>
                </a:cubicBezTo>
                <a:cubicBezTo>
                  <a:pt x="133506" y="128588"/>
                  <a:pt x="114300" y="147794"/>
                  <a:pt x="114300" y="171450"/>
                </a:cubicBezTo>
                <a:cubicBezTo>
                  <a:pt x="114300" y="195106"/>
                  <a:pt x="133506" y="214313"/>
                  <a:pt x="157163" y="214313"/>
                </a:cubicBezTo>
                <a:cubicBezTo>
                  <a:pt x="180819" y="214313"/>
                  <a:pt x="200025" y="195106"/>
                  <a:pt x="200025" y="171450"/>
                </a:cubicBezTo>
                <a:close/>
                <a:moveTo>
                  <a:pt x="195828" y="38666"/>
                </a:moveTo>
                <a:cubicBezTo>
                  <a:pt x="201409" y="33084"/>
                  <a:pt x="201409" y="24021"/>
                  <a:pt x="195828" y="18440"/>
                </a:cubicBezTo>
                <a:cubicBezTo>
                  <a:pt x="190247" y="12859"/>
                  <a:pt x="181183" y="12859"/>
                  <a:pt x="175602" y="18440"/>
                </a:cubicBezTo>
                <a:lnTo>
                  <a:pt x="4152" y="189890"/>
                </a:lnTo>
                <a:cubicBezTo>
                  <a:pt x="-1429" y="195471"/>
                  <a:pt x="-1429" y="204534"/>
                  <a:pt x="4152" y="210116"/>
                </a:cubicBezTo>
                <a:cubicBezTo>
                  <a:pt x="9733" y="215697"/>
                  <a:pt x="18797" y="215697"/>
                  <a:pt x="24378" y="210116"/>
                </a:cubicBezTo>
                <a:lnTo>
                  <a:pt x="195828" y="38666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263650" y="4337052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 Revenue Share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3650" y="4679952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 earn </a:t>
            </a: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15-25% revenue share</a:t>
            </a: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their referred users, creating sustainable income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175" y="5527675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77850" y="572135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30250" y="58737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63650" y="572135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Long-Term Income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63650" y="6064253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Recurring revenue from ongoing user engagement creates predictable, scalable income streams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73565" y="1374775"/>
            <a:ext cx="5035550" cy="4340225"/>
          </a:xfrm>
          <a:prstGeom prst="roundRect">
            <a:avLst>
              <a:gd name="adj" fmla="val 1756"/>
            </a:avLst>
          </a:prstGeom>
          <a:solidFill>
            <a:srgbClr val="112240">
              <a:alpha val="8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029152" y="16446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243465" y="1606553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 Advantage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24390" y="2063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0140" y="2025653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trust into monetization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24390" y="2444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10140" y="2406653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local and regional scale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24390" y="2825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310140" y="2787653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distributed growth network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24390" y="3206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310140" y="3168653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customer acquisition costs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24390" y="3587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310140" y="3549653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authentic community trust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73565" y="5870575"/>
            <a:ext cx="5035550" cy="882650"/>
          </a:xfrm>
          <a:prstGeom prst="roundRect">
            <a:avLst>
              <a:gd name="adj" fmla="val 8633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38677" y="6197603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367290" y="6064253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67290" y="6330953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15-25% revenue share per advisor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586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20-Day Execution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accent6"/>
                </a:solidFill>
              </a:rPr>
              <a:t>“Execution has already started with outreach preparation and decision testing.”</a:t>
            </a:r>
          </a:p>
        </p:txBody>
      </p:sp>
      <p:sp>
        <p:nvSpPr>
          <p:cNvPr id="5" name="Shape 3"/>
          <p:cNvSpPr/>
          <p:nvPr/>
        </p:nvSpPr>
        <p:spPr>
          <a:xfrm>
            <a:off x="381000" y="1390650"/>
            <a:ext cx="2743200" cy="1809750"/>
          </a:xfrm>
          <a:custGeom>
            <a:avLst/>
            <a:gdLst/>
            <a:ahLst/>
            <a:cxnLst/>
            <a:rect l="l" t="t" r="r" b="b"/>
            <a:pathLst>
              <a:path w="2743200" h="1809750">
                <a:moveTo>
                  <a:pt x="0" y="0"/>
                </a:moveTo>
                <a:lnTo>
                  <a:pt x="2743200" y="0"/>
                </a:lnTo>
                <a:lnTo>
                  <a:pt x="2743200" y="1733550"/>
                </a:lnTo>
                <a:cubicBezTo>
                  <a:pt x="2743200" y="1775606"/>
                  <a:pt x="2709056" y="1809750"/>
                  <a:pt x="2667000" y="1809750"/>
                </a:cubicBezTo>
                <a:lnTo>
                  <a:pt x="76200" y="1809750"/>
                </a:lnTo>
                <a:cubicBezTo>
                  <a:pt x="34144" y="1809750"/>
                  <a:pt x="0" y="1775606"/>
                  <a:pt x="0" y="1733550"/>
                </a:cubicBez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1000" y="1390650"/>
            <a:ext cx="27432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2000" y="169545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Validation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1-5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884" y="2209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4388" y="217170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core decision engine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884" y="2514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4388" y="247650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10-second output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8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14388" y="278130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initial user feedback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76600" y="1390650"/>
            <a:ext cx="2743200" cy="1809750"/>
          </a:xfrm>
          <a:custGeom>
            <a:avLst/>
            <a:gdLst/>
            <a:ahLst/>
            <a:cxnLst/>
            <a:rect l="l" t="t" r="r" b="b"/>
            <a:pathLst>
              <a:path w="2743200" h="1809750">
                <a:moveTo>
                  <a:pt x="0" y="0"/>
                </a:moveTo>
                <a:lnTo>
                  <a:pt x="2743200" y="0"/>
                </a:lnTo>
                <a:lnTo>
                  <a:pt x="2743200" y="1733550"/>
                </a:lnTo>
                <a:cubicBezTo>
                  <a:pt x="2743200" y="1775606"/>
                  <a:pt x="2709056" y="1809750"/>
                  <a:pt x="2667000" y="1809750"/>
                </a:cubicBezTo>
                <a:lnTo>
                  <a:pt x="76200" y="1809750"/>
                </a:lnTo>
                <a:cubicBezTo>
                  <a:pt x="34144" y="1809750"/>
                  <a:pt x="0" y="1775606"/>
                  <a:pt x="0" y="1733550"/>
                </a:cubicBez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76600" y="1390650"/>
            <a:ext cx="2743200" cy="381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4671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40336" y="16954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38600" y="160020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Entry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38600" y="18669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6-10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94484" y="2209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09988" y="217170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in 2-3 communities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94484" y="2514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709988" y="24765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 value before pitch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944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709988" y="27813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organic adoption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0" y="1390650"/>
            <a:ext cx="2743200" cy="1809750"/>
          </a:xfrm>
          <a:custGeom>
            <a:avLst/>
            <a:gdLst/>
            <a:ahLst/>
            <a:cxnLst/>
            <a:rect l="l" t="t" r="r" b="b"/>
            <a:pathLst>
              <a:path w="2743200" h="1809750">
                <a:moveTo>
                  <a:pt x="0" y="0"/>
                </a:moveTo>
                <a:lnTo>
                  <a:pt x="2743200" y="0"/>
                </a:lnTo>
                <a:lnTo>
                  <a:pt x="2743200" y="1733550"/>
                </a:lnTo>
                <a:cubicBezTo>
                  <a:pt x="2743200" y="1775606"/>
                  <a:pt x="2709056" y="1809750"/>
                  <a:pt x="2667000" y="1809750"/>
                </a:cubicBezTo>
                <a:lnTo>
                  <a:pt x="76200" y="1809750"/>
                </a:lnTo>
                <a:cubicBezTo>
                  <a:pt x="34144" y="1809750"/>
                  <a:pt x="0" y="1775606"/>
                  <a:pt x="0" y="1733550"/>
                </a:cubicBez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72200" y="1390650"/>
            <a:ext cx="27432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627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35043" y="16954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4200" y="16002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 Onboarding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34200" y="18669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11-15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0084" y="2209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605588" y="21717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 3-5 pilot advisors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0084" y="2514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605588" y="24765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up revenue sharing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00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605588" y="278130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audience access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67800" y="1390650"/>
            <a:ext cx="2743200" cy="1809750"/>
          </a:xfrm>
          <a:custGeom>
            <a:avLst/>
            <a:gdLst/>
            <a:ahLst/>
            <a:cxnLst/>
            <a:rect l="l" t="t" r="r" b="b"/>
            <a:pathLst>
              <a:path w="2743200" h="1809750">
                <a:moveTo>
                  <a:pt x="0" y="0"/>
                </a:moveTo>
                <a:lnTo>
                  <a:pt x="2743200" y="0"/>
                </a:lnTo>
                <a:lnTo>
                  <a:pt x="2743200" y="1733550"/>
                </a:lnTo>
                <a:cubicBezTo>
                  <a:pt x="2743200" y="1775606"/>
                  <a:pt x="2709056" y="1809750"/>
                  <a:pt x="2667000" y="1809750"/>
                </a:cubicBezTo>
                <a:lnTo>
                  <a:pt x="76200" y="1809750"/>
                </a:lnTo>
                <a:cubicBezTo>
                  <a:pt x="34144" y="1809750"/>
                  <a:pt x="0" y="1775606"/>
                  <a:pt x="0" y="1733550"/>
                </a:cubicBez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9067800" y="1390650"/>
            <a:ext cx="2743200" cy="381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2583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430742" y="16954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829800" y="16002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Corporate Testing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829800" y="1866900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16-20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285684" y="2209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501188" y="21717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 2-3 companies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285684" y="2514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501188" y="24765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pilot sessions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2856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9501188" y="27813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engagement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4175" y="3394075"/>
            <a:ext cx="5616575" cy="2301875"/>
          </a:xfrm>
          <a:prstGeom prst="roundRect">
            <a:avLst>
              <a:gd name="adj" fmla="val 3310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01663" y="36258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15975" y="3587753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6900" y="40449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882650" y="4006853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usage data from day one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96900" y="4387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82650" y="4349753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user feedback loops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96900" y="4730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882650" y="4692653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iteration based on insights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94425" y="3394075"/>
            <a:ext cx="5616575" cy="2301875"/>
          </a:xfrm>
          <a:prstGeom prst="roundRect">
            <a:avLst>
              <a:gd name="adj" fmla="val 3310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411913" y="36258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626225" y="3587753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407150" y="40449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692900" y="4006853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validation speed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88100" y="438785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692900" y="4349753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adoption rate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407150" y="4730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9986" y="22235"/>
                </a:moveTo>
                <a:lnTo>
                  <a:pt x="133350" y="25420"/>
                </a:lnTo>
                <a:lnTo>
                  <a:pt x="133350" y="9525"/>
                </a:lnTo>
                <a:cubicBezTo>
                  <a:pt x="133350" y="4256"/>
                  <a:pt x="137606" y="0"/>
                  <a:pt x="142875" y="0"/>
                </a:cubicBezTo>
                <a:cubicBezTo>
                  <a:pt x="148144" y="0"/>
                  <a:pt x="152400" y="4256"/>
                  <a:pt x="152400" y="9525"/>
                </a:cubicBezTo>
                <a:lnTo>
                  <a:pt x="152400" y="47625"/>
                </a:lnTo>
                <a:cubicBezTo>
                  <a:pt x="152400" y="52894"/>
                  <a:pt x="148144" y="57150"/>
                  <a:pt x="142875" y="57150"/>
                </a:cubicBezTo>
                <a:lnTo>
                  <a:pt x="104775" y="57150"/>
                </a:lnTo>
                <a:cubicBezTo>
                  <a:pt x="99506" y="57150"/>
                  <a:pt x="95250" y="52894"/>
                  <a:pt x="95250" y="47625"/>
                </a:cubicBezTo>
                <a:cubicBezTo>
                  <a:pt x="95250" y="42356"/>
                  <a:pt x="99506" y="38100"/>
                  <a:pt x="104775" y="38100"/>
                </a:cubicBezTo>
                <a:lnTo>
                  <a:pt x="119033" y="38100"/>
                </a:lnTo>
                <a:lnTo>
                  <a:pt x="116771" y="35957"/>
                </a:lnTo>
                <a:cubicBezTo>
                  <a:pt x="116711" y="35897"/>
                  <a:pt x="116651" y="35838"/>
                  <a:pt x="116592" y="35778"/>
                </a:cubicBezTo>
                <a:cubicBezTo>
                  <a:pt x="94268" y="13454"/>
                  <a:pt x="58102" y="13454"/>
                  <a:pt x="35778" y="35778"/>
                </a:cubicBezTo>
                <a:cubicBezTo>
                  <a:pt x="13454" y="58103"/>
                  <a:pt x="13454" y="94268"/>
                  <a:pt x="35778" y="116592"/>
                </a:cubicBezTo>
                <a:cubicBezTo>
                  <a:pt x="58102" y="138916"/>
                  <a:pt x="94268" y="138916"/>
                  <a:pt x="116592" y="116592"/>
                </a:cubicBezTo>
                <a:cubicBezTo>
                  <a:pt x="119033" y="114151"/>
                  <a:pt x="121206" y="111562"/>
                  <a:pt x="123111" y="108823"/>
                </a:cubicBezTo>
                <a:cubicBezTo>
                  <a:pt x="126117" y="104507"/>
                  <a:pt x="132070" y="103465"/>
                  <a:pt x="136386" y="106472"/>
                </a:cubicBezTo>
                <a:cubicBezTo>
                  <a:pt x="140702" y="109478"/>
                  <a:pt x="141744" y="115431"/>
                  <a:pt x="138738" y="119747"/>
                </a:cubicBezTo>
                <a:cubicBezTo>
                  <a:pt x="136207" y="123379"/>
                  <a:pt x="133320" y="126831"/>
                  <a:pt x="130076" y="130076"/>
                </a:cubicBezTo>
                <a:cubicBezTo>
                  <a:pt x="100310" y="159841"/>
                  <a:pt x="52060" y="159841"/>
                  <a:pt x="22324" y="130076"/>
                </a:cubicBezTo>
                <a:cubicBezTo>
                  <a:pt x="-7412" y="100310"/>
                  <a:pt x="-7441" y="52090"/>
                  <a:pt x="22324" y="22324"/>
                </a:cubicBezTo>
                <a:cubicBezTo>
                  <a:pt x="52060" y="-7412"/>
                  <a:pt x="100221" y="-7441"/>
                  <a:pt x="129986" y="22235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692900" y="469265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usage frequency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84175" y="5895978"/>
            <a:ext cx="11426825" cy="577850"/>
          </a:xfrm>
          <a:prstGeom prst="roundRect">
            <a:avLst>
              <a:gd name="adj" fmla="val 13187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568325" y="60706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977900" y="6051556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r>
              <a:rPr lang="en-US" sz="135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Validate product-market fit with real users in 20 days, not 20 weeks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d6a353f706b6b101e70cf2e19a97f419d812edc0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A192F">
                  <a:alpha val="95000"/>
                </a:srgbClr>
              </a:gs>
              <a:gs pos="50000">
                <a:srgbClr val="0A192F">
                  <a:alpha val="90000"/>
                </a:srgbClr>
              </a:gs>
              <a:gs pos="100000">
                <a:srgbClr val="0A192F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4175" y="157166"/>
            <a:ext cx="2263775" cy="501650"/>
          </a:xfrm>
          <a:prstGeom prst="roundRect">
            <a:avLst>
              <a:gd name="adj" fmla="val 15190"/>
            </a:avLst>
          </a:prstGeom>
          <a:solidFill>
            <a:srgbClr val="64FFDA">
              <a:alpha val="14902"/>
            </a:srgbClr>
          </a:solidFill>
          <a:ln w="8467">
            <a:solidFill>
              <a:srgbClr val="64FFD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15950" y="312744"/>
            <a:ext cx="18830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Execute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90588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Ready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976438"/>
            <a:ext cx="12192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00050" y="254793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00050" y="2547938"/>
            <a:ext cx="38100" cy="9525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38175" y="27765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47750" y="2738438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Direction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47750" y="3081338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Clear, validated, and ready for market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0300" y="254793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210300" y="2547938"/>
            <a:ext cx="38100" cy="9525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448425" y="27765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858000" y="2738438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Channels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0" y="3081338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and ready for activation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0050" y="3690937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00050" y="3690937"/>
            <a:ext cx="38100" cy="9525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38175" y="39195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047750" y="3881438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Outreach Strategy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47750" y="4224338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and tested for immediate launch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10300" y="3690937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210300" y="3690937"/>
            <a:ext cx="38100" cy="9525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448425" y="39195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881438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58000" y="4224338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begin immediately — today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4175" y="4951413"/>
            <a:ext cx="11426825" cy="835025"/>
          </a:xfrm>
          <a:prstGeom prst="roundRect">
            <a:avLst>
              <a:gd name="adj" fmla="val 9125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71909" y="518319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1125538" y="5183191"/>
            <a:ext cx="8773616" cy="41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bg1"/>
                </a:solidFill>
              </a:rPr>
              <a:t>“We’re not starting from zero — we’ve already begun validating this in real environments.”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81000" y="6094419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545306" y="625634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1143000" y="6132519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Fnomo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43000" y="6437319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Decision Validation Layer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899154" y="6094419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move forward?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870579" y="6399219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execute.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1272</Words>
  <Application>Microsoft Office PowerPoint</Application>
  <PresentationFormat>Widescreen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Liter</vt:lpstr>
      <vt:lpstr>Arial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Fnomo — The Decision Layer</dc:title>
  <dc:subject>Fnomo — The Decision Layer</dc:subject>
  <dc:creator>Kimi</dc:creator>
  <cp:lastModifiedBy>Kush Trivedi</cp:lastModifiedBy>
  <cp:revision>2</cp:revision>
  <dcterms:created xsi:type="dcterms:W3CDTF">2026-04-21T09:45:20Z</dcterms:created>
  <dcterms:modified xsi:type="dcterms:W3CDTF">2026-04-21T14:32:52Z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{"Label":"Fnomo — The Decision Layer","ContentProducer":"001191110108MACG2KBH8F10000","ProduceID":"19daf6a7-96c2-844d-8000-0000ea79ce8a","ReservedCode1":"","ContentPropagator":"001191110108MACG2KBH8F20000","PropagateID":"19daf6a7-96c2-844d-8000-0000ea79ce8a","ReservedCode2":""}</vt:lpwstr>
  </property>
</Properties>
</file>