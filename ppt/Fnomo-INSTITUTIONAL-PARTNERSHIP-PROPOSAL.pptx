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1430000" cy="6438900"/>
  <p:notesSz cx="6858000" cy="9144000"/>
  <p:embeddedFontLst>
    <p:embeddedFont>
      <p:font typeface="Quattrocento" panose="02020502030000000404" pitchFamily="18" charset="0"/>
      <p:regular r:id="rId15"/>
    </p:embeddedFont>
    <p:embeddedFont>
      <p:font typeface="Quattrocento Bold" panose="020208020300000004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6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0" y="9525"/>
            <a:ext cx="4286250" cy="6429375"/>
            <a:chOff x="0" y="0"/>
            <a:chExt cx="5715000" cy="8572500"/>
          </a:xfrm>
        </p:grpSpPr>
        <p:sp>
          <p:nvSpPr>
            <p:cNvPr id="6" name="Freeform 6"/>
            <p:cNvSpPr/>
            <p:nvPr/>
          </p:nvSpPr>
          <p:spPr>
            <a:xfrm>
              <a:off x="0" y="0"/>
              <a:ext cx="5715000" cy="8572500"/>
            </a:xfrm>
            <a:custGeom>
              <a:avLst/>
              <a:gdLst/>
              <a:ahLst/>
              <a:cxnLst/>
              <a:rect l="l" t="t" r="r" b="b"/>
              <a:pathLst>
                <a:path w="5715000" h="8572500">
                  <a:moveTo>
                    <a:pt x="0" y="0"/>
                  </a:moveTo>
                  <a:lnTo>
                    <a:pt x="5715000" y="0"/>
                  </a:lnTo>
                  <a:lnTo>
                    <a:pt x="5715000" y="8572500"/>
                  </a:lnTo>
                  <a:lnTo>
                    <a:pt x="0" y="8572500"/>
                  </a:lnTo>
                  <a:lnTo>
                    <a:pt x="0" y="0"/>
                  </a:lnTo>
                  <a:close/>
                </a:path>
              </a:pathLst>
            </a:custGeom>
            <a:blipFill>
              <a:blip r:embed="rId2"/>
              <a:stretch>
                <a:fillRect/>
              </a:stretch>
            </a:blipFill>
          </p:spPr>
          <p:txBody>
            <a:bodyPr/>
            <a:lstStyle/>
            <a:p>
              <a:endParaRPr lang="en-IN"/>
            </a:p>
          </p:txBody>
        </p:sp>
      </p:grpSp>
      <p:sp>
        <p:nvSpPr>
          <p:cNvPr id="7" name="TextBox 7"/>
          <p:cNvSpPr txBox="1"/>
          <p:nvPr/>
        </p:nvSpPr>
        <p:spPr>
          <a:xfrm>
            <a:off x="4940798" y="1698073"/>
            <a:ext cx="3497265" cy="2572094"/>
          </a:xfrm>
          <a:prstGeom prst="rect">
            <a:avLst/>
          </a:prstGeom>
        </p:spPr>
        <p:txBody>
          <a:bodyPr lIns="0" tIns="0" rIns="0" bIns="0" rtlCol="0" anchor="t">
            <a:spAutoFit/>
          </a:bodyPr>
          <a:lstStyle/>
          <a:p>
            <a:pPr algn="l">
              <a:lnSpc>
                <a:spcPts val="4119"/>
              </a:lnSpc>
            </a:pPr>
            <a:endParaRPr/>
          </a:p>
          <a:p>
            <a:pPr algn="l">
              <a:lnSpc>
                <a:spcPts val="4371"/>
              </a:lnSpc>
            </a:pPr>
            <a:r>
              <a:rPr lang="en-US" sz="3480" b="1">
                <a:solidFill>
                  <a:srgbClr val="FFD9BE"/>
                </a:solidFill>
                <a:latin typeface="Quattrocento Bold"/>
                <a:ea typeface="Quattrocento Bold"/>
                <a:cs typeface="Quattrocento Bold"/>
                <a:sym typeface="Quattrocento Bold"/>
              </a:rPr>
              <a:t>Fnomo Young </a:t>
            </a:r>
          </a:p>
          <a:p>
            <a:pPr algn="l">
              <a:lnSpc>
                <a:spcPts val="4371"/>
              </a:lnSpc>
            </a:pPr>
            <a:r>
              <a:rPr lang="en-US" sz="3480" b="1">
                <a:solidFill>
                  <a:srgbClr val="FFD9BE"/>
                </a:solidFill>
                <a:latin typeface="Quattrocento Bold"/>
                <a:ea typeface="Quattrocento Bold"/>
                <a:cs typeface="Quattrocento Bold"/>
                <a:sym typeface="Quattrocento Bold"/>
              </a:rPr>
              <a:t>Investor</a:t>
            </a:r>
          </a:p>
          <a:p>
            <a:pPr algn="l">
              <a:lnSpc>
                <a:spcPts val="2487"/>
              </a:lnSpc>
            </a:pPr>
            <a:endParaRPr lang="en-US" sz="3480" b="1">
              <a:solidFill>
                <a:srgbClr val="FFD9BE"/>
              </a:solidFill>
              <a:latin typeface="Quattrocento Bold"/>
              <a:ea typeface="Quattrocento Bold"/>
              <a:cs typeface="Quattrocento Bold"/>
              <a:sym typeface="Quattrocento Bold"/>
            </a:endParaRPr>
          </a:p>
          <a:p>
            <a:pPr algn="l">
              <a:lnSpc>
                <a:spcPts val="2487"/>
              </a:lnSpc>
            </a:pPr>
            <a:r>
              <a:rPr lang="en-US" sz="1980">
                <a:solidFill>
                  <a:srgbClr val="FFD9BE"/>
                </a:solidFill>
                <a:latin typeface="Quattrocento"/>
                <a:ea typeface="Quattrocento"/>
                <a:cs typeface="Quattrocento"/>
                <a:sym typeface="Quattrocento"/>
              </a:rPr>
              <a:t>INSTITUTIONAL PARTNERSHIP PROPOSAL</a:t>
            </a:r>
          </a:p>
        </p:txBody>
      </p:sp>
      <p:sp>
        <p:nvSpPr>
          <p:cNvPr id="8" name="TextBox 8"/>
          <p:cNvSpPr txBox="1"/>
          <p:nvPr/>
        </p:nvSpPr>
        <p:spPr>
          <a:xfrm>
            <a:off x="5839730" y="3883123"/>
            <a:ext cx="45768" cy="258175"/>
          </a:xfrm>
          <a:prstGeom prst="rect">
            <a:avLst/>
          </a:prstGeom>
        </p:spPr>
        <p:txBody>
          <a:bodyPr lIns="0" tIns="0" rIns="0" bIns="0" rtlCol="0" anchor="t">
            <a:spAutoFit/>
          </a:bodyPr>
          <a:lstStyle/>
          <a:p>
            <a:pPr algn="l">
              <a:lnSpc>
                <a:spcPts val="2061"/>
              </a:lnSpc>
            </a:pPr>
            <a:r>
              <a:rPr lang="en-US" sz="1472" b="1">
                <a:solidFill>
                  <a:srgbClr val="F9EEE7"/>
                </a:solidFill>
                <a:latin typeface="Quattrocento Bold"/>
                <a:ea typeface="Quattrocento Bold"/>
                <a:cs typeface="Quattrocento Bold"/>
                <a:sym typeface="Quattrocento Bold"/>
              </a:rPr>
              <a:t> </a:t>
            </a:r>
          </a:p>
        </p:txBody>
      </p:sp>
      <p:sp>
        <p:nvSpPr>
          <p:cNvPr id="9" name="TextBox 9"/>
          <p:cNvSpPr txBox="1"/>
          <p:nvPr/>
        </p:nvSpPr>
        <p:spPr>
          <a:xfrm>
            <a:off x="4940798" y="4933228"/>
            <a:ext cx="5632153" cy="257880"/>
          </a:xfrm>
          <a:prstGeom prst="rect">
            <a:avLst/>
          </a:prstGeom>
        </p:spPr>
        <p:txBody>
          <a:bodyPr lIns="0" tIns="0" rIns="0" bIns="0" rtlCol="0" anchor="t">
            <a:spAutoFit/>
          </a:bodyPr>
          <a:lstStyle/>
          <a:p>
            <a:pPr algn="l">
              <a:lnSpc>
                <a:spcPts val="2061"/>
              </a:lnSpc>
            </a:pPr>
            <a:r>
              <a:rPr lang="en-US" sz="1472" b="1">
                <a:solidFill>
                  <a:srgbClr val="F9EEE7"/>
                </a:solidFill>
                <a:latin typeface="Quattrocento Bold"/>
                <a:ea typeface="Quattrocento Bold"/>
                <a:cs typeface="Quattrocento Bold"/>
                <a:sym typeface="Quattrocento Bold"/>
              </a:rPr>
              <a:t>Equipping the next generation with financial literacy, real-world </a:t>
            </a:r>
          </a:p>
        </p:txBody>
      </p:sp>
      <p:sp>
        <p:nvSpPr>
          <p:cNvPr id="10" name="TextBox 10"/>
          <p:cNvSpPr txBox="1"/>
          <p:nvPr/>
        </p:nvSpPr>
        <p:spPr>
          <a:xfrm>
            <a:off x="4940798" y="5271888"/>
            <a:ext cx="3645932" cy="258175"/>
          </a:xfrm>
          <a:prstGeom prst="rect">
            <a:avLst/>
          </a:prstGeom>
        </p:spPr>
        <p:txBody>
          <a:bodyPr lIns="0" tIns="0" rIns="0" bIns="0" rtlCol="0" anchor="t">
            <a:spAutoFit/>
          </a:bodyPr>
          <a:lstStyle/>
          <a:p>
            <a:pPr algn="l">
              <a:lnSpc>
                <a:spcPts val="2061"/>
              </a:lnSpc>
            </a:pPr>
            <a:r>
              <a:rPr lang="en-US" sz="1472" b="1">
                <a:solidFill>
                  <a:srgbClr val="F9EEE7"/>
                </a:solidFill>
                <a:latin typeface="Quattrocento Bold"/>
                <a:ea typeface="Quattrocento Bold"/>
                <a:cs typeface="Quattrocento Bold"/>
                <a:sym typeface="Quattrocento Bold"/>
              </a:rPr>
              <a:t>decision-making, and global opportunity.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7143750" y="9525"/>
            <a:ext cx="4286250" cy="6429375"/>
            <a:chOff x="0" y="0"/>
            <a:chExt cx="5715000" cy="8572500"/>
          </a:xfrm>
        </p:grpSpPr>
        <p:sp>
          <p:nvSpPr>
            <p:cNvPr id="6" name="Freeform 6"/>
            <p:cNvSpPr/>
            <p:nvPr/>
          </p:nvSpPr>
          <p:spPr>
            <a:xfrm>
              <a:off x="0" y="0"/>
              <a:ext cx="5715000" cy="8572500"/>
            </a:xfrm>
            <a:custGeom>
              <a:avLst/>
              <a:gdLst/>
              <a:ahLst/>
              <a:cxnLst/>
              <a:rect l="l" t="t" r="r" b="b"/>
              <a:pathLst>
                <a:path w="5715000" h="8572500">
                  <a:moveTo>
                    <a:pt x="0" y="0"/>
                  </a:moveTo>
                  <a:lnTo>
                    <a:pt x="5715000" y="0"/>
                  </a:lnTo>
                  <a:lnTo>
                    <a:pt x="5715000" y="8572500"/>
                  </a:lnTo>
                  <a:lnTo>
                    <a:pt x="0" y="8572500"/>
                  </a:lnTo>
                  <a:lnTo>
                    <a:pt x="0" y="0"/>
                  </a:lnTo>
                  <a:close/>
                </a:path>
              </a:pathLst>
            </a:custGeom>
            <a:blipFill>
              <a:blip r:embed="rId2"/>
              <a:stretch>
                <a:fillRect/>
              </a:stretch>
            </a:blipFill>
          </p:spPr>
          <p:txBody>
            <a:bodyPr/>
            <a:lstStyle/>
            <a:p>
              <a:endParaRPr lang="en-IN"/>
            </a:p>
          </p:txBody>
        </p:sp>
      </p:grpSp>
      <p:sp>
        <p:nvSpPr>
          <p:cNvPr id="7" name="TextBox 7"/>
          <p:cNvSpPr txBox="1"/>
          <p:nvPr/>
        </p:nvSpPr>
        <p:spPr>
          <a:xfrm>
            <a:off x="654110" y="1040482"/>
            <a:ext cx="2800560" cy="584511"/>
          </a:xfrm>
          <a:prstGeom prst="rect">
            <a:avLst/>
          </a:prstGeom>
        </p:spPr>
        <p:txBody>
          <a:bodyPr lIns="0" tIns="0" rIns="0" bIns="0" rtlCol="0" anchor="t">
            <a:spAutoFit/>
          </a:bodyPr>
          <a:lstStyle/>
          <a:p>
            <a:pPr algn="l">
              <a:lnSpc>
                <a:spcPts val="4849"/>
              </a:lnSpc>
            </a:pPr>
            <a:r>
              <a:rPr lang="en-US" sz="3464">
                <a:solidFill>
                  <a:srgbClr val="FFD9BE"/>
                </a:solidFill>
                <a:latin typeface="Quattrocento"/>
                <a:ea typeface="Quattrocento"/>
                <a:cs typeface="Quattrocento"/>
                <a:sym typeface="Quattrocento"/>
              </a:rPr>
              <a:t>About Fnomo</a:t>
            </a:r>
          </a:p>
        </p:txBody>
      </p:sp>
      <p:sp>
        <p:nvSpPr>
          <p:cNvPr id="8" name="TextBox 8"/>
          <p:cNvSpPr txBox="1"/>
          <p:nvPr/>
        </p:nvSpPr>
        <p:spPr>
          <a:xfrm>
            <a:off x="1256081" y="1920973"/>
            <a:ext cx="45768" cy="258175"/>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 </a:t>
            </a:r>
          </a:p>
        </p:txBody>
      </p:sp>
      <p:sp>
        <p:nvSpPr>
          <p:cNvPr id="9" name="TextBox 9"/>
          <p:cNvSpPr txBox="1"/>
          <p:nvPr/>
        </p:nvSpPr>
        <p:spPr>
          <a:xfrm>
            <a:off x="654548" y="1920973"/>
            <a:ext cx="5320407" cy="257880"/>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Fnomo (fnomo.com) a product of Fintoma Technology Limited </a:t>
            </a:r>
          </a:p>
        </p:txBody>
      </p:sp>
      <p:sp>
        <p:nvSpPr>
          <p:cNvPr id="10" name="TextBox 10"/>
          <p:cNvSpPr txBox="1"/>
          <p:nvPr/>
        </p:nvSpPr>
        <p:spPr>
          <a:xfrm>
            <a:off x="643920" y="2197198"/>
            <a:ext cx="5917006" cy="3271559"/>
          </a:xfrm>
          <a:prstGeom prst="rect">
            <a:avLst/>
          </a:prstGeom>
        </p:spPr>
        <p:txBody>
          <a:bodyPr lIns="0" tIns="0" rIns="0" bIns="0" rtlCol="0" anchor="t">
            <a:spAutoFit/>
          </a:bodyPr>
          <a:lstStyle/>
          <a:p>
            <a:pPr algn="l">
              <a:lnSpc>
                <a:spcPts val="2362"/>
              </a:lnSpc>
            </a:pPr>
            <a:r>
              <a:rPr lang="en-US" sz="1472">
                <a:solidFill>
                  <a:srgbClr val="F9EEE7"/>
                </a:solidFill>
                <a:latin typeface="Quattrocento"/>
                <a:ea typeface="Quattrocento"/>
                <a:cs typeface="Quattrocento"/>
                <a:sym typeface="Quattrocento"/>
              </a:rPr>
              <a:t>(Ireland), is bringing this program to select schools.</a:t>
            </a:r>
          </a:p>
          <a:p>
            <a:pPr algn="l" rtl="1">
              <a:lnSpc>
                <a:spcPts val="2362"/>
              </a:lnSpc>
            </a:pPr>
            <a:endParaRPr lang="en-US" sz="1472">
              <a:solidFill>
                <a:srgbClr val="F9EEE7"/>
              </a:solidFill>
              <a:latin typeface="Quattrocento"/>
              <a:ea typeface="Quattrocento"/>
              <a:cs typeface="Quattrocento"/>
              <a:sym typeface="Quattrocento"/>
            </a:endParaRPr>
          </a:p>
          <a:p>
            <a:pPr algn="l">
              <a:lnSpc>
                <a:spcPts val="2362"/>
              </a:lnSpc>
            </a:pPr>
            <a:r>
              <a:rPr lang="en-US" sz="1472">
                <a:solidFill>
                  <a:srgbClr val="F9EEE7"/>
                </a:solidFill>
                <a:latin typeface="Quattrocento"/>
                <a:ea typeface="Quattrocento"/>
                <a:cs typeface="Quattrocento"/>
                <a:sym typeface="Quattrocento"/>
              </a:rPr>
              <a:t>Fnomo is a stock analysis tool that lets everyday investors filter through tens of thousands of stocks across the globe — by value, growth, or momentum — without needing a Wall Street team behind them.</a:t>
            </a:r>
          </a:p>
          <a:p>
            <a:pPr algn="l" rtl="1">
              <a:lnSpc>
                <a:spcPts val="2362"/>
              </a:lnSpc>
            </a:pPr>
            <a:endParaRPr lang="en-US" sz="1472">
              <a:solidFill>
                <a:srgbClr val="F9EEE7"/>
              </a:solidFill>
              <a:latin typeface="Quattrocento"/>
              <a:ea typeface="Quattrocento"/>
              <a:cs typeface="Quattrocento"/>
              <a:sym typeface="Quattrocento"/>
            </a:endParaRPr>
          </a:p>
          <a:p>
            <a:pPr algn="l">
              <a:lnSpc>
                <a:spcPts val="2449"/>
              </a:lnSpc>
            </a:pPr>
            <a:r>
              <a:rPr lang="en-US" sz="1472">
                <a:solidFill>
                  <a:srgbClr val="F9EEE7"/>
                </a:solidFill>
                <a:latin typeface="Quattrocento"/>
                <a:ea typeface="Quattrocento"/>
                <a:cs typeface="Quattrocento"/>
                <a:sym typeface="Quattrocento"/>
              </a:rPr>
              <a:t>We've brought the same rigour into education. </a:t>
            </a:r>
            <a:r>
              <a:rPr lang="en-US" sz="1472" b="1" u="sng">
                <a:solidFill>
                  <a:srgbClr val="F9EEE7"/>
                </a:solidFill>
                <a:latin typeface="Quattrocento Bold"/>
                <a:ea typeface="Quattrocento Bold"/>
                <a:cs typeface="Quattrocento Bold"/>
                <a:sym typeface="Quattrocento Bold"/>
              </a:rPr>
              <a:t>Fnomo Young </a:t>
            </a:r>
          </a:p>
          <a:p>
            <a:pPr algn="l">
              <a:lnSpc>
                <a:spcPts val="2449"/>
              </a:lnSpc>
            </a:pPr>
            <a:r>
              <a:rPr lang="en-US" sz="1472" b="1" u="sng">
                <a:solidFill>
                  <a:srgbClr val="F9EEE7"/>
                </a:solidFill>
                <a:latin typeface="Quattrocento Bold"/>
                <a:ea typeface="Quattrocento Bold"/>
                <a:cs typeface="Quattrocento Bold"/>
                <a:sym typeface="Quattrocento Bold"/>
              </a:rPr>
              <a:t>Investor </a:t>
            </a:r>
            <a:r>
              <a:rPr lang="en-US" sz="1472">
                <a:solidFill>
                  <a:srgbClr val="F9EEE7"/>
                </a:solidFill>
                <a:latin typeface="Quattrocento"/>
                <a:ea typeface="Quattrocento"/>
                <a:cs typeface="Quattrocento"/>
                <a:sym typeface="Quattrocento"/>
              </a:rPr>
              <a:t>is a structured learning experience that teaches students to think like investors — to evaluate opportunities, understand consequences, and take ownership of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sp>
        <p:nvSpPr>
          <p:cNvPr id="2" name="Freeform 2"/>
          <p:cNvSpPr/>
          <p:nvPr/>
        </p:nvSpPr>
        <p:spPr>
          <a:xfrm>
            <a:off x="-63503" y="-63503"/>
            <a:ext cx="11556997" cy="6565897"/>
          </a:xfrm>
          <a:custGeom>
            <a:avLst/>
            <a:gdLst/>
            <a:ahLst/>
            <a:cxnLst/>
            <a:rect l="l" t="t" r="r" b="b"/>
            <a:pathLst>
              <a:path w="11556997" h="6565897">
                <a:moveTo>
                  <a:pt x="0" y="0"/>
                </a:moveTo>
                <a:lnTo>
                  <a:pt x="11556997" y="0"/>
                </a:lnTo>
                <a:lnTo>
                  <a:pt x="11556997" y="6565897"/>
                </a:lnTo>
                <a:lnTo>
                  <a:pt x="0" y="65658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449904" y="714108"/>
            <a:ext cx="3709978" cy="403689"/>
          </a:xfrm>
          <a:prstGeom prst="rect">
            <a:avLst/>
          </a:prstGeom>
        </p:spPr>
        <p:txBody>
          <a:bodyPr lIns="0" tIns="0" rIns="0" bIns="0" rtlCol="0" anchor="t">
            <a:spAutoFit/>
          </a:bodyPr>
          <a:lstStyle/>
          <a:p>
            <a:pPr algn="l">
              <a:lnSpc>
                <a:spcPts val="3334"/>
              </a:lnSpc>
            </a:pPr>
            <a:r>
              <a:rPr lang="en-US" sz="2381">
                <a:solidFill>
                  <a:srgbClr val="FFD9BE"/>
                </a:solidFill>
                <a:latin typeface="Quattrocento"/>
                <a:ea typeface="Quattrocento"/>
                <a:cs typeface="Quattrocento"/>
                <a:sym typeface="Quattrocento"/>
              </a:rPr>
              <a:t>What Students Experience</a:t>
            </a:r>
          </a:p>
        </p:txBody>
      </p:sp>
      <p:sp>
        <p:nvSpPr>
          <p:cNvPr id="4" name="TextBox 4"/>
          <p:cNvSpPr txBox="1"/>
          <p:nvPr/>
        </p:nvSpPr>
        <p:spPr>
          <a:xfrm>
            <a:off x="578348" y="1885817"/>
            <a:ext cx="3102769" cy="934107"/>
          </a:xfrm>
          <a:prstGeom prst="rect">
            <a:avLst/>
          </a:prstGeom>
        </p:spPr>
        <p:txBody>
          <a:bodyPr lIns="0" tIns="0" rIns="0" bIns="0" rtlCol="0" anchor="t">
            <a:spAutoFit/>
          </a:bodyPr>
          <a:lstStyle/>
          <a:p>
            <a:pPr algn="l">
              <a:lnSpc>
                <a:spcPts val="1642"/>
              </a:lnSpc>
            </a:pPr>
            <a:r>
              <a:rPr lang="en-US" sz="1190">
                <a:solidFill>
                  <a:srgbClr val="F9EEE7"/>
                </a:solidFill>
                <a:latin typeface="Quattrocento"/>
                <a:ea typeface="Quattrocento"/>
                <a:cs typeface="Quattrocento"/>
                <a:sym typeface="Quattrocento"/>
              </a:rPr>
              <a:t>Real-World Financial Scenarios</a:t>
            </a:r>
          </a:p>
          <a:p>
            <a:pPr algn="l">
              <a:lnSpc>
                <a:spcPts val="1395"/>
              </a:lnSpc>
            </a:pPr>
            <a:r>
              <a:rPr lang="en-US" sz="1011">
                <a:solidFill>
                  <a:srgbClr val="F9EEE7"/>
                </a:solidFill>
                <a:latin typeface="Quattrocento"/>
                <a:ea typeface="Quattrocento"/>
                <a:cs typeface="Quattrocento"/>
                <a:sym typeface="Quattrocento"/>
              </a:rPr>
              <a:t>Students don't learn theory in isolation. They engage with real market conditions, real data, and real decision-making — within a controlled, supervised environment.</a:t>
            </a:r>
          </a:p>
        </p:txBody>
      </p:sp>
      <p:sp>
        <p:nvSpPr>
          <p:cNvPr id="5" name="TextBox 5"/>
          <p:cNvSpPr txBox="1"/>
          <p:nvPr/>
        </p:nvSpPr>
        <p:spPr>
          <a:xfrm>
            <a:off x="578348" y="3647942"/>
            <a:ext cx="10322747" cy="581682"/>
          </a:xfrm>
          <a:prstGeom prst="rect">
            <a:avLst/>
          </a:prstGeom>
        </p:spPr>
        <p:txBody>
          <a:bodyPr lIns="0" tIns="0" rIns="0" bIns="0" rtlCol="0" anchor="t">
            <a:spAutoFit/>
          </a:bodyPr>
          <a:lstStyle/>
          <a:p>
            <a:pPr algn="l">
              <a:lnSpc>
                <a:spcPts val="1588"/>
              </a:lnSpc>
            </a:pPr>
            <a:r>
              <a:rPr lang="en-US" sz="1190">
                <a:solidFill>
                  <a:srgbClr val="F9EEE7"/>
                </a:solidFill>
                <a:latin typeface="Quattrocento"/>
                <a:ea typeface="Quattrocento"/>
                <a:cs typeface="Quattrocento"/>
                <a:sym typeface="Quattrocento"/>
              </a:rPr>
              <a:t>Education Gap: Earners vs. Wealth Managers</a:t>
            </a:r>
          </a:p>
          <a:p>
            <a:pPr algn="l">
              <a:lnSpc>
                <a:spcPts val="1349"/>
              </a:lnSpc>
            </a:pPr>
            <a:r>
              <a:rPr lang="en-US" sz="1011">
                <a:solidFill>
                  <a:srgbClr val="F9EEE7"/>
                </a:solidFill>
                <a:latin typeface="Quattrocento"/>
                <a:ea typeface="Quattrocento"/>
                <a:cs typeface="Quattrocento"/>
                <a:sym typeface="Quattrocento"/>
              </a:rPr>
              <a:t>There's a critical gap between those who earn money and those who manage wealth. Fnomo Young Investor bridges this divide, enabling students to eradicate the gap between earners of money and wealth managers — transforming passive earners into active wealth builders.</a:t>
            </a:r>
          </a:p>
        </p:txBody>
      </p:sp>
      <p:sp>
        <p:nvSpPr>
          <p:cNvPr id="6" name="TextBox 6"/>
          <p:cNvSpPr txBox="1"/>
          <p:nvPr/>
        </p:nvSpPr>
        <p:spPr>
          <a:xfrm>
            <a:off x="4117781" y="1885817"/>
            <a:ext cx="3224212" cy="934107"/>
          </a:xfrm>
          <a:prstGeom prst="rect">
            <a:avLst/>
          </a:prstGeom>
        </p:spPr>
        <p:txBody>
          <a:bodyPr lIns="0" tIns="0" rIns="0" bIns="0" rtlCol="0" anchor="t">
            <a:spAutoFit/>
          </a:bodyPr>
          <a:lstStyle/>
          <a:p>
            <a:pPr algn="l">
              <a:lnSpc>
                <a:spcPts val="1642"/>
              </a:lnSpc>
            </a:pPr>
            <a:r>
              <a:rPr lang="en-US" sz="1190">
                <a:solidFill>
                  <a:srgbClr val="F9EEE7"/>
                </a:solidFill>
                <a:latin typeface="Quattrocento"/>
                <a:ea typeface="Quattrocento"/>
                <a:cs typeface="Quattrocento"/>
                <a:sym typeface="Quattrocento"/>
              </a:rPr>
              <a:t>Applied Financial Knowledge</a:t>
            </a:r>
          </a:p>
          <a:p>
            <a:pPr algn="l">
              <a:lnSpc>
                <a:spcPts val="1395"/>
              </a:lnSpc>
            </a:pPr>
            <a:r>
              <a:rPr lang="en-US" sz="1011">
                <a:solidFill>
                  <a:srgbClr val="F9EEE7"/>
                </a:solidFill>
                <a:latin typeface="Quattrocento"/>
                <a:ea typeface="Quattrocento"/>
                <a:cs typeface="Quattrocento"/>
                <a:sym typeface="Quattrocento"/>
              </a:rPr>
              <a:t>Theory becomes practice. Students apply structured thinking to wealth management, investment analysis, and financial decision-making — developing skills that serve them for decades.</a:t>
            </a:r>
          </a:p>
        </p:txBody>
      </p:sp>
      <p:sp>
        <p:nvSpPr>
          <p:cNvPr id="7" name="TextBox 7"/>
          <p:cNvSpPr txBox="1"/>
          <p:nvPr/>
        </p:nvSpPr>
        <p:spPr>
          <a:xfrm>
            <a:off x="7657205" y="1885817"/>
            <a:ext cx="3012596" cy="934107"/>
          </a:xfrm>
          <a:prstGeom prst="rect">
            <a:avLst/>
          </a:prstGeom>
        </p:spPr>
        <p:txBody>
          <a:bodyPr lIns="0" tIns="0" rIns="0" bIns="0" rtlCol="0" anchor="t">
            <a:spAutoFit/>
          </a:bodyPr>
          <a:lstStyle/>
          <a:p>
            <a:pPr algn="l">
              <a:lnSpc>
                <a:spcPts val="1642"/>
              </a:lnSpc>
            </a:pPr>
            <a:r>
              <a:rPr lang="en-US" sz="1190">
                <a:solidFill>
                  <a:srgbClr val="F9EEE7"/>
                </a:solidFill>
                <a:latin typeface="Quattrocento"/>
                <a:ea typeface="Quattrocento"/>
                <a:cs typeface="Quattrocento"/>
                <a:sym typeface="Quattrocento"/>
              </a:rPr>
              <a:t>Decision-Making &amp; Responsibility</a:t>
            </a:r>
          </a:p>
          <a:p>
            <a:pPr algn="l">
              <a:lnSpc>
                <a:spcPts val="1395"/>
              </a:lnSpc>
            </a:pPr>
            <a:r>
              <a:rPr lang="en-US" sz="1011">
                <a:solidFill>
                  <a:srgbClr val="F9EEE7"/>
                </a:solidFill>
                <a:latin typeface="Quattrocento"/>
                <a:ea typeface="Quattrocento"/>
                <a:cs typeface="Quattrocento"/>
                <a:sym typeface="Quattrocento"/>
              </a:rPr>
              <a:t>Students build the mental frameworks and accountability mindset required to manage money confidently and make sound financial choices throughout their lives.</a:t>
            </a:r>
          </a:p>
        </p:txBody>
      </p:sp>
      <p:sp>
        <p:nvSpPr>
          <p:cNvPr id="8" name="TextBox 8"/>
          <p:cNvSpPr txBox="1"/>
          <p:nvPr/>
        </p:nvSpPr>
        <p:spPr>
          <a:xfrm>
            <a:off x="2677563" y="4812792"/>
            <a:ext cx="6196136" cy="510835"/>
          </a:xfrm>
          <a:prstGeom prst="rect">
            <a:avLst/>
          </a:prstGeom>
        </p:spPr>
        <p:txBody>
          <a:bodyPr lIns="0" tIns="0" rIns="0" bIns="0" rtlCol="0" anchor="t">
            <a:spAutoFit/>
          </a:bodyPr>
          <a:lstStyle/>
          <a:p>
            <a:pPr algn="ctr">
              <a:lnSpc>
                <a:spcPts val="2099"/>
              </a:lnSpc>
            </a:pPr>
            <a:r>
              <a:rPr lang="en-US" sz="996" b="1">
                <a:solidFill>
                  <a:srgbClr val="F9EEE7"/>
                </a:solidFill>
                <a:latin typeface="Quattrocento Bold"/>
                <a:ea typeface="Quattrocento Bold"/>
                <a:cs typeface="Quattrocento Bold"/>
                <a:sym typeface="Quattrocento Bold"/>
              </a:rPr>
              <a:t>This is not a generic financial awareness session — it's a hands-on, outcome-driven experience.</a:t>
            </a:r>
          </a:p>
          <a:p>
            <a:pPr algn="ctr">
              <a:lnSpc>
                <a:spcPts val="2099"/>
              </a:lnSpc>
            </a:pPr>
            <a:r>
              <a:rPr lang="en-US" sz="996" b="1">
                <a:solidFill>
                  <a:srgbClr val="F9EEE7"/>
                </a:solidFill>
                <a:latin typeface="Quattrocento Bold"/>
                <a:ea typeface="Quattrocento Bold"/>
                <a:cs typeface="Quattrocento Bold"/>
                <a:sym typeface="Quattrocento Bold"/>
              </a:rPr>
              <a:t>We intend to make this workshop the most celebrated event in the school amongst students and parents.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0" y="9525"/>
            <a:ext cx="4286250" cy="6429375"/>
            <a:chOff x="0" y="0"/>
            <a:chExt cx="5715000" cy="8572500"/>
          </a:xfrm>
        </p:grpSpPr>
        <p:sp>
          <p:nvSpPr>
            <p:cNvPr id="6" name="Freeform 6"/>
            <p:cNvSpPr/>
            <p:nvPr/>
          </p:nvSpPr>
          <p:spPr>
            <a:xfrm>
              <a:off x="0" y="0"/>
              <a:ext cx="5715000" cy="8572500"/>
            </a:xfrm>
            <a:custGeom>
              <a:avLst/>
              <a:gdLst/>
              <a:ahLst/>
              <a:cxnLst/>
              <a:rect l="l" t="t" r="r" b="b"/>
              <a:pathLst>
                <a:path w="5715000" h="8572500">
                  <a:moveTo>
                    <a:pt x="0" y="0"/>
                  </a:moveTo>
                  <a:lnTo>
                    <a:pt x="5715000" y="0"/>
                  </a:lnTo>
                  <a:lnTo>
                    <a:pt x="5715000" y="8572500"/>
                  </a:lnTo>
                  <a:lnTo>
                    <a:pt x="0" y="8572500"/>
                  </a:lnTo>
                  <a:lnTo>
                    <a:pt x="0" y="0"/>
                  </a:lnTo>
                  <a:close/>
                </a:path>
              </a:pathLst>
            </a:custGeom>
            <a:blipFill>
              <a:blip r:embed="rId2"/>
              <a:stretch>
                <a:fillRect/>
              </a:stretch>
            </a:blipFill>
          </p:spPr>
          <p:txBody>
            <a:bodyPr/>
            <a:lstStyle/>
            <a:p>
              <a:endParaRPr lang="en-IN"/>
            </a:p>
          </p:txBody>
        </p:sp>
      </p:grpSp>
      <p:sp>
        <p:nvSpPr>
          <p:cNvPr id="7" name="TextBox 7"/>
          <p:cNvSpPr txBox="1"/>
          <p:nvPr/>
        </p:nvSpPr>
        <p:spPr>
          <a:xfrm>
            <a:off x="4940798" y="1745332"/>
            <a:ext cx="4796085" cy="584511"/>
          </a:xfrm>
          <a:prstGeom prst="rect">
            <a:avLst/>
          </a:prstGeom>
        </p:spPr>
        <p:txBody>
          <a:bodyPr lIns="0" tIns="0" rIns="0" bIns="0" rtlCol="0" anchor="t">
            <a:spAutoFit/>
          </a:bodyPr>
          <a:lstStyle/>
          <a:p>
            <a:pPr algn="l">
              <a:lnSpc>
                <a:spcPts val="4849"/>
              </a:lnSpc>
            </a:pPr>
            <a:r>
              <a:rPr lang="en-US" sz="3464">
                <a:solidFill>
                  <a:srgbClr val="FFD9BE"/>
                </a:solidFill>
                <a:latin typeface="Quattrocento"/>
                <a:ea typeface="Quattrocento"/>
                <a:cs typeface="Quattrocento"/>
                <a:sym typeface="Quattrocento"/>
              </a:rPr>
              <a:t>The Challenge (Context)</a:t>
            </a:r>
          </a:p>
        </p:txBody>
      </p:sp>
      <p:sp>
        <p:nvSpPr>
          <p:cNvPr id="8" name="TextBox 8"/>
          <p:cNvSpPr txBox="1"/>
          <p:nvPr/>
        </p:nvSpPr>
        <p:spPr>
          <a:xfrm>
            <a:off x="5332400" y="2625823"/>
            <a:ext cx="45768" cy="258175"/>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 </a:t>
            </a:r>
          </a:p>
        </p:txBody>
      </p:sp>
      <p:sp>
        <p:nvSpPr>
          <p:cNvPr id="9" name="TextBox 9"/>
          <p:cNvSpPr txBox="1"/>
          <p:nvPr/>
        </p:nvSpPr>
        <p:spPr>
          <a:xfrm>
            <a:off x="4940608" y="2625823"/>
            <a:ext cx="5496322" cy="257880"/>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Your institution has built something exceptional — A world-class </a:t>
            </a:r>
          </a:p>
        </p:txBody>
      </p:sp>
      <p:sp>
        <p:nvSpPr>
          <p:cNvPr id="10" name="TextBox 10"/>
          <p:cNvSpPr txBox="1"/>
          <p:nvPr/>
        </p:nvSpPr>
        <p:spPr>
          <a:xfrm>
            <a:off x="4940798" y="2902048"/>
            <a:ext cx="5885393" cy="1686925"/>
          </a:xfrm>
          <a:prstGeom prst="rect">
            <a:avLst/>
          </a:prstGeom>
        </p:spPr>
        <p:txBody>
          <a:bodyPr lIns="0" tIns="0" rIns="0" bIns="0" rtlCol="0" anchor="t">
            <a:spAutoFit/>
          </a:bodyPr>
          <a:lstStyle/>
          <a:p>
            <a:pPr algn="l">
              <a:lnSpc>
                <a:spcPts val="2355"/>
              </a:lnSpc>
            </a:pPr>
            <a:r>
              <a:rPr lang="en-US" sz="1472">
                <a:solidFill>
                  <a:srgbClr val="F9EEE7"/>
                </a:solidFill>
                <a:latin typeface="Quattrocento"/>
                <a:ea typeface="Quattrocento"/>
                <a:cs typeface="Quattrocento"/>
                <a:sym typeface="Quattrocento"/>
              </a:rPr>
              <a:t>curriculum that develops well-rounded students through rigorous academics, sports, coding, and competitions. Your students are prepared for many things.</a:t>
            </a:r>
          </a:p>
          <a:p>
            <a:pPr algn="l" rtl="1">
              <a:lnSpc>
                <a:spcPts val="2355"/>
              </a:lnSpc>
            </a:pPr>
            <a:endParaRPr lang="en-US" sz="1472">
              <a:solidFill>
                <a:srgbClr val="F9EEE7"/>
              </a:solidFill>
              <a:latin typeface="Quattrocento"/>
              <a:ea typeface="Quattrocento"/>
              <a:cs typeface="Quattrocento"/>
              <a:sym typeface="Quattrocento"/>
            </a:endParaRPr>
          </a:p>
          <a:p>
            <a:pPr algn="l">
              <a:lnSpc>
                <a:spcPts val="2355"/>
              </a:lnSpc>
            </a:pPr>
            <a:r>
              <a:rPr lang="en-US" sz="1472">
                <a:solidFill>
                  <a:srgbClr val="F9EEE7"/>
                </a:solidFill>
                <a:latin typeface="Quattrocento"/>
                <a:ea typeface="Quattrocento"/>
                <a:cs typeface="Quattrocento"/>
                <a:sym typeface="Quattrocento"/>
              </a:rPr>
              <a:t>But one critical dimension remains: financial literacy and real-world decision-making.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sp>
        <p:nvSpPr>
          <p:cNvPr id="2" name="Freeform 2"/>
          <p:cNvSpPr/>
          <p:nvPr/>
        </p:nvSpPr>
        <p:spPr>
          <a:xfrm>
            <a:off x="-63503" y="-63503"/>
            <a:ext cx="11556997" cy="6565897"/>
          </a:xfrm>
          <a:custGeom>
            <a:avLst/>
            <a:gdLst/>
            <a:ahLst/>
            <a:cxnLst/>
            <a:rect l="l" t="t" r="r" b="b"/>
            <a:pathLst>
              <a:path w="11556997" h="6565897">
                <a:moveTo>
                  <a:pt x="0" y="0"/>
                </a:moveTo>
                <a:lnTo>
                  <a:pt x="11556997" y="0"/>
                </a:lnTo>
                <a:lnTo>
                  <a:pt x="11556997" y="6565897"/>
                </a:lnTo>
                <a:lnTo>
                  <a:pt x="0" y="65658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449904" y="390258"/>
            <a:ext cx="1868434" cy="403689"/>
          </a:xfrm>
          <a:prstGeom prst="rect">
            <a:avLst/>
          </a:prstGeom>
        </p:spPr>
        <p:txBody>
          <a:bodyPr lIns="0" tIns="0" rIns="0" bIns="0" rtlCol="0" anchor="t">
            <a:spAutoFit/>
          </a:bodyPr>
          <a:lstStyle/>
          <a:p>
            <a:pPr algn="l">
              <a:lnSpc>
                <a:spcPts val="3334"/>
              </a:lnSpc>
            </a:pPr>
            <a:r>
              <a:rPr lang="en-US" sz="2381">
                <a:solidFill>
                  <a:srgbClr val="FFD9BE"/>
                </a:solidFill>
                <a:latin typeface="Quattrocento"/>
                <a:ea typeface="Quattrocento"/>
                <a:cs typeface="Quattrocento"/>
                <a:sym typeface="Quattrocento"/>
              </a:rPr>
              <a:t>The Evidence</a:t>
            </a:r>
          </a:p>
        </p:txBody>
      </p:sp>
      <p:sp>
        <p:nvSpPr>
          <p:cNvPr id="4" name="TextBox 4"/>
          <p:cNvSpPr txBox="1"/>
          <p:nvPr/>
        </p:nvSpPr>
        <p:spPr>
          <a:xfrm>
            <a:off x="2761212" y="4326484"/>
            <a:ext cx="598837" cy="435407"/>
          </a:xfrm>
          <a:prstGeom prst="rect">
            <a:avLst/>
          </a:prstGeom>
        </p:spPr>
        <p:txBody>
          <a:bodyPr lIns="0" tIns="0" rIns="0" bIns="0" rtlCol="0" anchor="t">
            <a:spAutoFit/>
          </a:bodyPr>
          <a:lstStyle/>
          <a:p>
            <a:pPr algn="l">
              <a:lnSpc>
                <a:spcPts val="3542"/>
              </a:lnSpc>
            </a:pPr>
            <a:r>
              <a:rPr lang="en-US" sz="2530">
                <a:solidFill>
                  <a:srgbClr val="F9EEE7"/>
                </a:solidFill>
                <a:latin typeface="Quattrocento"/>
                <a:ea typeface="Quattrocento"/>
                <a:cs typeface="Quattrocento"/>
                <a:sym typeface="Quattrocento"/>
              </a:rPr>
              <a:t>42%</a:t>
            </a:r>
          </a:p>
        </p:txBody>
      </p:sp>
      <p:sp>
        <p:nvSpPr>
          <p:cNvPr id="5" name="TextBox 5"/>
          <p:cNvSpPr txBox="1"/>
          <p:nvPr/>
        </p:nvSpPr>
        <p:spPr>
          <a:xfrm>
            <a:off x="2757040" y="1726159"/>
            <a:ext cx="607352" cy="435407"/>
          </a:xfrm>
          <a:prstGeom prst="rect">
            <a:avLst/>
          </a:prstGeom>
        </p:spPr>
        <p:txBody>
          <a:bodyPr lIns="0" tIns="0" rIns="0" bIns="0" rtlCol="0" anchor="t">
            <a:spAutoFit/>
          </a:bodyPr>
          <a:lstStyle/>
          <a:p>
            <a:pPr algn="l">
              <a:lnSpc>
                <a:spcPts val="3542"/>
              </a:lnSpc>
            </a:pPr>
            <a:r>
              <a:rPr lang="en-US" sz="2530">
                <a:solidFill>
                  <a:srgbClr val="F9EEE7"/>
                </a:solidFill>
                <a:latin typeface="Quattrocento"/>
                <a:ea typeface="Quattrocento"/>
                <a:cs typeface="Quattrocento"/>
                <a:sym typeface="Quattrocento"/>
              </a:rPr>
              <a:t>87%</a:t>
            </a:r>
          </a:p>
        </p:txBody>
      </p:sp>
      <p:sp>
        <p:nvSpPr>
          <p:cNvPr id="6" name="TextBox 6"/>
          <p:cNvSpPr txBox="1"/>
          <p:nvPr/>
        </p:nvSpPr>
        <p:spPr>
          <a:xfrm>
            <a:off x="8102651" y="1726159"/>
            <a:ext cx="555574" cy="435407"/>
          </a:xfrm>
          <a:prstGeom prst="rect">
            <a:avLst/>
          </a:prstGeom>
        </p:spPr>
        <p:txBody>
          <a:bodyPr lIns="0" tIns="0" rIns="0" bIns="0" rtlCol="0" anchor="t">
            <a:spAutoFit/>
          </a:bodyPr>
          <a:lstStyle/>
          <a:p>
            <a:pPr algn="l">
              <a:lnSpc>
                <a:spcPts val="3542"/>
              </a:lnSpc>
            </a:pPr>
            <a:r>
              <a:rPr lang="en-US" sz="2530">
                <a:solidFill>
                  <a:srgbClr val="F9EEE7"/>
                </a:solidFill>
                <a:latin typeface="Quattrocento"/>
                <a:ea typeface="Quattrocento"/>
                <a:cs typeface="Quattrocento"/>
                <a:sym typeface="Quattrocento"/>
              </a:rPr>
              <a:t>18%</a:t>
            </a:r>
          </a:p>
        </p:txBody>
      </p:sp>
      <p:sp>
        <p:nvSpPr>
          <p:cNvPr id="7" name="TextBox 7"/>
          <p:cNvSpPr txBox="1"/>
          <p:nvPr/>
        </p:nvSpPr>
        <p:spPr>
          <a:xfrm>
            <a:off x="8055769" y="4326484"/>
            <a:ext cx="651272" cy="435407"/>
          </a:xfrm>
          <a:prstGeom prst="rect">
            <a:avLst/>
          </a:prstGeom>
        </p:spPr>
        <p:txBody>
          <a:bodyPr lIns="0" tIns="0" rIns="0" bIns="0" rtlCol="0" anchor="t">
            <a:spAutoFit/>
          </a:bodyPr>
          <a:lstStyle/>
          <a:p>
            <a:pPr algn="l">
              <a:lnSpc>
                <a:spcPts val="3542"/>
              </a:lnSpc>
            </a:pPr>
            <a:r>
              <a:rPr lang="en-US" sz="2530">
                <a:solidFill>
                  <a:srgbClr val="F9EEE7"/>
                </a:solidFill>
                <a:latin typeface="Quattrocento"/>
                <a:ea typeface="Quattrocento"/>
                <a:cs typeface="Quattrocento"/>
                <a:sym typeface="Quattrocento"/>
              </a:rPr>
              <a:t>80%</a:t>
            </a:r>
          </a:p>
        </p:txBody>
      </p:sp>
      <p:sp>
        <p:nvSpPr>
          <p:cNvPr id="8" name="TextBox 8"/>
          <p:cNvSpPr txBox="1"/>
          <p:nvPr/>
        </p:nvSpPr>
        <p:spPr>
          <a:xfrm>
            <a:off x="1766145" y="5639705"/>
            <a:ext cx="2628824" cy="351263"/>
          </a:xfrm>
          <a:prstGeom prst="rect">
            <a:avLst/>
          </a:prstGeom>
        </p:spPr>
        <p:txBody>
          <a:bodyPr lIns="0" tIns="0" rIns="0" bIns="0" rtlCol="0" anchor="t">
            <a:spAutoFit/>
          </a:bodyPr>
          <a:lstStyle/>
          <a:p>
            <a:pPr algn="ctr">
              <a:lnSpc>
                <a:spcPts val="1349"/>
              </a:lnSpc>
            </a:pPr>
            <a:r>
              <a:rPr lang="en-US" sz="1011">
                <a:solidFill>
                  <a:srgbClr val="F9EEE7"/>
                </a:solidFill>
                <a:latin typeface="Quattrocento"/>
                <a:ea typeface="Quattrocento"/>
                <a:cs typeface="Quattrocento"/>
                <a:sym typeface="Quattrocento"/>
              </a:rPr>
              <a:t>of teens terrified about their financial future (JA Teens &amp; Personal Finance Survey, 2025)</a:t>
            </a:r>
          </a:p>
        </p:txBody>
      </p:sp>
      <p:sp>
        <p:nvSpPr>
          <p:cNvPr id="9" name="TextBox 9"/>
          <p:cNvSpPr txBox="1"/>
          <p:nvPr/>
        </p:nvSpPr>
        <p:spPr>
          <a:xfrm>
            <a:off x="965892" y="3020330"/>
            <a:ext cx="4261190" cy="370313"/>
          </a:xfrm>
          <a:prstGeom prst="rect">
            <a:avLst/>
          </a:prstGeom>
        </p:spPr>
        <p:txBody>
          <a:bodyPr lIns="0" tIns="0" rIns="0" bIns="0" rtlCol="0" anchor="t">
            <a:spAutoFit/>
          </a:bodyPr>
          <a:lstStyle/>
          <a:p>
            <a:pPr algn="ctr">
              <a:lnSpc>
                <a:spcPts val="1424"/>
              </a:lnSpc>
            </a:pPr>
            <a:r>
              <a:rPr lang="en-US" sz="1011">
                <a:solidFill>
                  <a:srgbClr val="F9EEE7"/>
                </a:solidFill>
                <a:latin typeface="Quattrocento"/>
                <a:ea typeface="Quattrocento"/>
                <a:cs typeface="Quattrocento"/>
                <a:sym typeface="Quattrocento"/>
              </a:rPr>
              <a:t>of U.S. adults said high school left them unprepared for handling money (2025 Financial Literacy Crisis in America)</a:t>
            </a:r>
          </a:p>
        </p:txBody>
      </p:sp>
      <p:sp>
        <p:nvSpPr>
          <p:cNvPr id="10" name="TextBox 10"/>
          <p:cNvSpPr txBox="1"/>
          <p:nvPr/>
        </p:nvSpPr>
        <p:spPr>
          <a:xfrm>
            <a:off x="7142559" y="5639705"/>
            <a:ext cx="2514448" cy="351263"/>
          </a:xfrm>
          <a:prstGeom prst="rect">
            <a:avLst/>
          </a:prstGeom>
        </p:spPr>
        <p:txBody>
          <a:bodyPr lIns="0" tIns="0" rIns="0" bIns="0" rtlCol="0" anchor="t">
            <a:spAutoFit/>
          </a:bodyPr>
          <a:lstStyle/>
          <a:p>
            <a:pPr algn="ctr">
              <a:lnSpc>
                <a:spcPts val="1349"/>
              </a:lnSpc>
            </a:pPr>
            <a:r>
              <a:rPr lang="en-US" sz="1011">
                <a:solidFill>
                  <a:srgbClr val="F9EEE7"/>
                </a:solidFill>
                <a:latin typeface="Quattrocento"/>
                <a:ea typeface="Quattrocento"/>
                <a:cs typeface="Quattrocento"/>
                <a:sym typeface="Quattrocento"/>
              </a:rPr>
              <a:t>of teens don't understand FICO scores </a:t>
            </a:r>
          </a:p>
          <a:p>
            <a:pPr algn="ctr">
              <a:lnSpc>
                <a:spcPts val="1349"/>
              </a:lnSpc>
            </a:pPr>
            <a:r>
              <a:rPr lang="en-US" sz="1011">
                <a:solidFill>
                  <a:srgbClr val="F9EEE7"/>
                </a:solidFill>
                <a:latin typeface="Quattrocento"/>
                <a:ea typeface="Quattrocento"/>
                <a:cs typeface="Quattrocento"/>
                <a:sym typeface="Quattrocento"/>
              </a:rPr>
              <a:t>(JA Teens &amp; Personal Finance Survey, 2025</a:t>
            </a:r>
            <a:r>
              <a:rPr lang="en-US" sz="1011">
                <a:solidFill>
                  <a:srgbClr val="F9EEE7"/>
                </a:solidFill>
                <a:latin typeface="Quattrocento"/>
                <a:ea typeface="Quattrocento"/>
                <a:cs typeface="Quattrocento"/>
                <a:sym typeface="Quattrocento"/>
                <a:hlinkClick r:id="rId3" tooltip="https://gamma.app/?utm_source=made-with-gamma"/>
              </a:rPr>
              <a:t>)</a:t>
            </a:r>
          </a:p>
        </p:txBody>
      </p:sp>
      <p:sp>
        <p:nvSpPr>
          <p:cNvPr id="11" name="TextBox 11"/>
          <p:cNvSpPr txBox="1"/>
          <p:nvPr/>
        </p:nvSpPr>
        <p:spPr>
          <a:xfrm>
            <a:off x="6944916" y="3020330"/>
            <a:ext cx="2917431" cy="370313"/>
          </a:xfrm>
          <a:prstGeom prst="rect">
            <a:avLst/>
          </a:prstGeom>
        </p:spPr>
        <p:txBody>
          <a:bodyPr lIns="0" tIns="0" rIns="0" bIns="0" rtlCol="0" anchor="t">
            <a:spAutoFit/>
          </a:bodyPr>
          <a:lstStyle/>
          <a:p>
            <a:pPr algn="ctr">
              <a:lnSpc>
                <a:spcPts val="1424"/>
              </a:lnSpc>
            </a:pPr>
            <a:r>
              <a:rPr lang="en-US" sz="1011">
                <a:solidFill>
                  <a:srgbClr val="F9EEE7"/>
                </a:solidFill>
                <a:latin typeface="Quattrocento"/>
                <a:ea typeface="Quattrocento"/>
                <a:cs typeface="Quattrocento"/>
                <a:sym typeface="Quattrocento"/>
              </a:rPr>
              <a:t>of OECD students lack basic financial proficiency (OECD PISA 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503"/>
            <a:ext cx="11556997" cy="6565897"/>
            <a:chOff x="0" y="0"/>
            <a:chExt cx="11557000" cy="6565900"/>
          </a:xfrm>
        </p:grpSpPr>
        <p:sp>
          <p:nvSpPr>
            <p:cNvPr id="3" name="Freeform 3"/>
            <p:cNvSpPr/>
            <p:nvPr/>
          </p:nvSpPr>
          <p:spPr>
            <a:xfrm>
              <a:off x="63500" y="73025"/>
              <a:ext cx="11430000" cy="6429375"/>
            </a:xfrm>
            <a:custGeom>
              <a:avLst/>
              <a:gdLst/>
              <a:ahLst/>
              <a:cxnLst/>
              <a:rect l="l" t="t" r="r" b="b"/>
              <a:pathLst>
                <a:path w="11430000" h="6429375">
                  <a:moveTo>
                    <a:pt x="0" y="0"/>
                  </a:moveTo>
                  <a:lnTo>
                    <a:pt x="11430000" y="0"/>
                  </a:lnTo>
                  <a:lnTo>
                    <a:pt x="11430000" y="6429375"/>
                  </a:lnTo>
                  <a:lnTo>
                    <a:pt x="0" y="6429375"/>
                  </a:lnTo>
                  <a:close/>
                </a:path>
              </a:pathLst>
            </a:custGeom>
            <a:solidFill>
              <a:srgbClr val="123332"/>
            </a:solidFill>
          </p:spPr>
          <p:txBody>
            <a:bodyPr/>
            <a:lstStyle/>
            <a:p>
              <a:endParaRPr lang="en-IN"/>
            </a:p>
          </p:txBody>
        </p:sp>
        <p:sp>
          <p:nvSpPr>
            <p:cNvPr id="4" name="Freeform 4"/>
            <p:cNvSpPr/>
            <p:nvPr/>
          </p:nvSpPr>
          <p:spPr>
            <a:xfrm>
              <a:off x="63500" y="63500"/>
              <a:ext cx="11430000" cy="9525"/>
            </a:xfrm>
            <a:custGeom>
              <a:avLst/>
              <a:gdLst/>
              <a:ahLst/>
              <a:cxnLst/>
              <a:rect l="l" t="t" r="r" b="b"/>
              <a:pathLst>
                <a:path w="11430000" h="9525">
                  <a:moveTo>
                    <a:pt x="0" y="0"/>
                  </a:moveTo>
                  <a:lnTo>
                    <a:pt x="0" y="9525"/>
                  </a:lnTo>
                  <a:lnTo>
                    <a:pt x="11430000" y="9525"/>
                  </a:lnTo>
                  <a:lnTo>
                    <a:pt x="11430000" y="0"/>
                  </a:lnTo>
                  <a:close/>
                </a:path>
              </a:pathLst>
            </a:custGeom>
            <a:solidFill>
              <a:srgbClr val="000000"/>
            </a:solidFill>
          </p:spPr>
          <p:txBody>
            <a:bodyPr/>
            <a:lstStyle/>
            <a:p>
              <a:endParaRPr lang="en-IN"/>
            </a:p>
          </p:txBody>
        </p:sp>
        <p:sp>
          <p:nvSpPr>
            <p:cNvPr id="5" name="Freeform 5"/>
            <p:cNvSpPr/>
            <p:nvPr/>
          </p:nvSpPr>
          <p:spPr>
            <a:xfrm>
              <a:off x="731774" y="1712968"/>
              <a:ext cx="10085704" cy="4201041"/>
            </a:xfrm>
            <a:custGeom>
              <a:avLst/>
              <a:gdLst/>
              <a:ahLst/>
              <a:cxnLst/>
              <a:rect l="l" t="t" r="r" b="b"/>
              <a:pathLst>
                <a:path w="10085704" h="4201041">
                  <a:moveTo>
                    <a:pt x="87757" y="222258"/>
                  </a:moveTo>
                  <a:cubicBezTo>
                    <a:pt x="87757" y="98814"/>
                    <a:pt x="188341" y="-1008"/>
                    <a:pt x="311785" y="8"/>
                  </a:cubicBezTo>
                  <a:lnTo>
                    <a:pt x="1008888" y="6231"/>
                  </a:lnTo>
                  <a:cubicBezTo>
                    <a:pt x="1130935" y="7247"/>
                    <a:pt x="1229360" y="106434"/>
                    <a:pt x="1229360" y="228481"/>
                  </a:cubicBezTo>
                  <a:lnTo>
                    <a:pt x="1229360" y="3978791"/>
                  </a:lnTo>
                  <a:cubicBezTo>
                    <a:pt x="1229360" y="4079248"/>
                    <a:pt x="1310767" y="4160655"/>
                    <a:pt x="1411224" y="4160655"/>
                  </a:cubicBezTo>
                  <a:lnTo>
                    <a:pt x="3578098" y="4160655"/>
                  </a:lnTo>
                  <a:cubicBezTo>
                    <a:pt x="3678555" y="4160655"/>
                    <a:pt x="3759962" y="4079248"/>
                    <a:pt x="3759962" y="3978791"/>
                  </a:cubicBezTo>
                  <a:lnTo>
                    <a:pt x="3759962" y="230132"/>
                  </a:lnTo>
                  <a:cubicBezTo>
                    <a:pt x="3759962" y="107323"/>
                    <a:pt x="3859530" y="7882"/>
                    <a:pt x="3982212" y="7882"/>
                  </a:cubicBezTo>
                  <a:lnTo>
                    <a:pt x="6194679" y="7882"/>
                  </a:lnTo>
                  <a:cubicBezTo>
                    <a:pt x="6317361" y="7882"/>
                    <a:pt x="6416929" y="107450"/>
                    <a:pt x="6416929" y="230132"/>
                  </a:cubicBezTo>
                  <a:lnTo>
                    <a:pt x="6416929" y="3890653"/>
                  </a:lnTo>
                  <a:cubicBezTo>
                    <a:pt x="6416929" y="3991110"/>
                    <a:pt x="6498336" y="4072517"/>
                    <a:pt x="6598793" y="4072517"/>
                  </a:cubicBezTo>
                  <a:lnTo>
                    <a:pt x="8730361" y="4072517"/>
                  </a:lnTo>
                  <a:cubicBezTo>
                    <a:pt x="8830818" y="4072517"/>
                    <a:pt x="8912225" y="3991110"/>
                    <a:pt x="8912225" y="3890653"/>
                  </a:cubicBezTo>
                  <a:lnTo>
                    <a:pt x="8912225" y="230132"/>
                  </a:lnTo>
                  <a:cubicBezTo>
                    <a:pt x="8912225" y="107323"/>
                    <a:pt x="9011793" y="7882"/>
                    <a:pt x="9134475" y="7882"/>
                  </a:cubicBezTo>
                  <a:lnTo>
                    <a:pt x="9775952" y="7882"/>
                  </a:lnTo>
                  <a:cubicBezTo>
                    <a:pt x="9898634" y="7882"/>
                    <a:pt x="9998202" y="107450"/>
                    <a:pt x="9998202" y="230132"/>
                  </a:cubicBezTo>
                  <a:lnTo>
                    <a:pt x="9998202" y="2009021"/>
                  </a:lnTo>
                  <a:cubicBezTo>
                    <a:pt x="10048113" y="2018546"/>
                    <a:pt x="10085704" y="2062234"/>
                    <a:pt x="10085704" y="2114812"/>
                  </a:cubicBezTo>
                  <a:cubicBezTo>
                    <a:pt x="10085704" y="2174375"/>
                    <a:pt x="10037445" y="2222635"/>
                    <a:pt x="9977882" y="2222635"/>
                  </a:cubicBezTo>
                  <a:cubicBezTo>
                    <a:pt x="9918319" y="2222635"/>
                    <a:pt x="9870059" y="2174375"/>
                    <a:pt x="9870059" y="2114812"/>
                  </a:cubicBezTo>
                  <a:cubicBezTo>
                    <a:pt x="9870059" y="2062234"/>
                    <a:pt x="9907778" y="2018419"/>
                    <a:pt x="9957562" y="2009021"/>
                  </a:cubicBezTo>
                  <a:lnTo>
                    <a:pt x="9957562" y="230132"/>
                  </a:lnTo>
                  <a:cubicBezTo>
                    <a:pt x="9957562" y="129675"/>
                    <a:pt x="9876154" y="48268"/>
                    <a:pt x="9775698" y="48268"/>
                  </a:cubicBezTo>
                  <a:lnTo>
                    <a:pt x="9134475" y="48268"/>
                  </a:lnTo>
                  <a:cubicBezTo>
                    <a:pt x="9034018" y="48268"/>
                    <a:pt x="8952611" y="129675"/>
                    <a:pt x="8952611" y="230132"/>
                  </a:cubicBezTo>
                  <a:lnTo>
                    <a:pt x="8952611" y="3890653"/>
                  </a:lnTo>
                  <a:cubicBezTo>
                    <a:pt x="8952611" y="4013462"/>
                    <a:pt x="8853043" y="4112903"/>
                    <a:pt x="8730361" y="4112903"/>
                  </a:cubicBezTo>
                  <a:lnTo>
                    <a:pt x="6598793" y="4112903"/>
                  </a:lnTo>
                  <a:cubicBezTo>
                    <a:pt x="6476112" y="4112903"/>
                    <a:pt x="6376543" y="4013462"/>
                    <a:pt x="6376543" y="3890653"/>
                  </a:cubicBezTo>
                  <a:lnTo>
                    <a:pt x="6376543" y="230132"/>
                  </a:lnTo>
                  <a:cubicBezTo>
                    <a:pt x="6376543" y="129675"/>
                    <a:pt x="6295137" y="48268"/>
                    <a:pt x="6194679" y="48268"/>
                  </a:cubicBezTo>
                  <a:lnTo>
                    <a:pt x="3982212" y="48268"/>
                  </a:lnTo>
                  <a:cubicBezTo>
                    <a:pt x="3881755" y="48268"/>
                    <a:pt x="3800348" y="129675"/>
                    <a:pt x="3800348" y="230132"/>
                  </a:cubicBezTo>
                  <a:lnTo>
                    <a:pt x="3800348" y="3978791"/>
                  </a:lnTo>
                  <a:cubicBezTo>
                    <a:pt x="3800348" y="4101473"/>
                    <a:pt x="3700780" y="4201041"/>
                    <a:pt x="3578098" y="4201041"/>
                  </a:cubicBezTo>
                  <a:lnTo>
                    <a:pt x="1411224" y="4201041"/>
                  </a:lnTo>
                  <a:cubicBezTo>
                    <a:pt x="1288542" y="4201041"/>
                    <a:pt x="1188974" y="4101473"/>
                    <a:pt x="1188974" y="3978791"/>
                  </a:cubicBezTo>
                  <a:lnTo>
                    <a:pt x="1188974" y="228608"/>
                  </a:lnTo>
                  <a:cubicBezTo>
                    <a:pt x="1188974" y="128786"/>
                    <a:pt x="1108456" y="47506"/>
                    <a:pt x="1008507" y="46744"/>
                  </a:cubicBezTo>
                  <a:lnTo>
                    <a:pt x="311404" y="40521"/>
                  </a:lnTo>
                  <a:cubicBezTo>
                    <a:pt x="210439" y="39759"/>
                    <a:pt x="128143" y="121420"/>
                    <a:pt x="128143" y="222385"/>
                  </a:cubicBezTo>
                  <a:lnTo>
                    <a:pt x="128143" y="2009021"/>
                  </a:lnTo>
                  <a:cubicBezTo>
                    <a:pt x="178054" y="2018546"/>
                    <a:pt x="215646" y="2062234"/>
                    <a:pt x="215646" y="2114812"/>
                  </a:cubicBezTo>
                  <a:cubicBezTo>
                    <a:pt x="215646" y="2174375"/>
                    <a:pt x="167386" y="2222635"/>
                    <a:pt x="107823" y="2222635"/>
                  </a:cubicBezTo>
                  <a:cubicBezTo>
                    <a:pt x="48260" y="2222635"/>
                    <a:pt x="0" y="2174375"/>
                    <a:pt x="0" y="2114812"/>
                  </a:cubicBezTo>
                  <a:cubicBezTo>
                    <a:pt x="0" y="2062234"/>
                    <a:pt x="37719" y="2018419"/>
                    <a:pt x="87503" y="2009021"/>
                  </a:cubicBezTo>
                  <a:lnTo>
                    <a:pt x="87503" y="222258"/>
                  </a:lnTo>
                  <a:close/>
                </a:path>
              </a:pathLst>
            </a:custGeom>
            <a:solidFill>
              <a:srgbClr val="EF9C82"/>
            </a:solidFill>
          </p:spPr>
          <p:txBody>
            <a:bodyPr/>
            <a:lstStyle/>
            <a:p>
              <a:endParaRPr lang="en-IN"/>
            </a:p>
          </p:txBody>
        </p:sp>
        <p:sp>
          <p:nvSpPr>
            <p:cNvPr id="6" name="Freeform 6"/>
            <p:cNvSpPr/>
            <p:nvPr/>
          </p:nvSpPr>
          <p:spPr>
            <a:xfrm>
              <a:off x="1830927" y="3671316"/>
              <a:ext cx="223202" cy="217202"/>
            </a:xfrm>
            <a:custGeom>
              <a:avLst/>
              <a:gdLst/>
              <a:ahLst/>
              <a:cxnLst/>
              <a:rect l="l" t="t" r="r" b="b"/>
              <a:pathLst>
                <a:path w="223202" h="217202">
                  <a:moveTo>
                    <a:pt x="218726" y="94869"/>
                  </a:moveTo>
                  <a:cubicBezTo>
                    <a:pt x="224695" y="100838"/>
                    <a:pt x="224695" y="110363"/>
                    <a:pt x="218726" y="116332"/>
                  </a:cubicBezTo>
                  <a:lnTo>
                    <a:pt x="122333" y="212725"/>
                  </a:lnTo>
                  <a:cubicBezTo>
                    <a:pt x="116364" y="218694"/>
                    <a:pt x="106839" y="218694"/>
                    <a:pt x="100870" y="212725"/>
                  </a:cubicBezTo>
                  <a:lnTo>
                    <a:pt x="4477" y="116332"/>
                  </a:lnTo>
                  <a:cubicBezTo>
                    <a:pt x="-1492" y="110363"/>
                    <a:pt x="-1492" y="100838"/>
                    <a:pt x="4477" y="94869"/>
                  </a:cubicBezTo>
                  <a:cubicBezTo>
                    <a:pt x="10446" y="88900"/>
                    <a:pt x="19971" y="88900"/>
                    <a:pt x="25940" y="94869"/>
                  </a:cubicBezTo>
                  <a:lnTo>
                    <a:pt x="96552" y="165481"/>
                  </a:lnTo>
                  <a:lnTo>
                    <a:pt x="96552" y="0"/>
                  </a:lnTo>
                  <a:lnTo>
                    <a:pt x="126905" y="0"/>
                  </a:lnTo>
                  <a:lnTo>
                    <a:pt x="126905" y="165481"/>
                  </a:lnTo>
                  <a:lnTo>
                    <a:pt x="197517" y="94869"/>
                  </a:lnTo>
                  <a:cubicBezTo>
                    <a:pt x="203486" y="88900"/>
                    <a:pt x="213011" y="88900"/>
                    <a:pt x="218980" y="94869"/>
                  </a:cubicBezTo>
                  <a:close/>
                </a:path>
              </a:pathLst>
            </a:custGeom>
            <a:solidFill>
              <a:srgbClr val="EF9C82"/>
            </a:solidFill>
          </p:spPr>
          <p:txBody>
            <a:bodyPr/>
            <a:lstStyle/>
            <a:p>
              <a:endParaRPr lang="en-IN"/>
            </a:p>
          </p:txBody>
        </p:sp>
        <p:sp>
          <p:nvSpPr>
            <p:cNvPr id="7" name="Freeform 7"/>
            <p:cNvSpPr/>
            <p:nvPr/>
          </p:nvSpPr>
          <p:spPr>
            <a:xfrm>
              <a:off x="4396962" y="3757136"/>
              <a:ext cx="223202" cy="217202"/>
            </a:xfrm>
            <a:custGeom>
              <a:avLst/>
              <a:gdLst/>
              <a:ahLst/>
              <a:cxnLst/>
              <a:rect l="l" t="t" r="r" b="b"/>
              <a:pathLst>
                <a:path w="223202" h="217202">
                  <a:moveTo>
                    <a:pt x="218726" y="122333"/>
                  </a:moveTo>
                  <a:cubicBezTo>
                    <a:pt x="224695" y="116364"/>
                    <a:pt x="224695" y="106839"/>
                    <a:pt x="218726" y="100870"/>
                  </a:cubicBezTo>
                  <a:lnTo>
                    <a:pt x="122333" y="4477"/>
                  </a:lnTo>
                  <a:cubicBezTo>
                    <a:pt x="116364" y="-1492"/>
                    <a:pt x="106839" y="-1492"/>
                    <a:pt x="100870" y="4477"/>
                  </a:cubicBezTo>
                  <a:lnTo>
                    <a:pt x="4477" y="100870"/>
                  </a:lnTo>
                  <a:cubicBezTo>
                    <a:pt x="-1492" y="106839"/>
                    <a:pt x="-1492" y="116364"/>
                    <a:pt x="4477" y="122333"/>
                  </a:cubicBezTo>
                  <a:cubicBezTo>
                    <a:pt x="10446" y="128302"/>
                    <a:pt x="19971" y="128302"/>
                    <a:pt x="25940" y="122333"/>
                  </a:cubicBezTo>
                  <a:lnTo>
                    <a:pt x="96552" y="51721"/>
                  </a:lnTo>
                  <a:lnTo>
                    <a:pt x="96552" y="217202"/>
                  </a:lnTo>
                  <a:lnTo>
                    <a:pt x="126905" y="217202"/>
                  </a:lnTo>
                  <a:lnTo>
                    <a:pt x="126905" y="51721"/>
                  </a:lnTo>
                  <a:lnTo>
                    <a:pt x="197517" y="122333"/>
                  </a:lnTo>
                  <a:cubicBezTo>
                    <a:pt x="203486" y="128302"/>
                    <a:pt x="213011" y="128302"/>
                    <a:pt x="218980" y="122333"/>
                  </a:cubicBezTo>
                  <a:close/>
                </a:path>
              </a:pathLst>
            </a:custGeom>
            <a:solidFill>
              <a:srgbClr val="EF9C82"/>
            </a:solidFill>
          </p:spPr>
          <p:txBody>
            <a:bodyPr/>
            <a:lstStyle/>
            <a:p>
              <a:endParaRPr lang="en-IN"/>
            </a:p>
          </p:txBody>
        </p:sp>
        <p:sp>
          <p:nvSpPr>
            <p:cNvPr id="8" name="Freeform 8"/>
            <p:cNvSpPr/>
            <p:nvPr/>
          </p:nvSpPr>
          <p:spPr>
            <a:xfrm>
              <a:off x="9549225" y="3757136"/>
              <a:ext cx="223202" cy="217202"/>
            </a:xfrm>
            <a:custGeom>
              <a:avLst/>
              <a:gdLst/>
              <a:ahLst/>
              <a:cxnLst/>
              <a:rect l="l" t="t" r="r" b="b"/>
              <a:pathLst>
                <a:path w="223202" h="217202">
                  <a:moveTo>
                    <a:pt x="218726" y="122333"/>
                  </a:moveTo>
                  <a:cubicBezTo>
                    <a:pt x="224695" y="116364"/>
                    <a:pt x="224695" y="106839"/>
                    <a:pt x="218726" y="100870"/>
                  </a:cubicBezTo>
                  <a:lnTo>
                    <a:pt x="122333" y="4477"/>
                  </a:lnTo>
                  <a:cubicBezTo>
                    <a:pt x="116364" y="-1492"/>
                    <a:pt x="106839" y="-1492"/>
                    <a:pt x="100870" y="4477"/>
                  </a:cubicBezTo>
                  <a:lnTo>
                    <a:pt x="4477" y="100870"/>
                  </a:lnTo>
                  <a:cubicBezTo>
                    <a:pt x="-1492" y="106839"/>
                    <a:pt x="-1492" y="116364"/>
                    <a:pt x="4477" y="122333"/>
                  </a:cubicBezTo>
                  <a:cubicBezTo>
                    <a:pt x="10446" y="128302"/>
                    <a:pt x="19971" y="128302"/>
                    <a:pt x="25940" y="122333"/>
                  </a:cubicBezTo>
                  <a:lnTo>
                    <a:pt x="96552" y="51721"/>
                  </a:lnTo>
                  <a:lnTo>
                    <a:pt x="96552" y="217202"/>
                  </a:lnTo>
                  <a:lnTo>
                    <a:pt x="126905" y="217202"/>
                  </a:lnTo>
                  <a:lnTo>
                    <a:pt x="126905" y="51721"/>
                  </a:lnTo>
                  <a:lnTo>
                    <a:pt x="197517" y="122333"/>
                  </a:lnTo>
                  <a:cubicBezTo>
                    <a:pt x="203486" y="128302"/>
                    <a:pt x="213011" y="128302"/>
                    <a:pt x="218980" y="122333"/>
                  </a:cubicBezTo>
                  <a:close/>
                </a:path>
              </a:pathLst>
            </a:custGeom>
            <a:solidFill>
              <a:srgbClr val="EF9C82"/>
            </a:solidFill>
          </p:spPr>
          <p:txBody>
            <a:bodyPr/>
            <a:lstStyle/>
            <a:p>
              <a:endParaRPr lang="en-IN"/>
            </a:p>
          </p:txBody>
        </p:sp>
        <p:sp>
          <p:nvSpPr>
            <p:cNvPr id="9" name="Freeform 9"/>
            <p:cNvSpPr/>
            <p:nvPr/>
          </p:nvSpPr>
          <p:spPr>
            <a:xfrm>
              <a:off x="7013543" y="3671316"/>
              <a:ext cx="223202" cy="217202"/>
            </a:xfrm>
            <a:custGeom>
              <a:avLst/>
              <a:gdLst/>
              <a:ahLst/>
              <a:cxnLst/>
              <a:rect l="l" t="t" r="r" b="b"/>
              <a:pathLst>
                <a:path w="223202" h="217202">
                  <a:moveTo>
                    <a:pt x="4477" y="94869"/>
                  </a:moveTo>
                  <a:cubicBezTo>
                    <a:pt x="-1492" y="100838"/>
                    <a:pt x="-1492" y="110363"/>
                    <a:pt x="4477" y="116332"/>
                  </a:cubicBezTo>
                  <a:lnTo>
                    <a:pt x="100870" y="212725"/>
                  </a:lnTo>
                  <a:cubicBezTo>
                    <a:pt x="106839" y="218694"/>
                    <a:pt x="116364" y="218694"/>
                    <a:pt x="122333" y="212725"/>
                  </a:cubicBezTo>
                  <a:lnTo>
                    <a:pt x="218726" y="116332"/>
                  </a:lnTo>
                  <a:cubicBezTo>
                    <a:pt x="224695" y="110363"/>
                    <a:pt x="224695" y="100838"/>
                    <a:pt x="218726" y="94869"/>
                  </a:cubicBezTo>
                  <a:cubicBezTo>
                    <a:pt x="212757" y="88900"/>
                    <a:pt x="203232" y="88900"/>
                    <a:pt x="197263" y="94869"/>
                  </a:cubicBezTo>
                  <a:lnTo>
                    <a:pt x="126651" y="165481"/>
                  </a:lnTo>
                  <a:lnTo>
                    <a:pt x="126651" y="0"/>
                  </a:lnTo>
                  <a:lnTo>
                    <a:pt x="96297" y="0"/>
                  </a:lnTo>
                  <a:lnTo>
                    <a:pt x="96297" y="165481"/>
                  </a:lnTo>
                  <a:lnTo>
                    <a:pt x="25685" y="94869"/>
                  </a:lnTo>
                  <a:cubicBezTo>
                    <a:pt x="19717" y="88900"/>
                    <a:pt x="10192" y="88900"/>
                    <a:pt x="4222" y="94869"/>
                  </a:cubicBezTo>
                  <a:close/>
                </a:path>
              </a:pathLst>
            </a:custGeom>
            <a:solidFill>
              <a:srgbClr val="EF9C82"/>
            </a:solidFill>
          </p:spPr>
          <p:txBody>
            <a:bodyPr/>
            <a:lstStyle/>
            <a:p>
              <a:endParaRPr lang="en-IN"/>
            </a:p>
          </p:txBody>
        </p:sp>
      </p:grpSp>
      <p:sp>
        <p:nvSpPr>
          <p:cNvPr id="10" name="TextBox 10"/>
          <p:cNvSpPr txBox="1"/>
          <p:nvPr/>
        </p:nvSpPr>
        <p:spPr>
          <a:xfrm>
            <a:off x="470449" y="340052"/>
            <a:ext cx="2065239" cy="419824"/>
          </a:xfrm>
          <a:prstGeom prst="rect">
            <a:avLst/>
          </a:prstGeom>
        </p:spPr>
        <p:txBody>
          <a:bodyPr lIns="0" tIns="0" rIns="0" bIns="0" rtlCol="0" anchor="t">
            <a:spAutoFit/>
          </a:bodyPr>
          <a:lstStyle/>
          <a:p>
            <a:pPr algn="l">
              <a:lnSpc>
                <a:spcPts val="3486"/>
              </a:lnSpc>
            </a:pPr>
            <a:r>
              <a:rPr lang="en-US" sz="2490">
                <a:solidFill>
                  <a:srgbClr val="FFD9BE"/>
                </a:solidFill>
                <a:latin typeface="Quattrocento"/>
                <a:ea typeface="Quattrocento"/>
                <a:cs typeface="Quattrocento"/>
                <a:sym typeface="Quattrocento"/>
              </a:rPr>
              <a:t>Our Approach</a:t>
            </a:r>
          </a:p>
        </p:txBody>
      </p:sp>
      <p:sp>
        <p:nvSpPr>
          <p:cNvPr id="11" name="TextBox 11"/>
          <p:cNvSpPr txBox="1"/>
          <p:nvPr/>
        </p:nvSpPr>
        <p:spPr>
          <a:xfrm>
            <a:off x="902922" y="938670"/>
            <a:ext cx="32899" cy="196282"/>
          </a:xfrm>
          <a:prstGeom prst="rect">
            <a:avLst/>
          </a:prstGeom>
        </p:spPr>
        <p:txBody>
          <a:bodyPr lIns="0" tIns="0" rIns="0" bIns="0" rtlCol="0" anchor="t">
            <a:spAutoFit/>
          </a:bodyPr>
          <a:lstStyle/>
          <a:p>
            <a:pPr algn="l">
              <a:lnSpc>
                <a:spcPts val="1481"/>
              </a:lnSpc>
            </a:pPr>
            <a:r>
              <a:rPr lang="en-US" sz="1058">
                <a:solidFill>
                  <a:srgbClr val="F9EEE7"/>
                </a:solidFill>
                <a:latin typeface="Quattrocento"/>
                <a:ea typeface="Quattrocento"/>
                <a:cs typeface="Quattrocento"/>
                <a:sym typeface="Quattrocento"/>
              </a:rPr>
              <a:t> </a:t>
            </a:r>
          </a:p>
        </p:txBody>
      </p:sp>
      <p:sp>
        <p:nvSpPr>
          <p:cNvPr id="12" name="TextBox 12"/>
          <p:cNvSpPr txBox="1"/>
          <p:nvPr/>
        </p:nvSpPr>
        <p:spPr>
          <a:xfrm>
            <a:off x="470449" y="938670"/>
            <a:ext cx="10573455" cy="196282"/>
          </a:xfrm>
          <a:prstGeom prst="rect">
            <a:avLst/>
          </a:prstGeom>
        </p:spPr>
        <p:txBody>
          <a:bodyPr lIns="0" tIns="0" rIns="0" bIns="0" rtlCol="0" anchor="t">
            <a:spAutoFit/>
          </a:bodyPr>
          <a:lstStyle/>
          <a:p>
            <a:pPr algn="l">
              <a:lnSpc>
                <a:spcPts val="1481"/>
              </a:lnSpc>
            </a:pPr>
            <a:r>
              <a:rPr lang="en-US" sz="1058">
                <a:solidFill>
                  <a:srgbClr val="F9EEE7"/>
                </a:solidFill>
                <a:latin typeface="Quattrocento"/>
                <a:ea typeface="Quattrocento"/>
                <a:cs typeface="Quattrocento"/>
                <a:sym typeface="Quattrocento"/>
              </a:rPr>
              <a:t>FnomoYoungInvestorshiftsstudents from passive learning to active participation. Rather than studying financial theory in isolation, students engage with real market data, </a:t>
            </a:r>
          </a:p>
        </p:txBody>
      </p:sp>
      <p:sp>
        <p:nvSpPr>
          <p:cNvPr id="13" name="TextBox 13"/>
          <p:cNvSpPr txBox="1"/>
          <p:nvPr/>
        </p:nvSpPr>
        <p:spPr>
          <a:xfrm>
            <a:off x="470449" y="1119645"/>
            <a:ext cx="6546237" cy="196282"/>
          </a:xfrm>
          <a:prstGeom prst="rect">
            <a:avLst/>
          </a:prstGeom>
        </p:spPr>
        <p:txBody>
          <a:bodyPr lIns="0" tIns="0" rIns="0" bIns="0" rtlCol="0" anchor="t">
            <a:spAutoFit/>
          </a:bodyPr>
          <a:lstStyle/>
          <a:p>
            <a:pPr algn="l">
              <a:lnSpc>
                <a:spcPts val="1481"/>
              </a:lnSpc>
            </a:pPr>
            <a:r>
              <a:rPr lang="en-US" sz="1058">
                <a:solidFill>
                  <a:srgbClr val="F9EEE7"/>
                </a:solidFill>
                <a:latin typeface="Quattrocento"/>
                <a:ea typeface="Quattrocento"/>
                <a:cs typeface="Quattrocento"/>
                <a:sym typeface="Quattrocento"/>
              </a:rPr>
              <a:t>make real decisions, and experience real consequences — all within a structured, supervised environment.</a:t>
            </a:r>
          </a:p>
        </p:txBody>
      </p:sp>
      <p:sp>
        <p:nvSpPr>
          <p:cNvPr id="14" name="TextBox 14"/>
          <p:cNvSpPr txBox="1"/>
          <p:nvPr/>
        </p:nvSpPr>
        <p:spPr>
          <a:xfrm>
            <a:off x="2820962" y="4503287"/>
            <a:ext cx="754828"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Passive </a:t>
            </a:r>
          </a:p>
        </p:txBody>
      </p:sp>
      <p:sp>
        <p:nvSpPr>
          <p:cNvPr id="15" name="TextBox 15"/>
          <p:cNvSpPr txBox="1"/>
          <p:nvPr/>
        </p:nvSpPr>
        <p:spPr>
          <a:xfrm>
            <a:off x="2448754" y="4776054"/>
            <a:ext cx="1461792"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Understanding</a:t>
            </a:r>
          </a:p>
        </p:txBody>
      </p:sp>
      <p:sp>
        <p:nvSpPr>
          <p:cNvPr id="16" name="TextBox 16"/>
          <p:cNvSpPr txBox="1"/>
          <p:nvPr/>
        </p:nvSpPr>
        <p:spPr>
          <a:xfrm>
            <a:off x="3268123" y="5097285"/>
            <a:ext cx="44520"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 </a:t>
            </a:r>
          </a:p>
        </p:txBody>
      </p:sp>
      <p:sp>
        <p:nvSpPr>
          <p:cNvPr id="17" name="TextBox 17"/>
          <p:cNvSpPr txBox="1"/>
          <p:nvPr/>
        </p:nvSpPr>
        <p:spPr>
          <a:xfrm>
            <a:off x="5194725" y="1896856"/>
            <a:ext cx="1208875"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Transitional </a:t>
            </a:r>
          </a:p>
        </p:txBody>
      </p:sp>
      <p:sp>
        <p:nvSpPr>
          <p:cNvPr id="18" name="TextBox 18"/>
          <p:cNvSpPr txBox="1"/>
          <p:nvPr/>
        </p:nvSpPr>
        <p:spPr>
          <a:xfrm>
            <a:off x="5378301" y="2159518"/>
            <a:ext cx="782060"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Practice</a:t>
            </a:r>
          </a:p>
        </p:txBody>
      </p:sp>
      <p:sp>
        <p:nvSpPr>
          <p:cNvPr id="19" name="TextBox 19"/>
          <p:cNvSpPr txBox="1"/>
          <p:nvPr/>
        </p:nvSpPr>
        <p:spPr>
          <a:xfrm>
            <a:off x="5487295" y="2490854"/>
            <a:ext cx="44520"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 </a:t>
            </a:r>
          </a:p>
        </p:txBody>
      </p:sp>
      <p:sp>
        <p:nvSpPr>
          <p:cNvPr id="20" name="TextBox 20"/>
          <p:cNvSpPr txBox="1"/>
          <p:nvPr/>
        </p:nvSpPr>
        <p:spPr>
          <a:xfrm>
            <a:off x="8027984" y="4432573"/>
            <a:ext cx="663864"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Active </a:t>
            </a:r>
          </a:p>
        </p:txBody>
      </p:sp>
      <p:sp>
        <p:nvSpPr>
          <p:cNvPr id="21" name="TextBox 21"/>
          <p:cNvSpPr txBox="1"/>
          <p:nvPr/>
        </p:nvSpPr>
        <p:spPr>
          <a:xfrm>
            <a:off x="7716545" y="4705340"/>
            <a:ext cx="1246642" cy="289827"/>
          </a:xfrm>
          <a:prstGeom prst="rect">
            <a:avLst/>
          </a:prstGeom>
        </p:spPr>
        <p:txBody>
          <a:bodyPr lIns="0" tIns="0" rIns="0" bIns="0" rtlCol="0" anchor="t">
            <a:spAutoFit/>
          </a:bodyPr>
          <a:lstStyle/>
          <a:p>
            <a:pPr algn="l">
              <a:lnSpc>
                <a:spcPts val="2357"/>
              </a:lnSpc>
            </a:pPr>
            <a:r>
              <a:rPr lang="en-US" sz="1684">
                <a:solidFill>
                  <a:srgbClr val="FFD9BE"/>
                </a:solidFill>
                <a:latin typeface="Quattrocento"/>
                <a:ea typeface="Quattrocento"/>
                <a:cs typeface="Quattrocento"/>
                <a:sym typeface="Quattrocento"/>
              </a:rPr>
              <a:t>Participation</a:t>
            </a:r>
          </a:p>
        </p:txBody>
      </p:sp>
      <p:sp>
        <p:nvSpPr>
          <p:cNvPr id="22" name="TextBox 22"/>
          <p:cNvSpPr txBox="1"/>
          <p:nvPr/>
        </p:nvSpPr>
        <p:spPr>
          <a:xfrm>
            <a:off x="8362921" y="5026571"/>
            <a:ext cx="44520"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 </a:t>
            </a:r>
          </a:p>
        </p:txBody>
      </p:sp>
      <p:sp>
        <p:nvSpPr>
          <p:cNvPr id="23" name="TextBox 23"/>
          <p:cNvSpPr txBox="1"/>
          <p:nvPr/>
        </p:nvSpPr>
        <p:spPr>
          <a:xfrm>
            <a:off x="2450011" y="5097285"/>
            <a:ext cx="1459173"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Academic</a:t>
            </a:r>
            <a:r>
              <a:rPr lang="en-US" sz="1431">
                <a:solidFill>
                  <a:srgbClr val="000000"/>
                </a:solidFill>
                <a:latin typeface="Quattrocento"/>
                <a:ea typeface="Quattrocento"/>
                <a:cs typeface="Quattrocento"/>
                <a:sym typeface="Quattrocento"/>
              </a:rPr>
              <a:t> </a:t>
            </a:r>
            <a:r>
              <a:rPr lang="en-US" sz="1431">
                <a:solidFill>
                  <a:srgbClr val="F9EEE7"/>
                </a:solidFill>
                <a:latin typeface="Quattrocento"/>
                <a:ea typeface="Quattrocento"/>
                <a:cs typeface="Quattrocento"/>
                <a:sym typeface="Quattrocento"/>
              </a:rPr>
              <a:t>theory,</a:t>
            </a:r>
          </a:p>
        </p:txBody>
      </p:sp>
      <p:sp>
        <p:nvSpPr>
          <p:cNvPr id="24" name="TextBox 24"/>
          <p:cNvSpPr txBox="1"/>
          <p:nvPr/>
        </p:nvSpPr>
        <p:spPr>
          <a:xfrm>
            <a:off x="2394918" y="5299339"/>
            <a:ext cx="1571568"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limited application</a:t>
            </a:r>
          </a:p>
        </p:txBody>
      </p:sp>
      <p:sp>
        <p:nvSpPr>
          <p:cNvPr id="25" name="TextBox 25"/>
          <p:cNvSpPr txBox="1"/>
          <p:nvPr/>
        </p:nvSpPr>
        <p:spPr>
          <a:xfrm>
            <a:off x="4886125" y="2490854"/>
            <a:ext cx="1830734"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Guidedexercisesand </a:t>
            </a:r>
          </a:p>
        </p:txBody>
      </p:sp>
      <p:sp>
        <p:nvSpPr>
          <p:cNvPr id="26" name="TextBox 26"/>
          <p:cNvSpPr txBox="1"/>
          <p:nvPr/>
        </p:nvSpPr>
        <p:spPr>
          <a:xfrm>
            <a:off x="5269544" y="2682802"/>
            <a:ext cx="1003821"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case studies</a:t>
            </a:r>
          </a:p>
        </p:txBody>
      </p:sp>
      <p:sp>
        <p:nvSpPr>
          <p:cNvPr id="27" name="TextBox 27"/>
          <p:cNvSpPr txBox="1"/>
          <p:nvPr/>
        </p:nvSpPr>
        <p:spPr>
          <a:xfrm>
            <a:off x="7447883" y="5026571"/>
            <a:ext cx="1839430"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Real-worldexposure, </a:t>
            </a:r>
          </a:p>
        </p:txBody>
      </p:sp>
      <p:sp>
        <p:nvSpPr>
          <p:cNvPr id="28" name="TextBox 28"/>
          <p:cNvSpPr txBox="1"/>
          <p:nvPr/>
        </p:nvSpPr>
        <p:spPr>
          <a:xfrm>
            <a:off x="7651356" y="5228625"/>
            <a:ext cx="1379601" cy="252127"/>
          </a:xfrm>
          <a:prstGeom prst="rect">
            <a:avLst/>
          </a:prstGeom>
        </p:spPr>
        <p:txBody>
          <a:bodyPr lIns="0" tIns="0" rIns="0" bIns="0" rtlCol="0" anchor="t">
            <a:spAutoFit/>
          </a:bodyPr>
          <a:lstStyle/>
          <a:p>
            <a:pPr algn="l">
              <a:lnSpc>
                <a:spcPts val="2004"/>
              </a:lnSpc>
            </a:pPr>
            <a:r>
              <a:rPr lang="en-US" sz="1431">
                <a:solidFill>
                  <a:srgbClr val="F9EEE7"/>
                </a:solidFill>
                <a:latin typeface="Quattrocento"/>
                <a:ea typeface="Quattrocento"/>
                <a:cs typeface="Quattrocento"/>
                <a:sym typeface="Quattrocento"/>
              </a:rPr>
              <a:t>outcome-driven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7143750" y="9525"/>
            <a:ext cx="4286250" cy="6429375"/>
            <a:chOff x="0" y="0"/>
            <a:chExt cx="5715000" cy="8572500"/>
          </a:xfrm>
        </p:grpSpPr>
        <p:sp>
          <p:nvSpPr>
            <p:cNvPr id="6" name="Freeform 6"/>
            <p:cNvSpPr/>
            <p:nvPr/>
          </p:nvSpPr>
          <p:spPr>
            <a:xfrm>
              <a:off x="0" y="0"/>
              <a:ext cx="5715000" cy="8572500"/>
            </a:xfrm>
            <a:custGeom>
              <a:avLst/>
              <a:gdLst/>
              <a:ahLst/>
              <a:cxnLst/>
              <a:rect l="l" t="t" r="r" b="b"/>
              <a:pathLst>
                <a:path w="5715000" h="8572500">
                  <a:moveTo>
                    <a:pt x="0" y="0"/>
                  </a:moveTo>
                  <a:lnTo>
                    <a:pt x="5715000" y="0"/>
                  </a:lnTo>
                  <a:lnTo>
                    <a:pt x="5715000" y="8572500"/>
                  </a:lnTo>
                  <a:lnTo>
                    <a:pt x="0" y="8572500"/>
                  </a:lnTo>
                  <a:lnTo>
                    <a:pt x="0" y="0"/>
                  </a:lnTo>
                  <a:close/>
                </a:path>
              </a:pathLst>
            </a:custGeom>
            <a:blipFill>
              <a:blip r:embed="rId2"/>
              <a:stretch>
                <a:fillRect/>
              </a:stretch>
            </a:blipFill>
          </p:spPr>
          <p:txBody>
            <a:bodyPr/>
            <a:lstStyle/>
            <a:p>
              <a:endParaRPr lang="en-IN"/>
            </a:p>
          </p:txBody>
        </p:sp>
      </p:grpSp>
      <p:grpSp>
        <p:nvGrpSpPr>
          <p:cNvPr id="7" name="Group 7"/>
          <p:cNvGrpSpPr/>
          <p:nvPr/>
        </p:nvGrpSpPr>
        <p:grpSpPr>
          <a:xfrm>
            <a:off x="600075" y="1933575"/>
            <a:ext cx="390525" cy="390525"/>
            <a:chOff x="0" y="0"/>
            <a:chExt cx="390525" cy="390525"/>
          </a:xfrm>
        </p:grpSpPr>
        <p:sp>
          <p:nvSpPr>
            <p:cNvPr id="8" name="Freeform 8"/>
            <p:cNvSpPr/>
            <p:nvPr/>
          </p:nvSpPr>
          <p:spPr>
            <a:xfrm>
              <a:off x="0" y="0"/>
              <a:ext cx="390525" cy="390525"/>
            </a:xfrm>
            <a:custGeom>
              <a:avLst/>
              <a:gdLst/>
              <a:ahLst/>
              <a:cxnLst/>
              <a:rect l="l" t="t" r="r" b="b"/>
              <a:pathLst>
                <a:path w="390525" h="390525">
                  <a:moveTo>
                    <a:pt x="0" y="368935"/>
                  </a:moveTo>
                  <a:lnTo>
                    <a:pt x="0" y="21590"/>
                  </a:lnTo>
                  <a:cubicBezTo>
                    <a:pt x="0" y="18669"/>
                    <a:pt x="508" y="16002"/>
                    <a:pt x="1651" y="13335"/>
                  </a:cubicBezTo>
                  <a:cubicBezTo>
                    <a:pt x="2794" y="10668"/>
                    <a:pt x="4318" y="8382"/>
                    <a:pt x="6350" y="6350"/>
                  </a:cubicBezTo>
                  <a:cubicBezTo>
                    <a:pt x="8382" y="4318"/>
                    <a:pt x="10668" y="2667"/>
                    <a:pt x="13335" y="1651"/>
                  </a:cubicBezTo>
                  <a:cubicBezTo>
                    <a:pt x="16002" y="635"/>
                    <a:pt x="18669" y="0"/>
                    <a:pt x="21590" y="0"/>
                  </a:cubicBezTo>
                  <a:lnTo>
                    <a:pt x="368935" y="0"/>
                  </a:lnTo>
                  <a:cubicBezTo>
                    <a:pt x="371729" y="0"/>
                    <a:pt x="374523" y="508"/>
                    <a:pt x="377190" y="1651"/>
                  </a:cubicBezTo>
                  <a:cubicBezTo>
                    <a:pt x="379857" y="2794"/>
                    <a:pt x="382143" y="4318"/>
                    <a:pt x="384175" y="6350"/>
                  </a:cubicBezTo>
                  <a:cubicBezTo>
                    <a:pt x="386207" y="8382"/>
                    <a:pt x="387731" y="10668"/>
                    <a:pt x="388874" y="13335"/>
                  </a:cubicBezTo>
                  <a:cubicBezTo>
                    <a:pt x="390017" y="16002"/>
                    <a:pt x="390525" y="18669"/>
                    <a:pt x="390525" y="21590"/>
                  </a:cubicBezTo>
                  <a:lnTo>
                    <a:pt x="390525" y="368935"/>
                  </a:lnTo>
                  <a:cubicBezTo>
                    <a:pt x="390525" y="371729"/>
                    <a:pt x="390017" y="374523"/>
                    <a:pt x="388874" y="377190"/>
                  </a:cubicBezTo>
                  <a:cubicBezTo>
                    <a:pt x="387731" y="379857"/>
                    <a:pt x="386207" y="382143"/>
                    <a:pt x="384175" y="384175"/>
                  </a:cubicBezTo>
                  <a:cubicBezTo>
                    <a:pt x="382143" y="386207"/>
                    <a:pt x="379857" y="387731"/>
                    <a:pt x="377190" y="388874"/>
                  </a:cubicBezTo>
                  <a:cubicBezTo>
                    <a:pt x="374523" y="390017"/>
                    <a:pt x="371856" y="390525"/>
                    <a:pt x="368935" y="390525"/>
                  </a:cubicBezTo>
                  <a:lnTo>
                    <a:pt x="21590" y="390525"/>
                  </a:lnTo>
                  <a:cubicBezTo>
                    <a:pt x="18796" y="390525"/>
                    <a:pt x="16002" y="390017"/>
                    <a:pt x="13335" y="388874"/>
                  </a:cubicBezTo>
                  <a:cubicBezTo>
                    <a:pt x="10668" y="387731"/>
                    <a:pt x="8382" y="386207"/>
                    <a:pt x="6350" y="384175"/>
                  </a:cubicBezTo>
                  <a:cubicBezTo>
                    <a:pt x="4318" y="382143"/>
                    <a:pt x="2794" y="379857"/>
                    <a:pt x="1651" y="377190"/>
                  </a:cubicBezTo>
                  <a:cubicBezTo>
                    <a:pt x="508" y="374523"/>
                    <a:pt x="0" y="371856"/>
                    <a:pt x="0" y="368935"/>
                  </a:cubicBezTo>
                </a:path>
              </a:pathLst>
            </a:custGeom>
            <a:solidFill>
              <a:srgbClr val="315251"/>
            </a:solidFill>
          </p:spPr>
          <p:txBody>
            <a:bodyPr/>
            <a:lstStyle/>
            <a:p>
              <a:endParaRPr lang="en-IN"/>
            </a:p>
          </p:txBody>
        </p:sp>
      </p:grpSp>
      <p:grpSp>
        <p:nvGrpSpPr>
          <p:cNvPr id="9" name="Group 9"/>
          <p:cNvGrpSpPr/>
          <p:nvPr/>
        </p:nvGrpSpPr>
        <p:grpSpPr>
          <a:xfrm>
            <a:off x="600075" y="5019675"/>
            <a:ext cx="390525" cy="390525"/>
            <a:chOff x="0" y="0"/>
            <a:chExt cx="390525" cy="390525"/>
          </a:xfrm>
        </p:grpSpPr>
        <p:sp>
          <p:nvSpPr>
            <p:cNvPr id="10" name="Freeform 10"/>
            <p:cNvSpPr/>
            <p:nvPr/>
          </p:nvSpPr>
          <p:spPr>
            <a:xfrm>
              <a:off x="0" y="0"/>
              <a:ext cx="390525" cy="390524"/>
            </a:xfrm>
            <a:custGeom>
              <a:avLst/>
              <a:gdLst/>
              <a:ahLst/>
              <a:cxnLst/>
              <a:rect l="l" t="t" r="r" b="b"/>
              <a:pathLst>
                <a:path w="390525" h="390524">
                  <a:moveTo>
                    <a:pt x="0" y="368934"/>
                  </a:moveTo>
                  <a:lnTo>
                    <a:pt x="0" y="21590"/>
                  </a:lnTo>
                  <a:cubicBezTo>
                    <a:pt x="0" y="18669"/>
                    <a:pt x="508" y="16002"/>
                    <a:pt x="1651" y="13335"/>
                  </a:cubicBezTo>
                  <a:cubicBezTo>
                    <a:pt x="2794" y="10668"/>
                    <a:pt x="4318" y="8382"/>
                    <a:pt x="6350" y="6350"/>
                  </a:cubicBezTo>
                  <a:cubicBezTo>
                    <a:pt x="8382" y="4318"/>
                    <a:pt x="10668" y="2667"/>
                    <a:pt x="13335" y="1651"/>
                  </a:cubicBezTo>
                  <a:cubicBezTo>
                    <a:pt x="16002" y="635"/>
                    <a:pt x="18669" y="0"/>
                    <a:pt x="21590" y="0"/>
                  </a:cubicBezTo>
                  <a:lnTo>
                    <a:pt x="368935" y="0"/>
                  </a:lnTo>
                  <a:cubicBezTo>
                    <a:pt x="371729" y="0"/>
                    <a:pt x="374523" y="508"/>
                    <a:pt x="377190" y="1651"/>
                  </a:cubicBezTo>
                  <a:cubicBezTo>
                    <a:pt x="379857" y="2794"/>
                    <a:pt x="382143" y="4318"/>
                    <a:pt x="384175" y="6350"/>
                  </a:cubicBezTo>
                  <a:cubicBezTo>
                    <a:pt x="386207" y="8382"/>
                    <a:pt x="387731" y="10668"/>
                    <a:pt x="388874" y="13335"/>
                  </a:cubicBezTo>
                  <a:cubicBezTo>
                    <a:pt x="390017" y="16002"/>
                    <a:pt x="390525" y="18669"/>
                    <a:pt x="390525" y="21590"/>
                  </a:cubicBezTo>
                  <a:lnTo>
                    <a:pt x="390525" y="368934"/>
                  </a:lnTo>
                  <a:cubicBezTo>
                    <a:pt x="390525" y="371728"/>
                    <a:pt x="390017" y="374522"/>
                    <a:pt x="388874" y="377189"/>
                  </a:cubicBezTo>
                  <a:cubicBezTo>
                    <a:pt x="387731" y="379856"/>
                    <a:pt x="386207" y="382142"/>
                    <a:pt x="384175" y="384174"/>
                  </a:cubicBezTo>
                  <a:cubicBezTo>
                    <a:pt x="382143" y="386206"/>
                    <a:pt x="379857" y="387730"/>
                    <a:pt x="377190" y="388873"/>
                  </a:cubicBezTo>
                  <a:cubicBezTo>
                    <a:pt x="374523" y="390016"/>
                    <a:pt x="371856" y="390524"/>
                    <a:pt x="368935" y="390524"/>
                  </a:cubicBezTo>
                  <a:lnTo>
                    <a:pt x="21590" y="390524"/>
                  </a:lnTo>
                  <a:cubicBezTo>
                    <a:pt x="18796" y="390524"/>
                    <a:pt x="16002" y="390016"/>
                    <a:pt x="13335" y="388873"/>
                  </a:cubicBezTo>
                  <a:cubicBezTo>
                    <a:pt x="10668" y="387730"/>
                    <a:pt x="8382" y="386206"/>
                    <a:pt x="6350" y="384174"/>
                  </a:cubicBezTo>
                  <a:cubicBezTo>
                    <a:pt x="4318" y="382142"/>
                    <a:pt x="2794" y="379856"/>
                    <a:pt x="1651" y="377189"/>
                  </a:cubicBezTo>
                  <a:cubicBezTo>
                    <a:pt x="508" y="374522"/>
                    <a:pt x="0" y="371855"/>
                    <a:pt x="0" y="368934"/>
                  </a:cubicBezTo>
                </a:path>
              </a:pathLst>
            </a:custGeom>
            <a:solidFill>
              <a:srgbClr val="315251"/>
            </a:solidFill>
          </p:spPr>
          <p:txBody>
            <a:bodyPr/>
            <a:lstStyle/>
            <a:p>
              <a:endParaRPr lang="en-IN"/>
            </a:p>
          </p:txBody>
        </p:sp>
      </p:grpSp>
      <p:grpSp>
        <p:nvGrpSpPr>
          <p:cNvPr id="11" name="Group 11"/>
          <p:cNvGrpSpPr/>
          <p:nvPr/>
        </p:nvGrpSpPr>
        <p:grpSpPr>
          <a:xfrm>
            <a:off x="3667125" y="1933575"/>
            <a:ext cx="390525" cy="390525"/>
            <a:chOff x="0" y="0"/>
            <a:chExt cx="390525" cy="390525"/>
          </a:xfrm>
        </p:grpSpPr>
        <p:sp>
          <p:nvSpPr>
            <p:cNvPr id="12" name="Freeform 12"/>
            <p:cNvSpPr/>
            <p:nvPr/>
          </p:nvSpPr>
          <p:spPr>
            <a:xfrm>
              <a:off x="0" y="0"/>
              <a:ext cx="390525" cy="390525"/>
            </a:xfrm>
            <a:custGeom>
              <a:avLst/>
              <a:gdLst/>
              <a:ahLst/>
              <a:cxnLst/>
              <a:rect l="l" t="t" r="r" b="b"/>
              <a:pathLst>
                <a:path w="390525" h="390525">
                  <a:moveTo>
                    <a:pt x="0" y="368935"/>
                  </a:moveTo>
                  <a:lnTo>
                    <a:pt x="0" y="21590"/>
                  </a:lnTo>
                  <a:cubicBezTo>
                    <a:pt x="0" y="18669"/>
                    <a:pt x="508" y="16002"/>
                    <a:pt x="1651" y="13335"/>
                  </a:cubicBezTo>
                  <a:cubicBezTo>
                    <a:pt x="2794" y="10668"/>
                    <a:pt x="4318" y="8382"/>
                    <a:pt x="6350" y="6350"/>
                  </a:cubicBezTo>
                  <a:cubicBezTo>
                    <a:pt x="8382" y="4318"/>
                    <a:pt x="10668" y="2667"/>
                    <a:pt x="13335" y="1651"/>
                  </a:cubicBezTo>
                  <a:cubicBezTo>
                    <a:pt x="16002" y="635"/>
                    <a:pt x="18669" y="0"/>
                    <a:pt x="21590" y="0"/>
                  </a:cubicBezTo>
                  <a:lnTo>
                    <a:pt x="368935" y="0"/>
                  </a:lnTo>
                  <a:cubicBezTo>
                    <a:pt x="371856" y="0"/>
                    <a:pt x="374523" y="508"/>
                    <a:pt x="377190" y="1651"/>
                  </a:cubicBezTo>
                  <a:cubicBezTo>
                    <a:pt x="379857" y="2794"/>
                    <a:pt x="382143" y="4318"/>
                    <a:pt x="384175" y="6350"/>
                  </a:cubicBezTo>
                  <a:cubicBezTo>
                    <a:pt x="386207" y="8382"/>
                    <a:pt x="387731" y="10668"/>
                    <a:pt x="388874" y="13335"/>
                  </a:cubicBezTo>
                  <a:cubicBezTo>
                    <a:pt x="390017" y="16002"/>
                    <a:pt x="390525" y="18669"/>
                    <a:pt x="390525" y="21590"/>
                  </a:cubicBezTo>
                  <a:lnTo>
                    <a:pt x="390525" y="368935"/>
                  </a:lnTo>
                  <a:cubicBezTo>
                    <a:pt x="390525" y="371729"/>
                    <a:pt x="390017" y="374523"/>
                    <a:pt x="388874" y="377190"/>
                  </a:cubicBezTo>
                  <a:cubicBezTo>
                    <a:pt x="387731" y="379857"/>
                    <a:pt x="386207" y="382143"/>
                    <a:pt x="384175" y="384175"/>
                  </a:cubicBezTo>
                  <a:cubicBezTo>
                    <a:pt x="382143" y="386207"/>
                    <a:pt x="379857" y="387731"/>
                    <a:pt x="377190" y="388874"/>
                  </a:cubicBezTo>
                  <a:cubicBezTo>
                    <a:pt x="374523" y="390017"/>
                    <a:pt x="371856" y="390525"/>
                    <a:pt x="368935" y="390525"/>
                  </a:cubicBezTo>
                  <a:lnTo>
                    <a:pt x="21590" y="390525"/>
                  </a:lnTo>
                  <a:cubicBezTo>
                    <a:pt x="18796" y="390525"/>
                    <a:pt x="16002" y="390017"/>
                    <a:pt x="13335" y="388874"/>
                  </a:cubicBezTo>
                  <a:cubicBezTo>
                    <a:pt x="10668" y="387731"/>
                    <a:pt x="8382" y="386207"/>
                    <a:pt x="6350" y="384175"/>
                  </a:cubicBezTo>
                  <a:cubicBezTo>
                    <a:pt x="4318" y="382143"/>
                    <a:pt x="2794" y="379857"/>
                    <a:pt x="1651" y="377190"/>
                  </a:cubicBezTo>
                  <a:cubicBezTo>
                    <a:pt x="508" y="374523"/>
                    <a:pt x="0" y="371856"/>
                    <a:pt x="0" y="368935"/>
                  </a:cubicBezTo>
                </a:path>
              </a:pathLst>
            </a:custGeom>
            <a:solidFill>
              <a:srgbClr val="315251"/>
            </a:solidFill>
          </p:spPr>
          <p:txBody>
            <a:bodyPr/>
            <a:lstStyle/>
            <a:p>
              <a:endParaRPr lang="en-IN"/>
            </a:p>
          </p:txBody>
        </p:sp>
      </p:grpSp>
      <p:sp>
        <p:nvSpPr>
          <p:cNvPr id="13" name="TextBox 13"/>
          <p:cNvSpPr txBox="1"/>
          <p:nvPr/>
        </p:nvSpPr>
        <p:spPr>
          <a:xfrm>
            <a:off x="602942" y="423129"/>
            <a:ext cx="5657783" cy="544039"/>
          </a:xfrm>
          <a:prstGeom prst="rect">
            <a:avLst/>
          </a:prstGeom>
        </p:spPr>
        <p:txBody>
          <a:bodyPr lIns="0" tIns="0" rIns="0" bIns="0" rtlCol="0" anchor="t">
            <a:spAutoFit/>
          </a:bodyPr>
          <a:lstStyle/>
          <a:p>
            <a:pPr algn="l">
              <a:lnSpc>
                <a:spcPts val="4470"/>
              </a:lnSpc>
            </a:pPr>
            <a:r>
              <a:rPr lang="en-US" sz="3193">
                <a:solidFill>
                  <a:srgbClr val="FFD9BE"/>
                </a:solidFill>
                <a:latin typeface="Quattrocento"/>
                <a:ea typeface="Quattrocento"/>
                <a:cs typeface="Quattrocento"/>
                <a:sym typeface="Quattrocento"/>
              </a:rPr>
              <a:t>Why This Matters for Students</a:t>
            </a:r>
          </a:p>
        </p:txBody>
      </p:sp>
      <p:sp>
        <p:nvSpPr>
          <p:cNvPr id="14" name="TextBox 14"/>
          <p:cNvSpPr txBox="1"/>
          <p:nvPr/>
        </p:nvSpPr>
        <p:spPr>
          <a:xfrm>
            <a:off x="1287208" y="1209932"/>
            <a:ext cx="42205" cy="241021"/>
          </a:xfrm>
          <a:prstGeom prst="rect">
            <a:avLst/>
          </a:prstGeom>
        </p:spPr>
        <p:txBody>
          <a:bodyPr lIns="0" tIns="0" rIns="0" bIns="0" rtlCol="0" anchor="t">
            <a:spAutoFit/>
          </a:bodyPr>
          <a:lstStyle/>
          <a:p>
            <a:pPr algn="l">
              <a:lnSpc>
                <a:spcPts val="1900"/>
              </a:lnSpc>
            </a:pPr>
            <a:r>
              <a:rPr lang="en-US" sz="1357">
                <a:solidFill>
                  <a:srgbClr val="F9EEE7"/>
                </a:solidFill>
                <a:latin typeface="Quattrocento"/>
                <a:ea typeface="Quattrocento"/>
                <a:cs typeface="Quattrocento"/>
                <a:sym typeface="Quattrocento"/>
              </a:rPr>
              <a:t> </a:t>
            </a:r>
          </a:p>
        </p:txBody>
      </p:sp>
      <p:sp>
        <p:nvSpPr>
          <p:cNvPr id="15" name="TextBox 15"/>
          <p:cNvSpPr txBox="1"/>
          <p:nvPr/>
        </p:nvSpPr>
        <p:spPr>
          <a:xfrm>
            <a:off x="1149991" y="2819657"/>
            <a:ext cx="2323528" cy="1841221"/>
          </a:xfrm>
          <a:prstGeom prst="rect">
            <a:avLst/>
          </a:prstGeom>
        </p:spPr>
        <p:txBody>
          <a:bodyPr lIns="0" tIns="0" rIns="0" bIns="0" rtlCol="0" anchor="t">
            <a:spAutoFit/>
          </a:bodyPr>
          <a:lstStyle/>
          <a:p>
            <a:pPr algn="l">
              <a:lnSpc>
                <a:spcPts val="2070"/>
              </a:lnSpc>
            </a:pPr>
            <a:r>
              <a:rPr lang="en-US" sz="1357">
                <a:solidFill>
                  <a:srgbClr val="F9EEE7"/>
                </a:solidFill>
                <a:latin typeface="Quattrocento"/>
                <a:ea typeface="Quattrocento"/>
                <a:cs typeface="Quattrocento"/>
                <a:sym typeface="Quattrocento"/>
              </a:rPr>
              <a:t>Students learn enduring principles that compound over a lifetime. These aren't academic concepts — they're frameworks that will guide </a:t>
            </a:r>
          </a:p>
          <a:p>
            <a:pPr algn="l">
              <a:lnSpc>
                <a:spcPts val="2249"/>
              </a:lnSpc>
            </a:pPr>
            <a:r>
              <a:rPr lang="en-US" sz="1357">
                <a:solidFill>
                  <a:srgbClr val="F9EEE7"/>
                </a:solidFill>
                <a:latin typeface="Quattrocento"/>
                <a:ea typeface="Quattrocento"/>
                <a:cs typeface="Quattrocento"/>
                <a:sym typeface="Quattrocento"/>
              </a:rPr>
              <a:t>financial decisions for </a:t>
            </a:r>
          </a:p>
          <a:p>
            <a:pPr algn="l">
              <a:lnSpc>
                <a:spcPts val="1949"/>
              </a:lnSpc>
            </a:pPr>
            <a:r>
              <a:rPr lang="en-US" sz="1357">
                <a:solidFill>
                  <a:srgbClr val="F9EEE7"/>
                </a:solidFill>
                <a:latin typeface="Quattrocento"/>
                <a:ea typeface="Quattrocento"/>
                <a:cs typeface="Quattrocento"/>
                <a:sym typeface="Quattrocento"/>
              </a:rPr>
              <a:t>decades to come.</a:t>
            </a:r>
          </a:p>
        </p:txBody>
      </p:sp>
      <p:sp>
        <p:nvSpPr>
          <p:cNvPr id="16" name="TextBox 16"/>
          <p:cNvSpPr txBox="1"/>
          <p:nvPr/>
        </p:nvSpPr>
        <p:spPr>
          <a:xfrm>
            <a:off x="4217784" y="2552957"/>
            <a:ext cx="2298783" cy="1326871"/>
          </a:xfrm>
          <a:prstGeom prst="rect">
            <a:avLst/>
          </a:prstGeom>
        </p:spPr>
        <p:txBody>
          <a:bodyPr lIns="0" tIns="0" rIns="0" bIns="0" rtlCol="0" anchor="t">
            <a:spAutoFit/>
          </a:bodyPr>
          <a:lstStyle/>
          <a:p>
            <a:pPr algn="just">
              <a:lnSpc>
                <a:spcPts val="2100"/>
              </a:lnSpc>
            </a:pPr>
            <a:r>
              <a:rPr lang="en-US" sz="1357">
                <a:solidFill>
                  <a:srgbClr val="F9EEE7"/>
                </a:solidFill>
                <a:latin typeface="Quattrocento"/>
                <a:ea typeface="Quattrocento"/>
                <a:cs typeface="Quattrocento"/>
                <a:sym typeface="Quattrocento"/>
              </a:rPr>
              <a:t>Students connect with peers globally, gain exposure to diverse perspectives, and build networks that extend far beyond their institution.</a:t>
            </a:r>
          </a:p>
        </p:txBody>
      </p:sp>
      <p:sp>
        <p:nvSpPr>
          <p:cNvPr id="17" name="TextBox 17"/>
          <p:cNvSpPr txBox="1"/>
          <p:nvPr/>
        </p:nvSpPr>
        <p:spPr>
          <a:xfrm>
            <a:off x="603352" y="1209932"/>
            <a:ext cx="6049870" cy="241021"/>
          </a:xfrm>
          <a:prstGeom prst="rect">
            <a:avLst/>
          </a:prstGeom>
        </p:spPr>
        <p:txBody>
          <a:bodyPr lIns="0" tIns="0" rIns="0" bIns="0" rtlCol="0" anchor="t">
            <a:spAutoFit/>
          </a:bodyPr>
          <a:lstStyle/>
          <a:p>
            <a:pPr algn="l">
              <a:lnSpc>
                <a:spcPts val="1900"/>
              </a:lnSpc>
            </a:pPr>
            <a:r>
              <a:rPr lang="en-US" sz="1357">
                <a:solidFill>
                  <a:srgbClr val="F9EEE7"/>
                </a:solidFill>
                <a:latin typeface="Quattrocento"/>
                <a:ea typeface="Quattrocento"/>
                <a:cs typeface="Quattrocento"/>
                <a:sym typeface="Quattrocento"/>
              </a:rPr>
              <a:t>Studentswho receive financialeducationare5xmorelikelytofeelprepared </a:t>
            </a:r>
          </a:p>
        </p:txBody>
      </p:sp>
      <p:sp>
        <p:nvSpPr>
          <p:cNvPr id="18" name="TextBox 18"/>
          <p:cNvSpPr txBox="1"/>
          <p:nvPr/>
        </p:nvSpPr>
        <p:spPr>
          <a:xfrm>
            <a:off x="603352" y="1467107"/>
            <a:ext cx="2829354" cy="241021"/>
          </a:xfrm>
          <a:prstGeom prst="rect">
            <a:avLst/>
          </a:prstGeom>
        </p:spPr>
        <p:txBody>
          <a:bodyPr lIns="0" tIns="0" rIns="0" bIns="0" rtlCol="0" anchor="t">
            <a:spAutoFit/>
          </a:bodyPr>
          <a:lstStyle/>
          <a:p>
            <a:pPr algn="l">
              <a:lnSpc>
                <a:spcPts val="1900"/>
              </a:lnSpc>
            </a:pPr>
            <a:r>
              <a:rPr lang="en-US" sz="1357">
                <a:solidFill>
                  <a:srgbClr val="F9EEE7"/>
                </a:solidFill>
                <a:latin typeface="Quattrocento"/>
                <a:ea typeface="Quattrocento"/>
                <a:cs typeface="Quattrocento"/>
                <a:sym typeface="Quattrocento"/>
              </a:rPr>
              <a:t>for real-world money management.</a:t>
            </a:r>
          </a:p>
        </p:txBody>
      </p:sp>
      <p:sp>
        <p:nvSpPr>
          <p:cNvPr id="19" name="TextBox 19"/>
          <p:cNvSpPr txBox="1"/>
          <p:nvPr/>
        </p:nvSpPr>
        <p:spPr>
          <a:xfrm>
            <a:off x="1149991" y="5391407"/>
            <a:ext cx="5403028" cy="526771"/>
          </a:xfrm>
          <a:prstGeom prst="rect">
            <a:avLst/>
          </a:prstGeom>
        </p:spPr>
        <p:txBody>
          <a:bodyPr lIns="0" tIns="0" rIns="0" bIns="0" rtlCol="0" anchor="t">
            <a:spAutoFit/>
          </a:bodyPr>
          <a:lstStyle/>
          <a:p>
            <a:pPr algn="l">
              <a:lnSpc>
                <a:spcPts val="2100"/>
              </a:lnSpc>
            </a:pPr>
            <a:r>
              <a:rPr lang="en-US" sz="1357">
                <a:solidFill>
                  <a:srgbClr val="F9EEE7"/>
                </a:solidFill>
                <a:latin typeface="Quattrocento"/>
                <a:ea typeface="Quattrocento"/>
                <a:cs typeface="Quattrocento"/>
                <a:sym typeface="Quattrocento"/>
              </a:rPr>
              <a:t>Students can compete on a global stage, earning recognition for real financial thinking and achievement.</a:t>
            </a:r>
          </a:p>
        </p:txBody>
      </p:sp>
      <p:sp>
        <p:nvSpPr>
          <p:cNvPr id="20" name="TextBox 20"/>
          <p:cNvSpPr txBox="1"/>
          <p:nvPr/>
        </p:nvSpPr>
        <p:spPr>
          <a:xfrm>
            <a:off x="730968" y="5024276"/>
            <a:ext cx="135036" cy="334061"/>
          </a:xfrm>
          <a:prstGeom prst="rect">
            <a:avLst/>
          </a:prstGeom>
        </p:spPr>
        <p:txBody>
          <a:bodyPr lIns="0" tIns="0" rIns="0" bIns="0" rtlCol="0" anchor="t">
            <a:spAutoFit/>
          </a:bodyPr>
          <a:lstStyle/>
          <a:p>
            <a:pPr algn="l">
              <a:lnSpc>
                <a:spcPts val="2682"/>
              </a:lnSpc>
            </a:pPr>
            <a:r>
              <a:rPr lang="en-US" sz="1916">
                <a:solidFill>
                  <a:srgbClr val="F9EEE7"/>
                </a:solidFill>
                <a:latin typeface="Quattrocento"/>
                <a:ea typeface="Quattrocento"/>
                <a:cs typeface="Quattrocento"/>
                <a:sym typeface="Quattrocento"/>
              </a:rPr>
              <a:t>3</a:t>
            </a:r>
          </a:p>
        </p:txBody>
      </p:sp>
      <p:sp>
        <p:nvSpPr>
          <p:cNvPr id="21" name="TextBox 21"/>
          <p:cNvSpPr txBox="1"/>
          <p:nvPr/>
        </p:nvSpPr>
        <p:spPr>
          <a:xfrm>
            <a:off x="754190" y="1938185"/>
            <a:ext cx="87878" cy="334061"/>
          </a:xfrm>
          <a:prstGeom prst="rect">
            <a:avLst/>
          </a:prstGeom>
        </p:spPr>
        <p:txBody>
          <a:bodyPr lIns="0" tIns="0" rIns="0" bIns="0" rtlCol="0" anchor="t">
            <a:spAutoFit/>
          </a:bodyPr>
          <a:lstStyle/>
          <a:p>
            <a:pPr algn="l">
              <a:lnSpc>
                <a:spcPts val="2682"/>
              </a:lnSpc>
            </a:pPr>
            <a:r>
              <a:rPr lang="en-US" sz="1916">
                <a:solidFill>
                  <a:srgbClr val="F9EEE7"/>
                </a:solidFill>
                <a:latin typeface="Quattrocento"/>
                <a:ea typeface="Quattrocento"/>
                <a:cs typeface="Quattrocento"/>
                <a:sym typeface="Quattrocento"/>
              </a:rPr>
              <a:t>1</a:t>
            </a:r>
          </a:p>
        </p:txBody>
      </p:sp>
      <p:sp>
        <p:nvSpPr>
          <p:cNvPr id="22" name="TextBox 22"/>
          <p:cNvSpPr txBox="1"/>
          <p:nvPr/>
        </p:nvSpPr>
        <p:spPr>
          <a:xfrm>
            <a:off x="3799799" y="1938185"/>
            <a:ext cx="133055" cy="334061"/>
          </a:xfrm>
          <a:prstGeom prst="rect">
            <a:avLst/>
          </a:prstGeom>
        </p:spPr>
        <p:txBody>
          <a:bodyPr lIns="0" tIns="0" rIns="0" bIns="0" rtlCol="0" anchor="t">
            <a:spAutoFit/>
          </a:bodyPr>
          <a:lstStyle/>
          <a:p>
            <a:pPr algn="l">
              <a:lnSpc>
                <a:spcPts val="2682"/>
              </a:lnSpc>
            </a:pPr>
            <a:r>
              <a:rPr lang="en-US" sz="1916">
                <a:solidFill>
                  <a:srgbClr val="F9EEE7"/>
                </a:solidFill>
                <a:latin typeface="Quattrocento"/>
                <a:ea typeface="Quattrocento"/>
                <a:cs typeface="Quattrocento"/>
                <a:sym typeface="Quattrocento"/>
              </a:rPr>
              <a:t>2</a:t>
            </a:r>
          </a:p>
        </p:txBody>
      </p:sp>
      <p:sp>
        <p:nvSpPr>
          <p:cNvPr id="23" name="TextBox 23"/>
          <p:cNvSpPr txBox="1"/>
          <p:nvPr/>
        </p:nvSpPr>
        <p:spPr>
          <a:xfrm>
            <a:off x="1149991" y="1983219"/>
            <a:ext cx="2231231" cy="753027"/>
          </a:xfrm>
          <a:prstGeom prst="rect">
            <a:avLst/>
          </a:prstGeom>
        </p:spPr>
        <p:txBody>
          <a:bodyPr lIns="0" tIns="0" rIns="0" bIns="0" rtlCol="0" anchor="t">
            <a:spAutoFit/>
          </a:bodyPr>
          <a:lstStyle/>
          <a:p>
            <a:pPr algn="l">
              <a:lnSpc>
                <a:spcPts val="1975"/>
              </a:lnSpc>
            </a:pPr>
            <a:r>
              <a:rPr lang="en-US" sz="1596">
                <a:solidFill>
                  <a:srgbClr val="F9EEE7"/>
                </a:solidFill>
                <a:latin typeface="Quattrocento"/>
                <a:ea typeface="Quattrocento"/>
                <a:cs typeface="Quattrocento"/>
                <a:sym typeface="Quattrocento"/>
              </a:rPr>
              <a:t>Hands-On Understanding of Value Investing</a:t>
            </a:r>
          </a:p>
        </p:txBody>
      </p:sp>
      <p:sp>
        <p:nvSpPr>
          <p:cNvPr id="24" name="TextBox 24"/>
          <p:cNvSpPr txBox="1"/>
          <p:nvPr/>
        </p:nvSpPr>
        <p:spPr>
          <a:xfrm>
            <a:off x="1149991" y="5040744"/>
            <a:ext cx="4055174" cy="276777"/>
          </a:xfrm>
          <a:prstGeom prst="rect">
            <a:avLst/>
          </a:prstGeom>
        </p:spPr>
        <p:txBody>
          <a:bodyPr lIns="0" tIns="0" rIns="0" bIns="0" rtlCol="0" anchor="t">
            <a:spAutoFit/>
          </a:bodyPr>
          <a:lstStyle/>
          <a:p>
            <a:pPr algn="l">
              <a:lnSpc>
                <a:spcPts val="2235"/>
              </a:lnSpc>
            </a:pPr>
            <a:r>
              <a:rPr lang="en-US" sz="1596">
                <a:solidFill>
                  <a:srgbClr val="F9EEE7"/>
                </a:solidFill>
                <a:latin typeface="Quattrocento"/>
                <a:ea typeface="Quattrocento"/>
                <a:cs typeface="Quattrocento"/>
                <a:sym typeface="Quattrocento"/>
              </a:rPr>
              <a:t>Ready for 2027 Young Investor Competition</a:t>
            </a:r>
          </a:p>
        </p:txBody>
      </p:sp>
      <p:sp>
        <p:nvSpPr>
          <p:cNvPr id="25" name="TextBox 25"/>
          <p:cNvSpPr txBox="1"/>
          <p:nvPr/>
        </p:nvSpPr>
        <p:spPr>
          <a:xfrm>
            <a:off x="4217784" y="1973694"/>
            <a:ext cx="2316242" cy="514902"/>
          </a:xfrm>
          <a:prstGeom prst="rect">
            <a:avLst/>
          </a:prstGeom>
        </p:spPr>
        <p:txBody>
          <a:bodyPr lIns="0" tIns="0" rIns="0" bIns="0" rtlCol="0" anchor="t">
            <a:spAutoFit/>
          </a:bodyPr>
          <a:lstStyle/>
          <a:p>
            <a:pPr algn="l">
              <a:lnSpc>
                <a:spcPts val="2024"/>
              </a:lnSpc>
            </a:pPr>
            <a:r>
              <a:rPr lang="en-US" sz="1596">
                <a:solidFill>
                  <a:srgbClr val="F9EEE7"/>
                </a:solidFill>
                <a:latin typeface="Quattrocento"/>
                <a:ea typeface="Quattrocento"/>
                <a:cs typeface="Quattrocento"/>
                <a:sym typeface="Quattrocento"/>
              </a:rPr>
              <a:t>International Visibility &amp; Community Access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sp>
        <p:nvSpPr>
          <p:cNvPr id="2" name="Freeform 2"/>
          <p:cNvSpPr/>
          <p:nvPr/>
        </p:nvSpPr>
        <p:spPr>
          <a:xfrm>
            <a:off x="-126997" y="0"/>
            <a:ext cx="11556997" cy="6565897"/>
          </a:xfrm>
          <a:custGeom>
            <a:avLst/>
            <a:gdLst/>
            <a:ahLst/>
            <a:cxnLst/>
            <a:rect l="l" t="t" r="r" b="b"/>
            <a:pathLst>
              <a:path w="11556997" h="6565897">
                <a:moveTo>
                  <a:pt x="0" y="0"/>
                </a:moveTo>
                <a:lnTo>
                  <a:pt x="11556997" y="0"/>
                </a:lnTo>
                <a:lnTo>
                  <a:pt x="11556997" y="6565897"/>
                </a:lnTo>
                <a:lnTo>
                  <a:pt x="0" y="65658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327269" y="234534"/>
            <a:ext cx="2195589" cy="306486"/>
          </a:xfrm>
          <a:prstGeom prst="rect">
            <a:avLst/>
          </a:prstGeom>
        </p:spPr>
        <p:txBody>
          <a:bodyPr lIns="0" tIns="0" rIns="0" bIns="0" rtlCol="0" anchor="t">
            <a:spAutoFit/>
          </a:bodyPr>
          <a:lstStyle/>
          <a:p>
            <a:pPr algn="l">
              <a:lnSpc>
                <a:spcPts val="2424"/>
              </a:lnSpc>
            </a:pPr>
            <a:r>
              <a:rPr lang="en-US" sz="1731">
                <a:solidFill>
                  <a:srgbClr val="FFD9BE"/>
                </a:solidFill>
                <a:latin typeface="Quattrocento"/>
                <a:ea typeface="Quattrocento"/>
                <a:cs typeface="Quattrocento"/>
                <a:sym typeface="Quattrocento"/>
              </a:rPr>
              <a:t>Programme Structure</a:t>
            </a:r>
          </a:p>
        </p:txBody>
      </p:sp>
      <p:sp>
        <p:nvSpPr>
          <p:cNvPr id="4" name="TextBox 4"/>
          <p:cNvSpPr txBox="1"/>
          <p:nvPr/>
        </p:nvSpPr>
        <p:spPr>
          <a:xfrm>
            <a:off x="627564" y="603342"/>
            <a:ext cx="22870" cy="138551"/>
          </a:xfrm>
          <a:prstGeom prst="rect">
            <a:avLst/>
          </a:prstGeom>
        </p:spPr>
        <p:txBody>
          <a:bodyPr lIns="0" tIns="0" rIns="0" bIns="0" rtlCol="0" anchor="t">
            <a:spAutoFit/>
          </a:bodyPr>
          <a:lstStyle/>
          <a:p>
            <a:pPr algn="l">
              <a:lnSpc>
                <a:spcPts val="1030"/>
              </a:lnSpc>
            </a:pPr>
            <a:r>
              <a:rPr lang="en-US" sz="735">
                <a:solidFill>
                  <a:srgbClr val="F9EEE7"/>
                </a:solidFill>
                <a:latin typeface="Quattrocento"/>
                <a:ea typeface="Quattrocento"/>
                <a:cs typeface="Quattrocento"/>
                <a:sym typeface="Quattrocento"/>
              </a:rPr>
              <a:t> </a:t>
            </a:r>
          </a:p>
        </p:txBody>
      </p:sp>
      <p:sp>
        <p:nvSpPr>
          <p:cNvPr id="5" name="TextBox 5"/>
          <p:cNvSpPr txBox="1"/>
          <p:nvPr/>
        </p:nvSpPr>
        <p:spPr>
          <a:xfrm>
            <a:off x="327269" y="6023067"/>
            <a:ext cx="11022806" cy="199752"/>
          </a:xfrm>
          <a:prstGeom prst="rect">
            <a:avLst/>
          </a:prstGeom>
        </p:spPr>
        <p:txBody>
          <a:bodyPr lIns="0" tIns="0" rIns="0" bIns="0" rtlCol="0" anchor="t">
            <a:spAutoFit/>
          </a:bodyPr>
          <a:lstStyle/>
          <a:p>
            <a:pPr algn="l">
              <a:lnSpc>
                <a:spcPts val="1590"/>
              </a:lnSpc>
            </a:pPr>
            <a:r>
              <a:rPr lang="en-US" sz="1135" b="1">
                <a:solidFill>
                  <a:srgbClr val="F9EEE7"/>
                </a:solidFill>
                <a:latin typeface="Quattrocento Bold"/>
                <a:ea typeface="Quattrocento Bold"/>
                <a:cs typeface="Quattrocento Bold"/>
                <a:sym typeface="Quattrocento Bold"/>
              </a:rPr>
              <a:t>Each phase is carefully designed to build upon the last — ensuring students develop genuine competence and confidence through progressive, structured engagement.</a:t>
            </a:r>
          </a:p>
        </p:txBody>
      </p:sp>
      <p:sp>
        <p:nvSpPr>
          <p:cNvPr id="6" name="TextBox 6"/>
          <p:cNvSpPr txBox="1"/>
          <p:nvPr/>
        </p:nvSpPr>
        <p:spPr>
          <a:xfrm>
            <a:off x="327269" y="603342"/>
            <a:ext cx="11102731" cy="599802"/>
          </a:xfrm>
          <a:prstGeom prst="rect">
            <a:avLst/>
          </a:prstGeom>
        </p:spPr>
        <p:txBody>
          <a:bodyPr lIns="0" tIns="0" rIns="0" bIns="0" rtlCol="0" anchor="t">
            <a:spAutoFit/>
          </a:bodyPr>
          <a:lstStyle/>
          <a:p>
            <a:pPr algn="l">
              <a:lnSpc>
                <a:spcPts val="1590"/>
              </a:lnSpc>
            </a:pPr>
            <a:r>
              <a:rPr lang="en-US" sz="1135" b="1">
                <a:solidFill>
                  <a:srgbClr val="F9EEE7"/>
                </a:solidFill>
                <a:latin typeface="Quattrocento Bold"/>
                <a:ea typeface="Quattrocento Bold"/>
                <a:cs typeface="Quattrocento Bold"/>
                <a:sym typeface="Quattrocento Bold"/>
              </a:rPr>
              <a:t>Fnomo is an instructor-led,hands-on real-world learning experience. Students participate, interact, and reflect through structured phases — followed by performance insights and certification. The programme bridges the gap between earning money and understanding how to manage it.</a:t>
            </a:r>
          </a:p>
          <a:p>
            <a:pPr algn="l">
              <a:lnSpc>
                <a:spcPts val="1590"/>
              </a:lnSpc>
            </a:pPr>
            <a:endParaRPr lang="en-US" sz="1135" b="1">
              <a:solidFill>
                <a:srgbClr val="F9EEE7"/>
              </a:solidFill>
              <a:latin typeface="Quattrocento Bold"/>
              <a:ea typeface="Quattrocento Bold"/>
              <a:cs typeface="Quattrocento Bold"/>
              <a:sym typeface="Quattrocento Bold"/>
            </a:endParaRPr>
          </a:p>
        </p:txBody>
      </p:sp>
      <p:sp>
        <p:nvSpPr>
          <p:cNvPr id="7" name="TextBox 7"/>
          <p:cNvSpPr txBox="1"/>
          <p:nvPr/>
        </p:nvSpPr>
        <p:spPr>
          <a:xfrm>
            <a:off x="1852946" y="2625223"/>
            <a:ext cx="1348473" cy="316106"/>
          </a:xfrm>
          <a:prstGeom prst="rect">
            <a:avLst/>
          </a:prstGeom>
        </p:spPr>
        <p:txBody>
          <a:bodyPr lIns="0" tIns="0" rIns="0" bIns="0" rtlCol="0" anchor="t">
            <a:spAutoFit/>
          </a:bodyPr>
          <a:lstStyle/>
          <a:p>
            <a:pPr algn="l">
              <a:lnSpc>
                <a:spcPts val="2514"/>
              </a:lnSpc>
            </a:pPr>
            <a:r>
              <a:rPr lang="en-US" sz="1796">
                <a:solidFill>
                  <a:srgbClr val="F9EEE7"/>
                </a:solidFill>
                <a:latin typeface="Quattrocento"/>
                <a:ea typeface="Quattrocento"/>
                <a:cs typeface="Quattrocento"/>
                <a:sym typeface="Quattrocento"/>
              </a:rPr>
              <a:t>Guided Intro</a:t>
            </a:r>
          </a:p>
        </p:txBody>
      </p:sp>
      <p:sp>
        <p:nvSpPr>
          <p:cNvPr id="8" name="TextBox 8"/>
          <p:cNvSpPr txBox="1"/>
          <p:nvPr/>
        </p:nvSpPr>
        <p:spPr>
          <a:xfrm>
            <a:off x="2939710" y="5038839"/>
            <a:ext cx="1549327" cy="316106"/>
          </a:xfrm>
          <a:prstGeom prst="rect">
            <a:avLst/>
          </a:prstGeom>
        </p:spPr>
        <p:txBody>
          <a:bodyPr lIns="0" tIns="0" rIns="0" bIns="0" rtlCol="0" anchor="t">
            <a:spAutoFit/>
          </a:bodyPr>
          <a:lstStyle/>
          <a:p>
            <a:pPr algn="l">
              <a:lnSpc>
                <a:spcPts val="2514"/>
              </a:lnSpc>
            </a:pPr>
            <a:r>
              <a:rPr lang="en-US" sz="1796">
                <a:solidFill>
                  <a:srgbClr val="F9EEE7"/>
                </a:solidFill>
                <a:latin typeface="Quattrocento"/>
                <a:ea typeface="Quattrocento"/>
                <a:cs typeface="Quattrocento"/>
                <a:sym typeface="Quattrocento"/>
              </a:rPr>
              <a:t>Insights &amp; Cert</a:t>
            </a:r>
          </a:p>
        </p:txBody>
      </p:sp>
      <p:sp>
        <p:nvSpPr>
          <p:cNvPr id="9" name="TextBox 9"/>
          <p:cNvSpPr txBox="1"/>
          <p:nvPr/>
        </p:nvSpPr>
        <p:spPr>
          <a:xfrm>
            <a:off x="7178021" y="1461516"/>
            <a:ext cx="1102004" cy="316106"/>
          </a:xfrm>
          <a:prstGeom prst="rect">
            <a:avLst/>
          </a:prstGeom>
        </p:spPr>
        <p:txBody>
          <a:bodyPr lIns="0" tIns="0" rIns="0" bIns="0" rtlCol="0" anchor="t">
            <a:spAutoFit/>
          </a:bodyPr>
          <a:lstStyle/>
          <a:p>
            <a:pPr algn="l">
              <a:lnSpc>
                <a:spcPts val="2514"/>
              </a:lnSpc>
            </a:pPr>
            <a:r>
              <a:rPr lang="en-US" sz="1796">
                <a:solidFill>
                  <a:srgbClr val="F9EEE7"/>
                </a:solidFill>
                <a:latin typeface="Quattrocento"/>
                <a:ea typeface="Quattrocento"/>
                <a:cs typeface="Quattrocento"/>
                <a:sym typeface="Quattrocento"/>
              </a:rPr>
              <a:t>Hands-On</a:t>
            </a:r>
          </a:p>
        </p:txBody>
      </p:sp>
      <p:sp>
        <p:nvSpPr>
          <p:cNvPr id="10" name="TextBox 10"/>
          <p:cNvSpPr txBox="1"/>
          <p:nvPr/>
        </p:nvSpPr>
        <p:spPr>
          <a:xfrm>
            <a:off x="8014783" y="3853586"/>
            <a:ext cx="1834658" cy="316106"/>
          </a:xfrm>
          <a:prstGeom prst="rect">
            <a:avLst/>
          </a:prstGeom>
        </p:spPr>
        <p:txBody>
          <a:bodyPr lIns="0" tIns="0" rIns="0" bIns="0" rtlCol="0" anchor="t">
            <a:spAutoFit/>
          </a:bodyPr>
          <a:lstStyle/>
          <a:p>
            <a:pPr algn="l">
              <a:lnSpc>
                <a:spcPts val="2514"/>
              </a:lnSpc>
            </a:pPr>
            <a:r>
              <a:rPr lang="en-US" sz="1796">
                <a:solidFill>
                  <a:srgbClr val="F9EEE7"/>
                </a:solidFill>
                <a:latin typeface="Quattrocento"/>
                <a:ea typeface="Quattrocento"/>
                <a:cs typeface="Quattrocento"/>
                <a:sym typeface="Quattrocento"/>
              </a:rPr>
              <a:t>Reflect &amp; Analyze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sp>
        <p:nvSpPr>
          <p:cNvPr id="2" name="Freeform 2"/>
          <p:cNvSpPr/>
          <p:nvPr/>
        </p:nvSpPr>
        <p:spPr>
          <a:xfrm>
            <a:off x="-63503" y="-63503"/>
            <a:ext cx="11556997" cy="6565897"/>
          </a:xfrm>
          <a:custGeom>
            <a:avLst/>
            <a:gdLst/>
            <a:ahLst/>
            <a:cxnLst/>
            <a:rect l="l" t="t" r="r" b="b"/>
            <a:pathLst>
              <a:path w="11556997" h="6565897">
                <a:moveTo>
                  <a:pt x="0" y="0"/>
                </a:moveTo>
                <a:lnTo>
                  <a:pt x="11556997" y="0"/>
                </a:lnTo>
                <a:lnTo>
                  <a:pt x="11556997" y="6565897"/>
                </a:lnTo>
                <a:lnTo>
                  <a:pt x="0" y="65658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449904" y="371208"/>
            <a:ext cx="3117409" cy="403689"/>
          </a:xfrm>
          <a:prstGeom prst="rect">
            <a:avLst/>
          </a:prstGeom>
        </p:spPr>
        <p:txBody>
          <a:bodyPr lIns="0" tIns="0" rIns="0" bIns="0" rtlCol="0" anchor="t">
            <a:spAutoFit/>
          </a:bodyPr>
          <a:lstStyle/>
          <a:p>
            <a:pPr algn="l">
              <a:lnSpc>
                <a:spcPts val="3334"/>
              </a:lnSpc>
            </a:pPr>
            <a:r>
              <a:rPr lang="en-US" sz="2381">
                <a:solidFill>
                  <a:srgbClr val="FFD9BE"/>
                </a:solidFill>
                <a:latin typeface="Quattrocento"/>
                <a:ea typeface="Quattrocento"/>
                <a:cs typeface="Quattrocento"/>
                <a:sym typeface="Quattrocento"/>
              </a:rPr>
              <a:t>Programme Highlights</a:t>
            </a:r>
          </a:p>
        </p:txBody>
      </p:sp>
      <p:sp>
        <p:nvSpPr>
          <p:cNvPr id="4" name="TextBox 4"/>
          <p:cNvSpPr txBox="1"/>
          <p:nvPr/>
        </p:nvSpPr>
        <p:spPr>
          <a:xfrm>
            <a:off x="673598" y="2906439"/>
            <a:ext cx="106975"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3</a:t>
            </a:r>
          </a:p>
        </p:txBody>
      </p:sp>
      <p:sp>
        <p:nvSpPr>
          <p:cNvPr id="5" name="TextBox 5"/>
          <p:cNvSpPr txBox="1"/>
          <p:nvPr/>
        </p:nvSpPr>
        <p:spPr>
          <a:xfrm>
            <a:off x="673598" y="5487714"/>
            <a:ext cx="106975"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6</a:t>
            </a:r>
          </a:p>
        </p:txBody>
      </p:sp>
      <p:sp>
        <p:nvSpPr>
          <p:cNvPr id="6" name="TextBox 6"/>
          <p:cNvSpPr txBox="1"/>
          <p:nvPr/>
        </p:nvSpPr>
        <p:spPr>
          <a:xfrm>
            <a:off x="674341" y="2049189"/>
            <a:ext cx="105404"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2</a:t>
            </a:r>
          </a:p>
        </p:txBody>
      </p:sp>
      <p:sp>
        <p:nvSpPr>
          <p:cNvPr id="7" name="TextBox 7"/>
          <p:cNvSpPr txBox="1"/>
          <p:nvPr/>
        </p:nvSpPr>
        <p:spPr>
          <a:xfrm>
            <a:off x="674789" y="4620939"/>
            <a:ext cx="104413"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5</a:t>
            </a:r>
          </a:p>
        </p:txBody>
      </p:sp>
      <p:sp>
        <p:nvSpPr>
          <p:cNvPr id="8" name="TextBox 8"/>
          <p:cNvSpPr txBox="1"/>
          <p:nvPr/>
        </p:nvSpPr>
        <p:spPr>
          <a:xfrm>
            <a:off x="677018" y="3763689"/>
            <a:ext cx="99898"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4</a:t>
            </a:r>
          </a:p>
        </p:txBody>
      </p:sp>
      <p:sp>
        <p:nvSpPr>
          <p:cNvPr id="9" name="TextBox 9"/>
          <p:cNvSpPr txBox="1"/>
          <p:nvPr/>
        </p:nvSpPr>
        <p:spPr>
          <a:xfrm>
            <a:off x="691906" y="1182414"/>
            <a:ext cx="69609" cy="274530"/>
          </a:xfrm>
          <a:prstGeom prst="rect">
            <a:avLst/>
          </a:prstGeom>
        </p:spPr>
        <p:txBody>
          <a:bodyPr lIns="0" tIns="0" rIns="0" bIns="0" rtlCol="0" anchor="t">
            <a:spAutoFit/>
          </a:bodyPr>
          <a:lstStyle/>
          <a:p>
            <a:pPr algn="l">
              <a:lnSpc>
                <a:spcPts val="2125"/>
              </a:lnSpc>
            </a:pPr>
            <a:r>
              <a:rPr lang="en-US" sz="1518">
                <a:solidFill>
                  <a:srgbClr val="F9EEE7"/>
                </a:solidFill>
                <a:latin typeface="Quattrocento"/>
                <a:ea typeface="Quattrocento"/>
                <a:cs typeface="Quattrocento"/>
                <a:sym typeface="Quattrocento"/>
              </a:rPr>
              <a:t>1</a:t>
            </a:r>
          </a:p>
        </p:txBody>
      </p:sp>
      <p:sp>
        <p:nvSpPr>
          <p:cNvPr id="10" name="TextBox 10"/>
          <p:cNvSpPr txBox="1"/>
          <p:nvPr/>
        </p:nvSpPr>
        <p:spPr>
          <a:xfrm>
            <a:off x="1071410" y="2809742"/>
            <a:ext cx="6126099" cy="410232"/>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Dummy Portfolio</a:t>
            </a:r>
          </a:p>
          <a:p>
            <a:pPr algn="l">
              <a:lnSpc>
                <a:spcPts val="1416"/>
              </a:lnSpc>
            </a:pPr>
            <a:r>
              <a:rPr lang="en-US" sz="1011">
                <a:solidFill>
                  <a:srgbClr val="F9EEE7"/>
                </a:solidFill>
                <a:latin typeface="Quattrocento"/>
                <a:ea typeface="Quattrocento"/>
                <a:cs typeface="Quattrocento"/>
                <a:sym typeface="Quattrocento"/>
              </a:rPr>
              <a:t>Students build and manage a simulated portfolio with zero financial risk and maximum learning impact.</a:t>
            </a:r>
          </a:p>
        </p:txBody>
      </p:sp>
      <p:sp>
        <p:nvSpPr>
          <p:cNvPr id="11" name="TextBox 11"/>
          <p:cNvSpPr txBox="1"/>
          <p:nvPr/>
        </p:nvSpPr>
        <p:spPr>
          <a:xfrm>
            <a:off x="1071410" y="3666992"/>
            <a:ext cx="7522245" cy="419757"/>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Guided Participation</a:t>
            </a:r>
          </a:p>
          <a:p>
            <a:pPr algn="l">
              <a:lnSpc>
                <a:spcPts val="1416"/>
              </a:lnSpc>
            </a:pPr>
            <a:r>
              <a:rPr lang="en-US" sz="1011">
                <a:solidFill>
                  <a:srgbClr val="F9EEE7"/>
                </a:solidFill>
                <a:latin typeface="Quattrocento"/>
                <a:ea typeface="Quattrocento"/>
                <a:cs typeface="Quattrocento"/>
                <a:sym typeface="Quattrocento"/>
              </a:rPr>
              <a:t>Structured support ensures every student progresses with confidence and develops genuine competence, not just participation.</a:t>
            </a:r>
          </a:p>
        </p:txBody>
      </p:sp>
      <p:sp>
        <p:nvSpPr>
          <p:cNvPr id="12" name="TextBox 12"/>
          <p:cNvSpPr txBox="1"/>
          <p:nvPr/>
        </p:nvSpPr>
        <p:spPr>
          <a:xfrm>
            <a:off x="1071410" y="5391017"/>
            <a:ext cx="6445625" cy="410232"/>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Global Competitions</a:t>
            </a:r>
          </a:p>
          <a:p>
            <a:pPr algn="l">
              <a:lnSpc>
                <a:spcPts val="1416"/>
              </a:lnSpc>
            </a:pPr>
            <a:r>
              <a:rPr lang="en-US" sz="1011">
                <a:solidFill>
                  <a:srgbClr val="F9EEE7"/>
                </a:solidFill>
                <a:latin typeface="Quattrocento"/>
                <a:ea typeface="Quattrocento"/>
                <a:cs typeface="Quattrocento"/>
                <a:sym typeface="Quattrocento"/>
              </a:rPr>
              <a:t>Students can compete internationally, earning recognition for disciplined financial thinking and achievement.</a:t>
            </a:r>
          </a:p>
        </p:txBody>
      </p:sp>
      <p:sp>
        <p:nvSpPr>
          <p:cNvPr id="13" name="TextBox 13"/>
          <p:cNvSpPr txBox="1"/>
          <p:nvPr/>
        </p:nvSpPr>
        <p:spPr>
          <a:xfrm>
            <a:off x="1071410" y="1952492"/>
            <a:ext cx="7428052" cy="410232"/>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Investment Fundamentals</a:t>
            </a:r>
          </a:p>
          <a:p>
            <a:pPr algn="l">
              <a:lnSpc>
                <a:spcPts val="1416"/>
              </a:lnSpc>
            </a:pPr>
            <a:r>
              <a:rPr lang="en-US" sz="1011">
                <a:solidFill>
                  <a:srgbClr val="F9EEE7"/>
                </a:solidFill>
                <a:latin typeface="Quattrocento"/>
                <a:ea typeface="Quattrocento"/>
                <a:cs typeface="Quattrocento"/>
                <a:sym typeface="Quattrocento"/>
              </a:rPr>
              <a:t>A simplified, practical, and rigorous introduction to the core principles professional investors use—accessible to every student.</a:t>
            </a:r>
          </a:p>
        </p:txBody>
      </p:sp>
      <p:sp>
        <p:nvSpPr>
          <p:cNvPr id="14" name="TextBox 14"/>
          <p:cNvSpPr txBox="1"/>
          <p:nvPr/>
        </p:nvSpPr>
        <p:spPr>
          <a:xfrm>
            <a:off x="1071410" y="1085717"/>
            <a:ext cx="8337375" cy="419757"/>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Real-World Decision-Making</a:t>
            </a:r>
          </a:p>
          <a:p>
            <a:pPr algn="l">
              <a:lnSpc>
                <a:spcPts val="1416"/>
              </a:lnSpc>
            </a:pPr>
            <a:r>
              <a:rPr lang="en-US" sz="1011">
                <a:solidFill>
                  <a:srgbClr val="F9EEE7"/>
                </a:solidFill>
                <a:latin typeface="Quattrocento"/>
                <a:ea typeface="Quattrocento"/>
                <a:cs typeface="Quattrocento"/>
                <a:sym typeface="Quattrocento"/>
              </a:rPr>
              <a:t>Students work with actual market data and make decisions with real consequences—building judgment that applies far beyond the classroom.</a:t>
            </a:r>
          </a:p>
        </p:txBody>
      </p:sp>
      <p:sp>
        <p:nvSpPr>
          <p:cNvPr id="15" name="TextBox 15"/>
          <p:cNvSpPr txBox="1"/>
          <p:nvPr/>
        </p:nvSpPr>
        <p:spPr>
          <a:xfrm>
            <a:off x="1071410" y="4524242"/>
            <a:ext cx="7631249" cy="419757"/>
          </a:xfrm>
          <a:prstGeom prst="rect">
            <a:avLst/>
          </a:prstGeom>
        </p:spPr>
        <p:txBody>
          <a:bodyPr lIns="0" tIns="0" rIns="0" bIns="0" rtlCol="0" anchor="t">
            <a:spAutoFit/>
          </a:bodyPr>
          <a:lstStyle/>
          <a:p>
            <a:pPr algn="l">
              <a:lnSpc>
                <a:spcPts val="1667"/>
              </a:lnSpc>
            </a:pPr>
            <a:r>
              <a:rPr lang="en-US" sz="1190">
                <a:solidFill>
                  <a:srgbClr val="F9EEE7"/>
                </a:solidFill>
                <a:latin typeface="Quattrocento"/>
                <a:ea typeface="Quattrocento"/>
                <a:cs typeface="Quattrocento"/>
                <a:sym typeface="Quattrocento"/>
              </a:rPr>
              <a:t>Peer &amp; International Learning</a:t>
            </a:r>
          </a:p>
          <a:p>
            <a:pPr algn="l">
              <a:lnSpc>
                <a:spcPts val="1416"/>
              </a:lnSpc>
            </a:pPr>
            <a:r>
              <a:rPr lang="en-US" sz="1011">
                <a:solidFill>
                  <a:srgbClr val="F9EEE7"/>
                </a:solidFill>
                <a:latin typeface="Quattrocento"/>
                <a:ea typeface="Quattrocento"/>
                <a:cs typeface="Quattrocento"/>
                <a:sym typeface="Quattrocento"/>
              </a:rPr>
              <a:t>Students learn alongside peers from different institutions and countries—broadening perspective and building valuable networks.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503"/>
            <a:ext cx="11556997" cy="6565897"/>
            <a:chOff x="0" y="0"/>
            <a:chExt cx="11557000" cy="6565900"/>
          </a:xfrm>
        </p:grpSpPr>
        <p:sp>
          <p:nvSpPr>
            <p:cNvPr id="3" name="Freeform 3"/>
            <p:cNvSpPr/>
            <p:nvPr/>
          </p:nvSpPr>
          <p:spPr>
            <a:xfrm>
              <a:off x="63500" y="73025"/>
              <a:ext cx="11430000" cy="6429375"/>
            </a:xfrm>
            <a:custGeom>
              <a:avLst/>
              <a:gdLst/>
              <a:ahLst/>
              <a:cxnLst/>
              <a:rect l="l" t="t" r="r" b="b"/>
              <a:pathLst>
                <a:path w="11430000" h="6429375">
                  <a:moveTo>
                    <a:pt x="0" y="0"/>
                  </a:moveTo>
                  <a:lnTo>
                    <a:pt x="11430000" y="0"/>
                  </a:lnTo>
                  <a:lnTo>
                    <a:pt x="11430000" y="6429375"/>
                  </a:lnTo>
                  <a:lnTo>
                    <a:pt x="0" y="6429375"/>
                  </a:lnTo>
                  <a:close/>
                </a:path>
              </a:pathLst>
            </a:custGeom>
            <a:solidFill>
              <a:srgbClr val="123332"/>
            </a:solidFill>
          </p:spPr>
          <p:txBody>
            <a:bodyPr/>
            <a:lstStyle/>
            <a:p>
              <a:endParaRPr lang="en-IN"/>
            </a:p>
          </p:txBody>
        </p:sp>
        <p:sp>
          <p:nvSpPr>
            <p:cNvPr id="4" name="Freeform 4"/>
            <p:cNvSpPr/>
            <p:nvPr/>
          </p:nvSpPr>
          <p:spPr>
            <a:xfrm>
              <a:off x="63500" y="63500"/>
              <a:ext cx="11430000" cy="9525"/>
            </a:xfrm>
            <a:custGeom>
              <a:avLst/>
              <a:gdLst/>
              <a:ahLst/>
              <a:cxnLst/>
              <a:rect l="l" t="t" r="r" b="b"/>
              <a:pathLst>
                <a:path w="11430000" h="9525">
                  <a:moveTo>
                    <a:pt x="0" y="0"/>
                  </a:moveTo>
                  <a:lnTo>
                    <a:pt x="0" y="9525"/>
                  </a:lnTo>
                  <a:lnTo>
                    <a:pt x="11430000" y="9525"/>
                  </a:lnTo>
                  <a:lnTo>
                    <a:pt x="11430000" y="0"/>
                  </a:lnTo>
                  <a:close/>
                </a:path>
              </a:pathLst>
            </a:custGeom>
            <a:solidFill>
              <a:srgbClr val="000000"/>
            </a:solidFill>
          </p:spPr>
          <p:txBody>
            <a:bodyPr/>
            <a:lstStyle/>
            <a:p>
              <a:endParaRPr lang="en-IN"/>
            </a:p>
          </p:txBody>
        </p:sp>
        <p:sp>
          <p:nvSpPr>
            <p:cNvPr id="5" name="Freeform 5"/>
            <p:cNvSpPr/>
            <p:nvPr/>
          </p:nvSpPr>
          <p:spPr>
            <a:xfrm>
              <a:off x="720725" y="2730500"/>
              <a:ext cx="2390775" cy="2838450"/>
            </a:xfrm>
            <a:custGeom>
              <a:avLst/>
              <a:gdLst/>
              <a:ahLst/>
              <a:cxnLst/>
              <a:rect l="l" t="t" r="r" b="b"/>
              <a:pathLst>
                <a:path w="2390775" h="2838450">
                  <a:moveTo>
                    <a:pt x="0" y="2815082"/>
                  </a:moveTo>
                  <a:lnTo>
                    <a:pt x="0" y="23368"/>
                  </a:lnTo>
                  <a:cubicBezTo>
                    <a:pt x="0" y="20320"/>
                    <a:pt x="635" y="17272"/>
                    <a:pt x="1778" y="14478"/>
                  </a:cubicBezTo>
                  <a:cubicBezTo>
                    <a:pt x="2921" y="11684"/>
                    <a:pt x="4699" y="9144"/>
                    <a:pt x="6858" y="6858"/>
                  </a:cubicBezTo>
                  <a:cubicBezTo>
                    <a:pt x="9017" y="4572"/>
                    <a:pt x="11557" y="2921"/>
                    <a:pt x="14478" y="1778"/>
                  </a:cubicBezTo>
                  <a:cubicBezTo>
                    <a:pt x="17399" y="635"/>
                    <a:pt x="20320" y="0"/>
                    <a:pt x="23368" y="0"/>
                  </a:cubicBezTo>
                  <a:lnTo>
                    <a:pt x="2367407" y="0"/>
                  </a:lnTo>
                  <a:cubicBezTo>
                    <a:pt x="2370455" y="0"/>
                    <a:pt x="2373503" y="635"/>
                    <a:pt x="2376297" y="1778"/>
                  </a:cubicBezTo>
                  <a:cubicBezTo>
                    <a:pt x="2379091" y="2921"/>
                    <a:pt x="2381631" y="4699"/>
                    <a:pt x="2383917" y="6858"/>
                  </a:cubicBezTo>
                  <a:cubicBezTo>
                    <a:pt x="2386203" y="9017"/>
                    <a:pt x="2387854" y="11557"/>
                    <a:pt x="2388997" y="14478"/>
                  </a:cubicBezTo>
                  <a:cubicBezTo>
                    <a:pt x="2390140" y="17399"/>
                    <a:pt x="2390775" y="20320"/>
                    <a:pt x="2390775" y="23368"/>
                  </a:cubicBezTo>
                  <a:lnTo>
                    <a:pt x="2390775" y="2815082"/>
                  </a:lnTo>
                  <a:cubicBezTo>
                    <a:pt x="2390775" y="2818130"/>
                    <a:pt x="2390140" y="2821178"/>
                    <a:pt x="2388997" y="2823972"/>
                  </a:cubicBezTo>
                  <a:cubicBezTo>
                    <a:pt x="2387854" y="2826766"/>
                    <a:pt x="2386076" y="2829306"/>
                    <a:pt x="2383917" y="2831592"/>
                  </a:cubicBezTo>
                  <a:cubicBezTo>
                    <a:pt x="2381758" y="2833878"/>
                    <a:pt x="2379218" y="2835529"/>
                    <a:pt x="2376297" y="2836672"/>
                  </a:cubicBezTo>
                  <a:cubicBezTo>
                    <a:pt x="2373376" y="2837815"/>
                    <a:pt x="2370455" y="2838450"/>
                    <a:pt x="2367407" y="2838450"/>
                  </a:cubicBezTo>
                  <a:lnTo>
                    <a:pt x="23368" y="2838450"/>
                  </a:lnTo>
                  <a:cubicBezTo>
                    <a:pt x="20320" y="2838450"/>
                    <a:pt x="17272" y="2837815"/>
                    <a:pt x="14478" y="2836672"/>
                  </a:cubicBezTo>
                  <a:cubicBezTo>
                    <a:pt x="11684" y="2835529"/>
                    <a:pt x="9144" y="2833751"/>
                    <a:pt x="6858" y="2831592"/>
                  </a:cubicBezTo>
                  <a:cubicBezTo>
                    <a:pt x="4572" y="2829433"/>
                    <a:pt x="2921" y="2826893"/>
                    <a:pt x="1778" y="2823972"/>
                  </a:cubicBezTo>
                  <a:cubicBezTo>
                    <a:pt x="635" y="2821051"/>
                    <a:pt x="0" y="2818130"/>
                    <a:pt x="0" y="2815082"/>
                  </a:cubicBezTo>
                  <a:close/>
                </a:path>
              </a:pathLst>
            </a:custGeom>
            <a:solidFill>
              <a:srgbClr val="315251"/>
            </a:solidFill>
          </p:spPr>
          <p:txBody>
            <a:bodyPr/>
            <a:lstStyle/>
            <a:p>
              <a:endParaRPr lang="en-IN"/>
            </a:p>
          </p:txBody>
        </p:sp>
        <p:sp>
          <p:nvSpPr>
            <p:cNvPr id="6" name="Freeform 6"/>
            <p:cNvSpPr/>
            <p:nvPr/>
          </p:nvSpPr>
          <p:spPr>
            <a:xfrm>
              <a:off x="3292475" y="2730500"/>
              <a:ext cx="2390775" cy="2838450"/>
            </a:xfrm>
            <a:custGeom>
              <a:avLst/>
              <a:gdLst/>
              <a:ahLst/>
              <a:cxnLst/>
              <a:rect l="l" t="t" r="r" b="b"/>
              <a:pathLst>
                <a:path w="2390775" h="2838450">
                  <a:moveTo>
                    <a:pt x="0" y="2815082"/>
                  </a:moveTo>
                  <a:lnTo>
                    <a:pt x="0" y="23368"/>
                  </a:lnTo>
                  <a:cubicBezTo>
                    <a:pt x="0" y="20320"/>
                    <a:pt x="635" y="17272"/>
                    <a:pt x="1778" y="14478"/>
                  </a:cubicBezTo>
                  <a:cubicBezTo>
                    <a:pt x="2921" y="11684"/>
                    <a:pt x="4699" y="9144"/>
                    <a:pt x="6858" y="6858"/>
                  </a:cubicBezTo>
                  <a:cubicBezTo>
                    <a:pt x="9017" y="4572"/>
                    <a:pt x="11557" y="2921"/>
                    <a:pt x="14478" y="1778"/>
                  </a:cubicBezTo>
                  <a:cubicBezTo>
                    <a:pt x="17399" y="635"/>
                    <a:pt x="20320" y="0"/>
                    <a:pt x="23368" y="0"/>
                  </a:cubicBezTo>
                  <a:lnTo>
                    <a:pt x="2367407" y="0"/>
                  </a:lnTo>
                  <a:cubicBezTo>
                    <a:pt x="2370455" y="0"/>
                    <a:pt x="2373503" y="635"/>
                    <a:pt x="2376297" y="1778"/>
                  </a:cubicBezTo>
                  <a:cubicBezTo>
                    <a:pt x="2379091" y="2921"/>
                    <a:pt x="2381631" y="4699"/>
                    <a:pt x="2383917" y="6858"/>
                  </a:cubicBezTo>
                  <a:cubicBezTo>
                    <a:pt x="2386203" y="9017"/>
                    <a:pt x="2387854" y="11557"/>
                    <a:pt x="2388997" y="14478"/>
                  </a:cubicBezTo>
                  <a:cubicBezTo>
                    <a:pt x="2390140" y="17399"/>
                    <a:pt x="2390775" y="20320"/>
                    <a:pt x="2390775" y="23368"/>
                  </a:cubicBezTo>
                  <a:lnTo>
                    <a:pt x="2390775" y="2815082"/>
                  </a:lnTo>
                  <a:cubicBezTo>
                    <a:pt x="2390775" y="2818130"/>
                    <a:pt x="2390140" y="2821178"/>
                    <a:pt x="2388997" y="2823972"/>
                  </a:cubicBezTo>
                  <a:cubicBezTo>
                    <a:pt x="2387854" y="2826766"/>
                    <a:pt x="2386076" y="2829306"/>
                    <a:pt x="2383917" y="2831592"/>
                  </a:cubicBezTo>
                  <a:cubicBezTo>
                    <a:pt x="2381758" y="2833878"/>
                    <a:pt x="2379218" y="2835529"/>
                    <a:pt x="2376297" y="2836672"/>
                  </a:cubicBezTo>
                  <a:cubicBezTo>
                    <a:pt x="2373376" y="2837815"/>
                    <a:pt x="2370455" y="2838450"/>
                    <a:pt x="2367407" y="2838450"/>
                  </a:cubicBezTo>
                  <a:lnTo>
                    <a:pt x="23368" y="2838450"/>
                  </a:lnTo>
                  <a:cubicBezTo>
                    <a:pt x="20320" y="2838450"/>
                    <a:pt x="17272" y="2837815"/>
                    <a:pt x="14478" y="2836672"/>
                  </a:cubicBezTo>
                  <a:cubicBezTo>
                    <a:pt x="11684" y="2835529"/>
                    <a:pt x="9144" y="2833751"/>
                    <a:pt x="6858" y="2831592"/>
                  </a:cubicBezTo>
                  <a:cubicBezTo>
                    <a:pt x="4572" y="2829433"/>
                    <a:pt x="2921" y="2826893"/>
                    <a:pt x="1778" y="2823972"/>
                  </a:cubicBezTo>
                  <a:cubicBezTo>
                    <a:pt x="635" y="2821051"/>
                    <a:pt x="0" y="2818130"/>
                    <a:pt x="0" y="2815082"/>
                  </a:cubicBezTo>
                  <a:close/>
                </a:path>
              </a:pathLst>
            </a:custGeom>
            <a:solidFill>
              <a:srgbClr val="315251"/>
            </a:solidFill>
          </p:spPr>
          <p:txBody>
            <a:bodyPr/>
            <a:lstStyle/>
            <a:p>
              <a:endParaRPr lang="en-IN"/>
            </a:p>
          </p:txBody>
        </p:sp>
        <p:sp>
          <p:nvSpPr>
            <p:cNvPr id="7" name="Freeform 7"/>
            <p:cNvSpPr/>
            <p:nvPr/>
          </p:nvSpPr>
          <p:spPr>
            <a:xfrm>
              <a:off x="5873750" y="2730500"/>
              <a:ext cx="2390775" cy="2838450"/>
            </a:xfrm>
            <a:custGeom>
              <a:avLst/>
              <a:gdLst/>
              <a:ahLst/>
              <a:cxnLst/>
              <a:rect l="l" t="t" r="r" b="b"/>
              <a:pathLst>
                <a:path w="2390775" h="2838450">
                  <a:moveTo>
                    <a:pt x="0" y="2815082"/>
                  </a:moveTo>
                  <a:lnTo>
                    <a:pt x="0" y="23368"/>
                  </a:lnTo>
                  <a:cubicBezTo>
                    <a:pt x="0" y="20320"/>
                    <a:pt x="635" y="17272"/>
                    <a:pt x="1778" y="14478"/>
                  </a:cubicBezTo>
                  <a:cubicBezTo>
                    <a:pt x="2921" y="11684"/>
                    <a:pt x="4699" y="9144"/>
                    <a:pt x="6858" y="6858"/>
                  </a:cubicBezTo>
                  <a:cubicBezTo>
                    <a:pt x="9017" y="4572"/>
                    <a:pt x="11557" y="2921"/>
                    <a:pt x="14478" y="1778"/>
                  </a:cubicBezTo>
                  <a:cubicBezTo>
                    <a:pt x="17399" y="635"/>
                    <a:pt x="20320" y="0"/>
                    <a:pt x="23368" y="0"/>
                  </a:cubicBezTo>
                  <a:lnTo>
                    <a:pt x="2367407" y="0"/>
                  </a:lnTo>
                  <a:cubicBezTo>
                    <a:pt x="2370455" y="0"/>
                    <a:pt x="2373502" y="635"/>
                    <a:pt x="2376297" y="1778"/>
                  </a:cubicBezTo>
                  <a:cubicBezTo>
                    <a:pt x="2379090" y="2921"/>
                    <a:pt x="2381631" y="4699"/>
                    <a:pt x="2383917" y="6858"/>
                  </a:cubicBezTo>
                  <a:cubicBezTo>
                    <a:pt x="2386202" y="9017"/>
                    <a:pt x="2387853" y="11557"/>
                    <a:pt x="2388997" y="14478"/>
                  </a:cubicBezTo>
                  <a:cubicBezTo>
                    <a:pt x="2390139" y="17399"/>
                    <a:pt x="2390775" y="20320"/>
                    <a:pt x="2390775" y="23368"/>
                  </a:cubicBezTo>
                  <a:lnTo>
                    <a:pt x="2390775" y="2815082"/>
                  </a:lnTo>
                  <a:cubicBezTo>
                    <a:pt x="2390775" y="2818130"/>
                    <a:pt x="2390139" y="2821178"/>
                    <a:pt x="2388997" y="2823972"/>
                  </a:cubicBezTo>
                  <a:cubicBezTo>
                    <a:pt x="2387853" y="2826766"/>
                    <a:pt x="2386075" y="2829306"/>
                    <a:pt x="2383917" y="2831592"/>
                  </a:cubicBezTo>
                  <a:cubicBezTo>
                    <a:pt x="2381758" y="2833878"/>
                    <a:pt x="2379218" y="2835529"/>
                    <a:pt x="2376297" y="2836672"/>
                  </a:cubicBezTo>
                  <a:cubicBezTo>
                    <a:pt x="2373375" y="2837815"/>
                    <a:pt x="2370455" y="2838450"/>
                    <a:pt x="2367407" y="2838450"/>
                  </a:cubicBezTo>
                  <a:lnTo>
                    <a:pt x="23368" y="2838450"/>
                  </a:lnTo>
                  <a:cubicBezTo>
                    <a:pt x="20320" y="2838450"/>
                    <a:pt x="17272" y="2837815"/>
                    <a:pt x="14478" y="2836672"/>
                  </a:cubicBezTo>
                  <a:cubicBezTo>
                    <a:pt x="11684" y="2835529"/>
                    <a:pt x="9144" y="2833751"/>
                    <a:pt x="6858" y="2831592"/>
                  </a:cubicBezTo>
                  <a:cubicBezTo>
                    <a:pt x="4572" y="2829433"/>
                    <a:pt x="2921" y="2826893"/>
                    <a:pt x="1778" y="2823972"/>
                  </a:cubicBezTo>
                  <a:cubicBezTo>
                    <a:pt x="635" y="2821051"/>
                    <a:pt x="0" y="2818130"/>
                    <a:pt x="0" y="2815082"/>
                  </a:cubicBezTo>
                  <a:close/>
                </a:path>
              </a:pathLst>
            </a:custGeom>
            <a:solidFill>
              <a:srgbClr val="315251"/>
            </a:solidFill>
          </p:spPr>
          <p:txBody>
            <a:bodyPr/>
            <a:lstStyle/>
            <a:p>
              <a:endParaRPr lang="en-IN"/>
            </a:p>
          </p:txBody>
        </p:sp>
        <p:sp>
          <p:nvSpPr>
            <p:cNvPr id="8" name="Freeform 8"/>
            <p:cNvSpPr/>
            <p:nvPr/>
          </p:nvSpPr>
          <p:spPr>
            <a:xfrm>
              <a:off x="8445500" y="2730500"/>
              <a:ext cx="2390775" cy="2838450"/>
            </a:xfrm>
            <a:custGeom>
              <a:avLst/>
              <a:gdLst/>
              <a:ahLst/>
              <a:cxnLst/>
              <a:rect l="l" t="t" r="r" b="b"/>
              <a:pathLst>
                <a:path w="2390775" h="2838450">
                  <a:moveTo>
                    <a:pt x="0" y="2815082"/>
                  </a:moveTo>
                  <a:lnTo>
                    <a:pt x="0" y="23368"/>
                  </a:lnTo>
                  <a:cubicBezTo>
                    <a:pt x="0" y="20320"/>
                    <a:pt x="635" y="17272"/>
                    <a:pt x="1778" y="14478"/>
                  </a:cubicBezTo>
                  <a:cubicBezTo>
                    <a:pt x="2921" y="11684"/>
                    <a:pt x="4699" y="9144"/>
                    <a:pt x="6858" y="6858"/>
                  </a:cubicBezTo>
                  <a:cubicBezTo>
                    <a:pt x="9017" y="4572"/>
                    <a:pt x="11557" y="2921"/>
                    <a:pt x="14478" y="1778"/>
                  </a:cubicBezTo>
                  <a:cubicBezTo>
                    <a:pt x="17399" y="635"/>
                    <a:pt x="20320" y="0"/>
                    <a:pt x="23368" y="0"/>
                  </a:cubicBezTo>
                  <a:lnTo>
                    <a:pt x="2367407" y="0"/>
                  </a:lnTo>
                  <a:cubicBezTo>
                    <a:pt x="2370455" y="0"/>
                    <a:pt x="2373502" y="635"/>
                    <a:pt x="2376297" y="1778"/>
                  </a:cubicBezTo>
                  <a:cubicBezTo>
                    <a:pt x="2379090" y="2921"/>
                    <a:pt x="2381631" y="4699"/>
                    <a:pt x="2383917" y="6858"/>
                  </a:cubicBezTo>
                  <a:cubicBezTo>
                    <a:pt x="2386202" y="9017"/>
                    <a:pt x="2387853" y="11557"/>
                    <a:pt x="2388997" y="14478"/>
                  </a:cubicBezTo>
                  <a:cubicBezTo>
                    <a:pt x="2390139" y="17399"/>
                    <a:pt x="2390775" y="20320"/>
                    <a:pt x="2390775" y="23368"/>
                  </a:cubicBezTo>
                  <a:lnTo>
                    <a:pt x="2390775" y="2815082"/>
                  </a:lnTo>
                  <a:cubicBezTo>
                    <a:pt x="2390775" y="2818130"/>
                    <a:pt x="2390139" y="2821178"/>
                    <a:pt x="2388997" y="2823972"/>
                  </a:cubicBezTo>
                  <a:cubicBezTo>
                    <a:pt x="2387853" y="2826766"/>
                    <a:pt x="2386075" y="2829306"/>
                    <a:pt x="2383917" y="2831592"/>
                  </a:cubicBezTo>
                  <a:cubicBezTo>
                    <a:pt x="2381758" y="2833878"/>
                    <a:pt x="2379218" y="2835529"/>
                    <a:pt x="2376297" y="2836672"/>
                  </a:cubicBezTo>
                  <a:cubicBezTo>
                    <a:pt x="2373375" y="2837815"/>
                    <a:pt x="2370455" y="2838450"/>
                    <a:pt x="2367407" y="2838450"/>
                  </a:cubicBezTo>
                  <a:lnTo>
                    <a:pt x="23368" y="2838450"/>
                  </a:lnTo>
                  <a:cubicBezTo>
                    <a:pt x="20320" y="2838450"/>
                    <a:pt x="17273" y="2837815"/>
                    <a:pt x="14478" y="2836672"/>
                  </a:cubicBezTo>
                  <a:cubicBezTo>
                    <a:pt x="11685" y="2835529"/>
                    <a:pt x="9144" y="2833751"/>
                    <a:pt x="6858" y="2831592"/>
                  </a:cubicBezTo>
                  <a:cubicBezTo>
                    <a:pt x="4573" y="2829433"/>
                    <a:pt x="2922" y="2826893"/>
                    <a:pt x="1778" y="2823972"/>
                  </a:cubicBezTo>
                  <a:cubicBezTo>
                    <a:pt x="636" y="2821051"/>
                    <a:pt x="0" y="2818130"/>
                    <a:pt x="0" y="2815082"/>
                  </a:cubicBezTo>
                  <a:close/>
                </a:path>
              </a:pathLst>
            </a:custGeom>
            <a:solidFill>
              <a:srgbClr val="315251"/>
            </a:solidFill>
          </p:spPr>
          <p:txBody>
            <a:bodyPr/>
            <a:lstStyle/>
            <a:p>
              <a:endParaRPr lang="en-IN"/>
            </a:p>
          </p:txBody>
        </p:sp>
      </p:grpSp>
      <p:sp>
        <p:nvSpPr>
          <p:cNvPr id="9" name="TextBox 9"/>
          <p:cNvSpPr txBox="1"/>
          <p:nvPr/>
        </p:nvSpPr>
        <p:spPr>
          <a:xfrm>
            <a:off x="654548" y="802357"/>
            <a:ext cx="9575159" cy="1623631"/>
          </a:xfrm>
          <a:prstGeom prst="rect">
            <a:avLst/>
          </a:prstGeom>
        </p:spPr>
        <p:txBody>
          <a:bodyPr lIns="0" tIns="0" rIns="0" bIns="0" rtlCol="0" anchor="t">
            <a:spAutoFit/>
          </a:bodyPr>
          <a:lstStyle/>
          <a:p>
            <a:pPr algn="l">
              <a:lnSpc>
                <a:spcPts val="5646"/>
              </a:lnSpc>
            </a:pPr>
            <a:r>
              <a:rPr lang="en-US" sz="3464">
                <a:solidFill>
                  <a:srgbClr val="FFD9BE"/>
                </a:solidFill>
                <a:latin typeface="Quattrocento"/>
                <a:ea typeface="Quattrocento"/>
                <a:cs typeface="Quattrocento"/>
                <a:sym typeface="Quattrocento"/>
              </a:rPr>
              <a:t>For Institutions</a:t>
            </a:r>
          </a:p>
          <a:p>
            <a:pPr algn="l">
              <a:lnSpc>
                <a:spcPts val="2399"/>
              </a:lnSpc>
            </a:pPr>
            <a:r>
              <a:rPr lang="en-US" sz="1472">
                <a:solidFill>
                  <a:srgbClr val="F9EEE7"/>
                </a:solidFill>
                <a:latin typeface="Quattrocento"/>
                <a:ea typeface="Quattrocento"/>
                <a:cs typeface="Quattrocento"/>
                <a:sym typeface="Quattrocento"/>
              </a:rPr>
              <a:t>Fnomo Young Investor is not a generic workshop. It's a </a:t>
            </a:r>
            <a:r>
              <a:rPr lang="en-US" sz="1472" b="1">
                <a:solidFill>
                  <a:srgbClr val="F9EEE7"/>
                </a:solidFill>
                <a:latin typeface="Quattrocento Bold"/>
                <a:ea typeface="Quattrocento Bold"/>
                <a:cs typeface="Quattrocento Bold"/>
                <a:sym typeface="Quattrocento Bold"/>
              </a:rPr>
              <a:t>structured, high-impact programme</a:t>
            </a:r>
            <a:r>
              <a:rPr lang="en-US" sz="1472">
                <a:solidFill>
                  <a:srgbClr val="F9EEE7"/>
                </a:solidFill>
                <a:latin typeface="Quattrocento"/>
                <a:ea typeface="Quattrocento"/>
                <a:cs typeface="Quattrocento"/>
                <a:sym typeface="Quattrocento"/>
              </a:rPr>
              <a:t> designed to create measurable student outcomes and lasting institutional value.</a:t>
            </a:r>
          </a:p>
        </p:txBody>
      </p:sp>
      <p:sp>
        <p:nvSpPr>
          <p:cNvPr id="10" name="TextBox 10"/>
          <p:cNvSpPr txBox="1"/>
          <p:nvPr/>
        </p:nvSpPr>
        <p:spPr>
          <a:xfrm>
            <a:off x="841477" y="3216373"/>
            <a:ext cx="2052018" cy="1450716"/>
          </a:xfrm>
          <a:prstGeom prst="rect">
            <a:avLst/>
          </a:prstGeom>
        </p:spPr>
        <p:txBody>
          <a:bodyPr lIns="0" tIns="0" rIns="0" bIns="0" rtlCol="0" anchor="t">
            <a:spAutoFit/>
          </a:bodyPr>
          <a:lstStyle/>
          <a:p>
            <a:pPr algn="l">
              <a:lnSpc>
                <a:spcPts val="2362"/>
              </a:lnSpc>
            </a:pPr>
            <a:r>
              <a:rPr lang="en-US" sz="1472">
                <a:solidFill>
                  <a:srgbClr val="F9EEE7"/>
                </a:solidFill>
                <a:latin typeface="Quattrocento"/>
                <a:ea typeface="Quattrocento"/>
                <a:cs typeface="Quattrocento"/>
                <a:sym typeface="Quattrocento"/>
              </a:rPr>
              <a:t>Fully structured, professionally designed, and ready for immediate institutional </a:t>
            </a:r>
          </a:p>
          <a:p>
            <a:pPr algn="just">
              <a:lnSpc>
                <a:spcPts val="2174"/>
              </a:lnSpc>
            </a:pPr>
            <a:r>
              <a:rPr lang="en-US" sz="1472">
                <a:solidFill>
                  <a:srgbClr val="F9EEE7"/>
                </a:solidFill>
                <a:latin typeface="Quattrocento"/>
                <a:ea typeface="Quattrocento"/>
                <a:cs typeface="Quattrocento"/>
                <a:sym typeface="Quattrocento"/>
              </a:rPr>
              <a:t>integration.</a:t>
            </a:r>
          </a:p>
        </p:txBody>
      </p:sp>
      <p:sp>
        <p:nvSpPr>
          <p:cNvPr id="11" name="TextBox 11"/>
          <p:cNvSpPr txBox="1"/>
          <p:nvPr/>
        </p:nvSpPr>
        <p:spPr>
          <a:xfrm>
            <a:off x="3418437" y="3483073"/>
            <a:ext cx="2079498" cy="1770607"/>
          </a:xfrm>
          <a:prstGeom prst="rect">
            <a:avLst/>
          </a:prstGeom>
        </p:spPr>
        <p:txBody>
          <a:bodyPr lIns="0" tIns="0" rIns="0" bIns="0" rtlCol="0" anchor="t">
            <a:spAutoFit/>
          </a:bodyPr>
          <a:lstStyle/>
          <a:p>
            <a:pPr algn="l">
              <a:lnSpc>
                <a:spcPts val="2349"/>
              </a:lnSpc>
            </a:pPr>
            <a:r>
              <a:rPr lang="en-US" sz="1472">
                <a:solidFill>
                  <a:srgbClr val="F9EEE7"/>
                </a:solidFill>
                <a:latin typeface="Quattrocento"/>
                <a:ea typeface="Quattrocento"/>
                <a:cs typeface="Quattrocento"/>
                <a:sym typeface="Quattrocento"/>
              </a:rPr>
              <a:t>Detailed student performance insights with measurable </a:t>
            </a:r>
          </a:p>
          <a:p>
            <a:pPr algn="l">
              <a:lnSpc>
                <a:spcPts val="2549"/>
              </a:lnSpc>
            </a:pPr>
            <a:r>
              <a:rPr lang="en-US" sz="1472">
                <a:solidFill>
                  <a:srgbClr val="F9EEE7"/>
                </a:solidFill>
                <a:latin typeface="Quattrocento"/>
                <a:ea typeface="Quattrocento"/>
                <a:cs typeface="Quattrocento"/>
                <a:sym typeface="Quattrocento"/>
              </a:rPr>
              <a:t>outcomes — shareable </a:t>
            </a:r>
          </a:p>
          <a:p>
            <a:pPr algn="l">
              <a:lnSpc>
                <a:spcPts val="2099"/>
              </a:lnSpc>
            </a:pPr>
            <a:r>
              <a:rPr lang="en-US" sz="1472">
                <a:solidFill>
                  <a:srgbClr val="F9EEE7"/>
                </a:solidFill>
                <a:latin typeface="Quattrocento"/>
                <a:ea typeface="Quattrocento"/>
                <a:cs typeface="Quattrocento"/>
                <a:sym typeface="Quattrocento"/>
              </a:rPr>
              <a:t>with faculty, leadership, </a:t>
            </a:r>
          </a:p>
          <a:p>
            <a:pPr algn="l">
              <a:lnSpc>
                <a:spcPts val="2700"/>
              </a:lnSpc>
            </a:pPr>
            <a:r>
              <a:rPr lang="en-US" sz="1472">
                <a:solidFill>
                  <a:srgbClr val="F9EEE7"/>
                </a:solidFill>
                <a:latin typeface="Quattrocento"/>
                <a:ea typeface="Quattrocento"/>
                <a:cs typeface="Quattrocento"/>
                <a:sym typeface="Quattrocento"/>
              </a:rPr>
              <a:t>and families.</a:t>
            </a:r>
          </a:p>
        </p:txBody>
      </p:sp>
      <p:sp>
        <p:nvSpPr>
          <p:cNvPr id="12" name="TextBox 12"/>
          <p:cNvSpPr txBox="1"/>
          <p:nvPr/>
        </p:nvSpPr>
        <p:spPr>
          <a:xfrm>
            <a:off x="5995397" y="3216373"/>
            <a:ext cx="2099691" cy="1450716"/>
          </a:xfrm>
          <a:prstGeom prst="rect">
            <a:avLst/>
          </a:prstGeom>
        </p:spPr>
        <p:txBody>
          <a:bodyPr lIns="0" tIns="0" rIns="0" bIns="0" rtlCol="0" anchor="t">
            <a:spAutoFit/>
          </a:bodyPr>
          <a:lstStyle/>
          <a:p>
            <a:pPr algn="l">
              <a:lnSpc>
                <a:spcPts val="2362"/>
              </a:lnSpc>
            </a:pPr>
            <a:r>
              <a:rPr lang="en-US" sz="1472">
                <a:solidFill>
                  <a:srgbClr val="F9EEE7"/>
                </a:solidFill>
                <a:latin typeface="Quattrocento"/>
                <a:ea typeface="Quattrocento"/>
                <a:cs typeface="Quattrocento"/>
                <a:sym typeface="Quattrocento"/>
              </a:rPr>
              <a:t>Complete transparency into student participation, learning outcomes, and progress </a:t>
            </a:r>
          </a:p>
          <a:p>
            <a:pPr algn="l">
              <a:lnSpc>
                <a:spcPts val="2174"/>
              </a:lnSpc>
            </a:pPr>
            <a:r>
              <a:rPr lang="en-US" sz="1472">
                <a:solidFill>
                  <a:srgbClr val="F9EEE7"/>
                </a:solidFill>
                <a:latin typeface="Quattrocento"/>
                <a:ea typeface="Quattrocento"/>
                <a:cs typeface="Quattrocento"/>
                <a:sym typeface="Quattrocento"/>
              </a:rPr>
              <a:t>across your cohort.</a:t>
            </a:r>
          </a:p>
        </p:txBody>
      </p:sp>
      <p:sp>
        <p:nvSpPr>
          <p:cNvPr id="13" name="TextBox 13"/>
          <p:cNvSpPr txBox="1"/>
          <p:nvPr/>
        </p:nvSpPr>
        <p:spPr>
          <a:xfrm>
            <a:off x="8572348" y="3483073"/>
            <a:ext cx="2099386" cy="1770607"/>
          </a:xfrm>
          <a:prstGeom prst="rect">
            <a:avLst/>
          </a:prstGeom>
        </p:spPr>
        <p:txBody>
          <a:bodyPr lIns="0" tIns="0" rIns="0" bIns="0" rtlCol="0" anchor="t">
            <a:spAutoFit/>
          </a:bodyPr>
          <a:lstStyle/>
          <a:p>
            <a:pPr algn="l">
              <a:lnSpc>
                <a:spcPts val="2349"/>
              </a:lnSpc>
            </a:pPr>
            <a:r>
              <a:rPr lang="en-US" sz="1472">
                <a:solidFill>
                  <a:srgbClr val="F9EEE7"/>
                </a:solidFill>
                <a:latin typeface="Quattrocento"/>
                <a:ea typeface="Quattrocento"/>
                <a:cs typeface="Quattrocento"/>
                <a:sym typeface="Quattrocento"/>
              </a:rPr>
              <a:t>A distinctive, celebrated programme that strengthens your </a:t>
            </a:r>
          </a:p>
          <a:p>
            <a:pPr algn="l">
              <a:lnSpc>
                <a:spcPts val="2549"/>
              </a:lnSpc>
            </a:pPr>
            <a:r>
              <a:rPr lang="en-US" sz="1472">
                <a:solidFill>
                  <a:srgbClr val="F9EEE7"/>
                </a:solidFill>
                <a:latin typeface="Quattrocento"/>
                <a:ea typeface="Quattrocento"/>
                <a:cs typeface="Quattrocento"/>
                <a:sym typeface="Quattrocento"/>
              </a:rPr>
              <a:t>academic offering and </a:t>
            </a:r>
          </a:p>
          <a:p>
            <a:pPr algn="l">
              <a:lnSpc>
                <a:spcPts val="2099"/>
              </a:lnSpc>
            </a:pPr>
            <a:r>
              <a:rPr lang="en-US" sz="1472">
                <a:solidFill>
                  <a:srgbClr val="F9EEE7"/>
                </a:solidFill>
                <a:latin typeface="Quattrocento"/>
                <a:ea typeface="Quattrocento"/>
                <a:cs typeface="Quattrocento"/>
                <a:sym typeface="Quattrocento"/>
              </a:rPr>
              <a:t>appeals to prospective </a:t>
            </a:r>
          </a:p>
          <a:p>
            <a:pPr algn="l">
              <a:lnSpc>
                <a:spcPts val="2700"/>
              </a:lnSpc>
            </a:pPr>
            <a:r>
              <a:rPr lang="en-US" sz="1472">
                <a:solidFill>
                  <a:srgbClr val="F9EEE7"/>
                </a:solidFill>
                <a:latin typeface="Quattrocento"/>
                <a:ea typeface="Quattrocento"/>
                <a:cs typeface="Quattrocento"/>
                <a:sym typeface="Quattrocento"/>
              </a:rPr>
              <a:t>families.</a:t>
            </a:r>
          </a:p>
        </p:txBody>
      </p:sp>
      <p:sp>
        <p:nvSpPr>
          <p:cNvPr id="14" name="TextBox 14"/>
          <p:cNvSpPr txBox="1"/>
          <p:nvPr/>
        </p:nvSpPr>
        <p:spPr>
          <a:xfrm>
            <a:off x="841477" y="2815809"/>
            <a:ext cx="1646253" cy="306486"/>
          </a:xfrm>
          <a:prstGeom prst="rect">
            <a:avLst/>
          </a:prstGeom>
        </p:spPr>
        <p:txBody>
          <a:bodyPr lIns="0" tIns="0" rIns="0" bIns="0" rtlCol="0" anchor="t">
            <a:spAutoFit/>
          </a:bodyPr>
          <a:lstStyle/>
          <a:p>
            <a:pPr algn="l">
              <a:lnSpc>
                <a:spcPts val="2424"/>
              </a:lnSpc>
            </a:pPr>
            <a:r>
              <a:rPr lang="en-US" sz="1731">
                <a:solidFill>
                  <a:srgbClr val="F9EEE7"/>
                </a:solidFill>
                <a:latin typeface="Quattrocento"/>
                <a:ea typeface="Quattrocento"/>
                <a:cs typeface="Quattrocento"/>
                <a:sym typeface="Quattrocento"/>
              </a:rPr>
              <a:t>Ready to Deploy</a:t>
            </a:r>
          </a:p>
        </p:txBody>
      </p:sp>
      <p:sp>
        <p:nvSpPr>
          <p:cNvPr id="15" name="TextBox 15"/>
          <p:cNvSpPr txBox="1"/>
          <p:nvPr/>
        </p:nvSpPr>
        <p:spPr>
          <a:xfrm>
            <a:off x="3418437" y="2844384"/>
            <a:ext cx="1362847" cy="554136"/>
          </a:xfrm>
          <a:prstGeom prst="rect">
            <a:avLst/>
          </a:prstGeom>
        </p:spPr>
        <p:txBody>
          <a:bodyPr lIns="0" tIns="0" rIns="0" bIns="0" rtlCol="0" anchor="t">
            <a:spAutoFit/>
          </a:bodyPr>
          <a:lstStyle/>
          <a:p>
            <a:pPr algn="l">
              <a:lnSpc>
                <a:spcPts val="2175"/>
              </a:lnSpc>
            </a:pPr>
            <a:r>
              <a:rPr lang="en-US" sz="1731">
                <a:solidFill>
                  <a:srgbClr val="F9EEE7"/>
                </a:solidFill>
                <a:latin typeface="Quattrocento"/>
                <a:ea typeface="Quattrocento"/>
                <a:cs typeface="Quattrocento"/>
                <a:sym typeface="Quattrocento"/>
              </a:rPr>
              <a:t>Performance Reports</a:t>
            </a:r>
          </a:p>
        </p:txBody>
      </p:sp>
      <p:sp>
        <p:nvSpPr>
          <p:cNvPr id="16" name="TextBox 16"/>
          <p:cNvSpPr txBox="1"/>
          <p:nvPr/>
        </p:nvSpPr>
        <p:spPr>
          <a:xfrm>
            <a:off x="5995397" y="2815809"/>
            <a:ext cx="1298486" cy="306486"/>
          </a:xfrm>
          <a:prstGeom prst="rect">
            <a:avLst/>
          </a:prstGeom>
        </p:spPr>
        <p:txBody>
          <a:bodyPr lIns="0" tIns="0" rIns="0" bIns="0" rtlCol="0" anchor="t">
            <a:spAutoFit/>
          </a:bodyPr>
          <a:lstStyle/>
          <a:p>
            <a:pPr algn="l">
              <a:lnSpc>
                <a:spcPts val="2424"/>
              </a:lnSpc>
            </a:pPr>
            <a:r>
              <a:rPr lang="en-US" sz="1731">
                <a:solidFill>
                  <a:srgbClr val="F9EEE7"/>
                </a:solidFill>
                <a:latin typeface="Quattrocento"/>
                <a:ea typeface="Quattrocento"/>
                <a:cs typeface="Quattrocento"/>
                <a:sym typeface="Quattrocento"/>
              </a:rPr>
              <a:t>Full Visibility</a:t>
            </a:r>
          </a:p>
        </p:txBody>
      </p:sp>
      <p:sp>
        <p:nvSpPr>
          <p:cNvPr id="17" name="TextBox 17"/>
          <p:cNvSpPr txBox="1"/>
          <p:nvPr/>
        </p:nvSpPr>
        <p:spPr>
          <a:xfrm>
            <a:off x="8572348" y="2844384"/>
            <a:ext cx="1484833" cy="554136"/>
          </a:xfrm>
          <a:prstGeom prst="rect">
            <a:avLst/>
          </a:prstGeom>
        </p:spPr>
        <p:txBody>
          <a:bodyPr lIns="0" tIns="0" rIns="0" bIns="0" rtlCol="0" anchor="t">
            <a:spAutoFit/>
          </a:bodyPr>
          <a:lstStyle/>
          <a:p>
            <a:pPr algn="l">
              <a:lnSpc>
                <a:spcPts val="2175"/>
              </a:lnSpc>
            </a:pPr>
            <a:r>
              <a:rPr lang="en-US" sz="1731">
                <a:solidFill>
                  <a:srgbClr val="F9EEE7"/>
                </a:solidFill>
                <a:latin typeface="Quattrocento"/>
                <a:ea typeface="Quattrocento"/>
                <a:cs typeface="Quattrocento"/>
                <a:sym typeface="Quattrocento"/>
              </a:rPr>
              <a:t>Academic Differentiation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7143750" y="9525"/>
            <a:ext cx="4286250" cy="6429375"/>
            <a:chOff x="0" y="0"/>
            <a:chExt cx="5715000" cy="8572500"/>
          </a:xfrm>
        </p:grpSpPr>
        <p:sp>
          <p:nvSpPr>
            <p:cNvPr id="6" name="Freeform 6"/>
            <p:cNvSpPr/>
            <p:nvPr/>
          </p:nvSpPr>
          <p:spPr>
            <a:xfrm>
              <a:off x="0" y="0"/>
              <a:ext cx="5715000" cy="8572500"/>
            </a:xfrm>
            <a:custGeom>
              <a:avLst/>
              <a:gdLst/>
              <a:ahLst/>
              <a:cxnLst/>
              <a:rect l="l" t="t" r="r" b="b"/>
              <a:pathLst>
                <a:path w="5715000" h="8572500">
                  <a:moveTo>
                    <a:pt x="0" y="0"/>
                  </a:moveTo>
                  <a:lnTo>
                    <a:pt x="5715000" y="0"/>
                  </a:lnTo>
                  <a:lnTo>
                    <a:pt x="5715000" y="8572500"/>
                  </a:lnTo>
                  <a:lnTo>
                    <a:pt x="0" y="8572500"/>
                  </a:lnTo>
                  <a:lnTo>
                    <a:pt x="0" y="0"/>
                  </a:lnTo>
                  <a:close/>
                </a:path>
              </a:pathLst>
            </a:custGeom>
            <a:blipFill>
              <a:blip r:embed="rId2"/>
              <a:stretch>
                <a:fillRect/>
              </a:stretch>
            </a:blipFill>
          </p:spPr>
          <p:txBody>
            <a:bodyPr/>
            <a:lstStyle/>
            <a:p>
              <a:endParaRPr lang="en-IN"/>
            </a:p>
          </p:txBody>
        </p:sp>
      </p:grpSp>
      <p:sp>
        <p:nvSpPr>
          <p:cNvPr id="7" name="Freeform 7"/>
          <p:cNvSpPr/>
          <p:nvPr/>
        </p:nvSpPr>
        <p:spPr>
          <a:xfrm>
            <a:off x="555622" y="1365247"/>
            <a:ext cx="6013447" cy="1470022"/>
          </a:xfrm>
          <a:custGeom>
            <a:avLst/>
            <a:gdLst/>
            <a:ahLst/>
            <a:cxnLst/>
            <a:rect l="l" t="t" r="r" b="b"/>
            <a:pathLst>
              <a:path w="6013447" h="1470022">
                <a:moveTo>
                  <a:pt x="0" y="0"/>
                </a:moveTo>
                <a:lnTo>
                  <a:pt x="6013447" y="0"/>
                </a:lnTo>
                <a:lnTo>
                  <a:pt x="6013447" y="1470022"/>
                </a:lnTo>
                <a:lnTo>
                  <a:pt x="0" y="14700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555622" y="2879722"/>
            <a:ext cx="6013447" cy="1470022"/>
          </a:xfrm>
          <a:custGeom>
            <a:avLst/>
            <a:gdLst/>
            <a:ahLst/>
            <a:cxnLst/>
            <a:rect l="l" t="t" r="r" b="b"/>
            <a:pathLst>
              <a:path w="6013447" h="1470022">
                <a:moveTo>
                  <a:pt x="0" y="0"/>
                </a:moveTo>
                <a:lnTo>
                  <a:pt x="6013447" y="0"/>
                </a:lnTo>
                <a:lnTo>
                  <a:pt x="6013447" y="1470022"/>
                </a:lnTo>
                <a:lnTo>
                  <a:pt x="0" y="14700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555622" y="4403722"/>
            <a:ext cx="6013447" cy="1470022"/>
          </a:xfrm>
          <a:custGeom>
            <a:avLst/>
            <a:gdLst/>
            <a:ahLst/>
            <a:cxnLst/>
            <a:rect l="l" t="t" r="r" b="b"/>
            <a:pathLst>
              <a:path w="6013447" h="1470022">
                <a:moveTo>
                  <a:pt x="0" y="0"/>
                </a:moveTo>
                <a:lnTo>
                  <a:pt x="6013447" y="0"/>
                </a:lnTo>
                <a:lnTo>
                  <a:pt x="6013447" y="1470022"/>
                </a:lnTo>
                <a:lnTo>
                  <a:pt x="0" y="14700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TextBox 10"/>
          <p:cNvSpPr txBox="1"/>
          <p:nvPr/>
        </p:nvSpPr>
        <p:spPr>
          <a:xfrm>
            <a:off x="634013" y="566814"/>
            <a:ext cx="4086387" cy="568366"/>
          </a:xfrm>
          <a:prstGeom prst="rect">
            <a:avLst/>
          </a:prstGeom>
        </p:spPr>
        <p:txBody>
          <a:bodyPr lIns="0" tIns="0" rIns="0" bIns="0" rtlCol="0" anchor="t">
            <a:spAutoFit/>
          </a:bodyPr>
          <a:lstStyle/>
          <a:p>
            <a:pPr algn="l">
              <a:lnSpc>
                <a:spcPts val="4698"/>
              </a:lnSpc>
            </a:pPr>
            <a:r>
              <a:rPr lang="en-US" sz="3356">
                <a:solidFill>
                  <a:srgbClr val="FFD9BE"/>
                </a:solidFill>
                <a:latin typeface="Quattrocento"/>
                <a:ea typeface="Quattrocento"/>
                <a:cs typeface="Quattrocento"/>
                <a:sym typeface="Quattrocento"/>
              </a:rPr>
              <a:t>Compliance &amp; Safety</a:t>
            </a:r>
          </a:p>
        </p:txBody>
      </p:sp>
      <p:sp>
        <p:nvSpPr>
          <p:cNvPr id="11" name="TextBox 11"/>
          <p:cNvSpPr txBox="1"/>
          <p:nvPr/>
        </p:nvSpPr>
        <p:spPr>
          <a:xfrm>
            <a:off x="891330" y="1593132"/>
            <a:ext cx="2325748" cy="288884"/>
          </a:xfrm>
          <a:prstGeom prst="rect">
            <a:avLst/>
          </a:prstGeom>
        </p:spPr>
        <p:txBody>
          <a:bodyPr lIns="0" tIns="0" rIns="0" bIns="0" rtlCol="0" anchor="t">
            <a:spAutoFit/>
          </a:bodyPr>
          <a:lstStyle/>
          <a:p>
            <a:pPr algn="l">
              <a:lnSpc>
                <a:spcPts val="2348"/>
              </a:lnSpc>
            </a:pPr>
            <a:r>
              <a:rPr lang="en-US" sz="1677">
                <a:solidFill>
                  <a:srgbClr val="F9EEE7"/>
                </a:solidFill>
                <a:latin typeface="Quattrocento"/>
                <a:ea typeface="Quattrocento"/>
                <a:cs typeface="Quattrocento"/>
                <a:sym typeface="Quattrocento"/>
              </a:rPr>
              <a:t>No real money involved</a:t>
            </a:r>
          </a:p>
        </p:txBody>
      </p:sp>
      <p:sp>
        <p:nvSpPr>
          <p:cNvPr id="12" name="TextBox 12"/>
          <p:cNvSpPr txBox="1"/>
          <p:nvPr/>
        </p:nvSpPr>
        <p:spPr>
          <a:xfrm>
            <a:off x="1199969" y="2002298"/>
            <a:ext cx="44348"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 </a:t>
            </a:r>
          </a:p>
        </p:txBody>
      </p:sp>
      <p:sp>
        <p:nvSpPr>
          <p:cNvPr id="13" name="TextBox 13"/>
          <p:cNvSpPr txBox="1"/>
          <p:nvPr/>
        </p:nvSpPr>
        <p:spPr>
          <a:xfrm>
            <a:off x="891330" y="3107607"/>
            <a:ext cx="3523336" cy="288884"/>
          </a:xfrm>
          <a:prstGeom prst="rect">
            <a:avLst/>
          </a:prstGeom>
        </p:spPr>
        <p:txBody>
          <a:bodyPr lIns="0" tIns="0" rIns="0" bIns="0" rtlCol="0" anchor="t">
            <a:spAutoFit/>
          </a:bodyPr>
          <a:lstStyle/>
          <a:p>
            <a:pPr algn="l">
              <a:lnSpc>
                <a:spcPts val="2348"/>
              </a:lnSpc>
            </a:pPr>
            <a:r>
              <a:rPr lang="en-US" sz="1677">
                <a:solidFill>
                  <a:srgbClr val="F9EEE7"/>
                </a:solidFill>
                <a:latin typeface="Quattrocento"/>
                <a:ea typeface="Quattrocento"/>
                <a:cs typeface="Quattrocento"/>
                <a:sym typeface="Quattrocento"/>
              </a:rPr>
              <a:t>No trading, transactions, or advisory</a:t>
            </a:r>
          </a:p>
        </p:txBody>
      </p:sp>
      <p:sp>
        <p:nvSpPr>
          <p:cNvPr id="14" name="TextBox 14"/>
          <p:cNvSpPr txBox="1"/>
          <p:nvPr/>
        </p:nvSpPr>
        <p:spPr>
          <a:xfrm>
            <a:off x="1474184" y="3516773"/>
            <a:ext cx="44348"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 </a:t>
            </a:r>
          </a:p>
        </p:txBody>
      </p:sp>
      <p:sp>
        <p:nvSpPr>
          <p:cNvPr id="15" name="TextBox 15"/>
          <p:cNvSpPr txBox="1"/>
          <p:nvPr/>
        </p:nvSpPr>
        <p:spPr>
          <a:xfrm>
            <a:off x="891330" y="4631607"/>
            <a:ext cx="4657706" cy="288884"/>
          </a:xfrm>
          <a:prstGeom prst="rect">
            <a:avLst/>
          </a:prstGeom>
        </p:spPr>
        <p:txBody>
          <a:bodyPr lIns="0" tIns="0" rIns="0" bIns="0" rtlCol="0" anchor="t">
            <a:spAutoFit/>
          </a:bodyPr>
          <a:lstStyle/>
          <a:p>
            <a:pPr algn="l">
              <a:lnSpc>
                <a:spcPts val="2348"/>
              </a:lnSpc>
            </a:pPr>
            <a:r>
              <a:rPr lang="en-US" sz="1677">
                <a:solidFill>
                  <a:srgbClr val="F9EEE7"/>
                </a:solidFill>
                <a:latin typeface="Quattrocento"/>
                <a:ea typeface="Quattrocento"/>
                <a:cs typeface="Quattrocento"/>
                <a:sym typeface="Quattrocento"/>
              </a:rPr>
              <a:t>Fully controlled, risk-free learning environment</a:t>
            </a:r>
          </a:p>
        </p:txBody>
      </p:sp>
      <p:sp>
        <p:nvSpPr>
          <p:cNvPr id="16" name="TextBox 16"/>
          <p:cNvSpPr txBox="1"/>
          <p:nvPr/>
        </p:nvSpPr>
        <p:spPr>
          <a:xfrm>
            <a:off x="1172613" y="5040773"/>
            <a:ext cx="44348"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 </a:t>
            </a:r>
          </a:p>
        </p:txBody>
      </p:sp>
      <p:sp>
        <p:nvSpPr>
          <p:cNvPr id="17" name="TextBox 17"/>
          <p:cNvSpPr txBox="1"/>
          <p:nvPr/>
        </p:nvSpPr>
        <p:spPr>
          <a:xfrm>
            <a:off x="891149" y="5040773"/>
            <a:ext cx="4828956"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Weprovide asafe and regulatedspaceforallparticipants, </a:t>
            </a:r>
          </a:p>
        </p:txBody>
      </p:sp>
      <p:sp>
        <p:nvSpPr>
          <p:cNvPr id="18" name="TextBox 18"/>
          <p:cNvSpPr txBox="1"/>
          <p:nvPr/>
        </p:nvSpPr>
        <p:spPr>
          <a:xfrm>
            <a:off x="891330" y="5326523"/>
            <a:ext cx="4939913"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ensuring a secure and constructive educational experience.</a:t>
            </a:r>
          </a:p>
        </p:txBody>
      </p:sp>
      <p:sp>
        <p:nvSpPr>
          <p:cNvPr id="19" name="TextBox 19"/>
          <p:cNvSpPr txBox="1"/>
          <p:nvPr/>
        </p:nvSpPr>
        <p:spPr>
          <a:xfrm>
            <a:off x="891330" y="2002298"/>
            <a:ext cx="5161558" cy="239992"/>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The program is purelyeducational at every stage, removing any </a:t>
            </a:r>
          </a:p>
        </p:txBody>
      </p:sp>
      <p:sp>
        <p:nvSpPr>
          <p:cNvPr id="20" name="TextBox 20"/>
          <p:cNvSpPr txBox="1"/>
          <p:nvPr/>
        </p:nvSpPr>
        <p:spPr>
          <a:xfrm>
            <a:off x="891330" y="2288048"/>
            <a:ext cx="3488560"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financial risk for students and institutions.</a:t>
            </a:r>
          </a:p>
        </p:txBody>
      </p:sp>
      <p:sp>
        <p:nvSpPr>
          <p:cNvPr id="21" name="TextBox 21"/>
          <p:cNvSpPr txBox="1"/>
          <p:nvPr/>
        </p:nvSpPr>
        <p:spPr>
          <a:xfrm>
            <a:off x="891330" y="3516773"/>
            <a:ext cx="4643735" cy="239992"/>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Fnomo Young Investor operates fully within educational </a:t>
            </a:r>
          </a:p>
        </p:txBody>
      </p:sp>
      <p:sp>
        <p:nvSpPr>
          <p:cNvPr id="22" name="TextBox 22"/>
          <p:cNvSpPr txBox="1"/>
          <p:nvPr/>
        </p:nvSpPr>
        <p:spPr>
          <a:xfrm>
            <a:off x="891330" y="3802523"/>
            <a:ext cx="5441690" cy="241811"/>
          </a:xfrm>
          <a:prstGeom prst="rect">
            <a:avLst/>
          </a:prstGeom>
        </p:spPr>
        <p:txBody>
          <a:bodyPr lIns="0" tIns="0" rIns="0" bIns="0" rtlCol="0" anchor="t">
            <a:spAutoFit/>
          </a:bodyPr>
          <a:lstStyle/>
          <a:p>
            <a:pPr algn="l">
              <a:lnSpc>
                <a:spcPts val="1997"/>
              </a:lnSpc>
            </a:pPr>
            <a:r>
              <a:rPr lang="en-US" sz="1426">
                <a:solidFill>
                  <a:srgbClr val="F9EEE7"/>
                </a:solidFill>
                <a:latin typeface="Quattrocento"/>
                <a:ea typeface="Quattrocento"/>
                <a:cs typeface="Quattrocento"/>
                <a:sym typeface="Quattrocento"/>
              </a:rPr>
              <a:t>boundaries, focusing on learning rather than financial operations.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503"/>
            <a:ext cx="11556997" cy="6565897"/>
            <a:chOff x="0" y="0"/>
            <a:chExt cx="11557000" cy="6565900"/>
          </a:xfrm>
        </p:grpSpPr>
        <p:sp>
          <p:nvSpPr>
            <p:cNvPr id="3" name="Freeform 3"/>
            <p:cNvSpPr/>
            <p:nvPr/>
          </p:nvSpPr>
          <p:spPr>
            <a:xfrm>
              <a:off x="63500" y="73025"/>
              <a:ext cx="11430000" cy="6429375"/>
            </a:xfrm>
            <a:custGeom>
              <a:avLst/>
              <a:gdLst/>
              <a:ahLst/>
              <a:cxnLst/>
              <a:rect l="l" t="t" r="r" b="b"/>
              <a:pathLst>
                <a:path w="11430000" h="6429375">
                  <a:moveTo>
                    <a:pt x="0" y="0"/>
                  </a:moveTo>
                  <a:lnTo>
                    <a:pt x="11430000" y="0"/>
                  </a:lnTo>
                  <a:lnTo>
                    <a:pt x="11430000" y="6429375"/>
                  </a:lnTo>
                  <a:lnTo>
                    <a:pt x="0" y="6429375"/>
                  </a:lnTo>
                  <a:close/>
                </a:path>
              </a:pathLst>
            </a:custGeom>
            <a:solidFill>
              <a:srgbClr val="123332"/>
            </a:solidFill>
          </p:spPr>
          <p:txBody>
            <a:bodyPr/>
            <a:lstStyle/>
            <a:p>
              <a:endParaRPr lang="en-IN"/>
            </a:p>
          </p:txBody>
        </p:sp>
        <p:sp>
          <p:nvSpPr>
            <p:cNvPr id="4" name="Freeform 4"/>
            <p:cNvSpPr/>
            <p:nvPr/>
          </p:nvSpPr>
          <p:spPr>
            <a:xfrm>
              <a:off x="63500" y="63500"/>
              <a:ext cx="11430000" cy="9525"/>
            </a:xfrm>
            <a:custGeom>
              <a:avLst/>
              <a:gdLst/>
              <a:ahLst/>
              <a:cxnLst/>
              <a:rect l="l" t="t" r="r" b="b"/>
              <a:pathLst>
                <a:path w="11430000" h="9525">
                  <a:moveTo>
                    <a:pt x="0" y="0"/>
                  </a:moveTo>
                  <a:lnTo>
                    <a:pt x="0" y="9525"/>
                  </a:lnTo>
                  <a:lnTo>
                    <a:pt x="11430000" y="9525"/>
                  </a:lnTo>
                  <a:lnTo>
                    <a:pt x="11430000" y="0"/>
                  </a:lnTo>
                  <a:close/>
                </a:path>
              </a:pathLst>
            </a:custGeom>
            <a:solidFill>
              <a:srgbClr val="000000"/>
            </a:solidFill>
          </p:spPr>
          <p:txBody>
            <a:bodyPr/>
            <a:lstStyle/>
            <a:p>
              <a:endParaRPr lang="en-IN"/>
            </a:p>
          </p:txBody>
        </p:sp>
        <p:sp>
          <p:nvSpPr>
            <p:cNvPr id="5" name="Freeform 5"/>
            <p:cNvSpPr/>
            <p:nvPr/>
          </p:nvSpPr>
          <p:spPr>
            <a:xfrm>
              <a:off x="720725" y="2835275"/>
              <a:ext cx="19050" cy="1314450"/>
            </a:xfrm>
            <a:custGeom>
              <a:avLst/>
              <a:gdLst/>
              <a:ahLst/>
              <a:cxnLst/>
              <a:rect l="l" t="t" r="r" b="b"/>
              <a:pathLst>
                <a:path w="19050" h="1314450">
                  <a:moveTo>
                    <a:pt x="0" y="0"/>
                  </a:moveTo>
                  <a:lnTo>
                    <a:pt x="19050" y="0"/>
                  </a:lnTo>
                  <a:lnTo>
                    <a:pt x="19050" y="1314450"/>
                  </a:lnTo>
                  <a:lnTo>
                    <a:pt x="0" y="1314450"/>
                  </a:lnTo>
                  <a:close/>
                </a:path>
              </a:pathLst>
            </a:custGeom>
            <a:solidFill>
              <a:srgbClr val="EF9C82"/>
            </a:solidFill>
          </p:spPr>
          <p:txBody>
            <a:bodyPr/>
            <a:lstStyle/>
            <a:p>
              <a:endParaRPr lang="en-IN"/>
            </a:p>
          </p:txBody>
        </p:sp>
      </p:grpSp>
      <p:sp>
        <p:nvSpPr>
          <p:cNvPr id="6" name="TextBox 6"/>
          <p:cNvSpPr txBox="1"/>
          <p:nvPr/>
        </p:nvSpPr>
        <p:spPr>
          <a:xfrm>
            <a:off x="4211841" y="1792957"/>
            <a:ext cx="3066212" cy="584511"/>
          </a:xfrm>
          <a:prstGeom prst="rect">
            <a:avLst/>
          </a:prstGeom>
        </p:spPr>
        <p:txBody>
          <a:bodyPr lIns="0" tIns="0" rIns="0" bIns="0" rtlCol="0" anchor="t">
            <a:spAutoFit/>
          </a:bodyPr>
          <a:lstStyle/>
          <a:p>
            <a:pPr algn="l">
              <a:lnSpc>
                <a:spcPts val="4849"/>
              </a:lnSpc>
            </a:pPr>
            <a:r>
              <a:rPr lang="en-US" sz="3464">
                <a:solidFill>
                  <a:srgbClr val="FFD9BE"/>
                </a:solidFill>
                <a:latin typeface="Quattrocento"/>
                <a:ea typeface="Quattrocento"/>
                <a:cs typeface="Quattrocento"/>
                <a:sym typeface="Quattrocento"/>
              </a:rPr>
              <a:t>Founder's Note</a:t>
            </a:r>
          </a:p>
        </p:txBody>
      </p:sp>
      <p:sp>
        <p:nvSpPr>
          <p:cNvPr id="7" name="TextBox 7"/>
          <p:cNvSpPr txBox="1"/>
          <p:nvPr/>
        </p:nvSpPr>
        <p:spPr>
          <a:xfrm>
            <a:off x="4999434" y="4292698"/>
            <a:ext cx="1459763" cy="258175"/>
          </a:xfrm>
          <a:prstGeom prst="rect">
            <a:avLst/>
          </a:prstGeom>
        </p:spPr>
        <p:txBody>
          <a:bodyPr lIns="0" tIns="0" rIns="0" bIns="0" rtlCol="0" anchor="t">
            <a:spAutoFit/>
          </a:bodyPr>
          <a:lstStyle/>
          <a:p>
            <a:pPr algn="l">
              <a:lnSpc>
                <a:spcPts val="2061"/>
              </a:lnSpc>
            </a:pPr>
            <a:r>
              <a:rPr lang="en-US" sz="1472" b="1">
                <a:solidFill>
                  <a:srgbClr val="F9EEE7"/>
                </a:solidFill>
                <a:latin typeface="Quattrocento Bold"/>
                <a:ea typeface="Quattrocento Bold"/>
                <a:cs typeface="Quattrocento Bold"/>
                <a:sym typeface="Quattrocento Bold"/>
              </a:rPr>
              <a:t>— Indu, Founder</a:t>
            </a:r>
          </a:p>
        </p:txBody>
      </p:sp>
      <p:sp>
        <p:nvSpPr>
          <p:cNvPr id="8" name="TextBox 8"/>
          <p:cNvSpPr txBox="1"/>
          <p:nvPr/>
        </p:nvSpPr>
        <p:spPr>
          <a:xfrm>
            <a:off x="934936" y="2949673"/>
            <a:ext cx="10063667" cy="877300"/>
          </a:xfrm>
          <a:prstGeom prst="rect">
            <a:avLst/>
          </a:prstGeom>
        </p:spPr>
        <p:txBody>
          <a:bodyPr lIns="0" tIns="0" rIns="0" bIns="0" rtlCol="0" anchor="t">
            <a:spAutoFit/>
          </a:bodyPr>
          <a:lstStyle/>
          <a:p>
            <a:pPr algn="l">
              <a:lnSpc>
                <a:spcPts val="2324"/>
              </a:lnSpc>
            </a:pPr>
            <a:r>
              <a:rPr lang="en-US" sz="1472">
                <a:solidFill>
                  <a:srgbClr val="F9EEE7"/>
                </a:solidFill>
                <a:latin typeface="Quattrocento"/>
                <a:ea typeface="Quattrocento"/>
                <a:cs typeface="Quattrocento"/>
                <a:sym typeface="Quattrocento"/>
              </a:rPr>
              <a:t>"I designed Fnomo with simplicity — my 15 and 11 year old can understand financial analysis and wealth management. </a:t>
            </a:r>
          </a:p>
          <a:p>
            <a:pPr algn="l">
              <a:lnSpc>
                <a:spcPts val="2324"/>
              </a:lnSpc>
            </a:pPr>
            <a:r>
              <a:rPr lang="en-US" sz="1472">
                <a:solidFill>
                  <a:srgbClr val="F9EEE7"/>
                </a:solidFill>
                <a:latin typeface="Quattrocento"/>
                <a:ea typeface="Quattrocento"/>
                <a:cs typeface="Quattrocento"/>
                <a:sym typeface="Quattrocento"/>
              </a:rPr>
              <a:t>If they can, why can't thousands of other kids? Through initiatives like Fnomo Young Investor, we're building a strong financial foundation for the next generation and the country."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4241"/>
        </a:solidFill>
        <a:effectLst/>
      </p:bgPr>
    </p:bg>
    <p:spTree>
      <p:nvGrpSpPr>
        <p:cNvPr id="1" name=""/>
        <p:cNvGrpSpPr/>
        <p:nvPr/>
      </p:nvGrpSpPr>
      <p:grpSpPr>
        <a:xfrm>
          <a:off x="0" y="0"/>
          <a:ext cx="0" cy="0"/>
          <a:chOff x="0" y="0"/>
          <a:chExt cx="0" cy="0"/>
        </a:xfrm>
      </p:grpSpPr>
      <p:grpSp>
        <p:nvGrpSpPr>
          <p:cNvPr id="2" name="Group 2"/>
          <p:cNvGrpSpPr/>
          <p:nvPr/>
        </p:nvGrpSpPr>
        <p:grpSpPr>
          <a:xfrm>
            <a:off x="-63503" y="-63246"/>
            <a:ext cx="11556997" cy="6565897"/>
            <a:chOff x="0" y="0"/>
            <a:chExt cx="11557000" cy="6565900"/>
          </a:xfrm>
        </p:grpSpPr>
        <p:sp>
          <p:nvSpPr>
            <p:cNvPr id="3" name="Freeform 3"/>
            <p:cNvSpPr/>
            <p:nvPr/>
          </p:nvSpPr>
          <p:spPr>
            <a:xfrm>
              <a:off x="63500" y="72771"/>
              <a:ext cx="11430000" cy="6429375"/>
            </a:xfrm>
            <a:custGeom>
              <a:avLst/>
              <a:gdLst/>
              <a:ahLst/>
              <a:cxnLst/>
              <a:rect l="l" t="t" r="r" b="b"/>
              <a:pathLst>
                <a:path w="11430000" h="6429375">
                  <a:moveTo>
                    <a:pt x="0" y="6429375"/>
                  </a:moveTo>
                  <a:lnTo>
                    <a:pt x="11430000" y="6429375"/>
                  </a:lnTo>
                  <a:lnTo>
                    <a:pt x="11430000" y="0"/>
                  </a:lnTo>
                  <a:lnTo>
                    <a:pt x="0" y="0"/>
                  </a:lnTo>
                  <a:close/>
                </a:path>
              </a:pathLst>
            </a:custGeom>
            <a:solidFill>
              <a:srgbClr val="123332"/>
            </a:solidFill>
          </p:spPr>
          <p:txBody>
            <a:bodyPr/>
            <a:lstStyle/>
            <a:p>
              <a:endParaRPr lang="en-IN"/>
            </a:p>
          </p:txBody>
        </p:sp>
        <p:sp>
          <p:nvSpPr>
            <p:cNvPr id="4" name="Freeform 4"/>
            <p:cNvSpPr/>
            <p:nvPr/>
          </p:nvSpPr>
          <p:spPr>
            <a:xfrm>
              <a:off x="63500" y="63500"/>
              <a:ext cx="11430000" cy="6438900"/>
            </a:xfrm>
            <a:custGeom>
              <a:avLst/>
              <a:gdLst/>
              <a:ahLst/>
              <a:cxnLst/>
              <a:rect l="l" t="t" r="r" b="b"/>
              <a:pathLst>
                <a:path w="11430000" h="6438900">
                  <a:moveTo>
                    <a:pt x="0" y="0"/>
                  </a:moveTo>
                  <a:lnTo>
                    <a:pt x="0" y="9271"/>
                  </a:lnTo>
                  <a:lnTo>
                    <a:pt x="11430000" y="9271"/>
                  </a:lnTo>
                  <a:lnTo>
                    <a:pt x="11430000" y="0"/>
                  </a:lnTo>
                  <a:close/>
                  <a:moveTo>
                    <a:pt x="0" y="6438646"/>
                  </a:moveTo>
                  <a:lnTo>
                    <a:pt x="0" y="6438900"/>
                  </a:lnTo>
                  <a:lnTo>
                    <a:pt x="11430000" y="6438900"/>
                  </a:lnTo>
                  <a:lnTo>
                    <a:pt x="11430000" y="6438646"/>
                  </a:lnTo>
                  <a:close/>
                </a:path>
              </a:pathLst>
            </a:custGeom>
            <a:solidFill>
              <a:srgbClr val="000000"/>
            </a:solidFill>
          </p:spPr>
          <p:txBody>
            <a:bodyPr/>
            <a:lstStyle/>
            <a:p>
              <a:endParaRPr lang="en-IN"/>
            </a:p>
          </p:txBody>
        </p:sp>
      </p:grpSp>
      <p:grpSp>
        <p:nvGrpSpPr>
          <p:cNvPr id="5" name="Group 5"/>
          <p:cNvGrpSpPr/>
          <p:nvPr/>
        </p:nvGrpSpPr>
        <p:grpSpPr>
          <a:xfrm>
            <a:off x="8213668" y="0"/>
            <a:ext cx="3216332" cy="6429375"/>
            <a:chOff x="0" y="0"/>
            <a:chExt cx="4288443" cy="8572500"/>
          </a:xfrm>
        </p:grpSpPr>
        <p:sp>
          <p:nvSpPr>
            <p:cNvPr id="6" name="Freeform 6"/>
            <p:cNvSpPr/>
            <p:nvPr/>
          </p:nvSpPr>
          <p:spPr>
            <a:xfrm>
              <a:off x="0" y="0"/>
              <a:ext cx="4288443" cy="8572500"/>
            </a:xfrm>
            <a:custGeom>
              <a:avLst/>
              <a:gdLst/>
              <a:ahLst/>
              <a:cxnLst/>
              <a:rect l="l" t="t" r="r" b="b"/>
              <a:pathLst>
                <a:path w="4288443" h="8572500">
                  <a:moveTo>
                    <a:pt x="0" y="0"/>
                  </a:moveTo>
                  <a:lnTo>
                    <a:pt x="4288443" y="0"/>
                  </a:lnTo>
                  <a:lnTo>
                    <a:pt x="4288443" y="8572500"/>
                  </a:lnTo>
                  <a:lnTo>
                    <a:pt x="0" y="8572500"/>
                  </a:lnTo>
                  <a:lnTo>
                    <a:pt x="0" y="0"/>
                  </a:lnTo>
                  <a:close/>
                </a:path>
              </a:pathLst>
            </a:custGeom>
            <a:blipFill>
              <a:blip r:embed="rId2"/>
              <a:stretch>
                <a:fillRect l="-16632" r="-16632"/>
              </a:stretch>
            </a:blipFill>
          </p:spPr>
          <p:txBody>
            <a:bodyPr/>
            <a:lstStyle/>
            <a:p>
              <a:endParaRPr lang="en-IN"/>
            </a:p>
          </p:txBody>
        </p:sp>
      </p:grpSp>
      <p:sp>
        <p:nvSpPr>
          <p:cNvPr id="7" name="TextBox 7"/>
          <p:cNvSpPr txBox="1"/>
          <p:nvPr/>
        </p:nvSpPr>
        <p:spPr>
          <a:xfrm>
            <a:off x="654548" y="2345407"/>
            <a:ext cx="2556910" cy="584511"/>
          </a:xfrm>
          <a:prstGeom prst="rect">
            <a:avLst/>
          </a:prstGeom>
        </p:spPr>
        <p:txBody>
          <a:bodyPr lIns="0" tIns="0" rIns="0" bIns="0" rtlCol="0" anchor="t">
            <a:spAutoFit/>
          </a:bodyPr>
          <a:lstStyle/>
          <a:p>
            <a:pPr algn="l">
              <a:lnSpc>
                <a:spcPts val="4849"/>
              </a:lnSpc>
            </a:pPr>
            <a:r>
              <a:rPr lang="en-US" sz="3464">
                <a:solidFill>
                  <a:srgbClr val="FFD9BE"/>
                </a:solidFill>
                <a:latin typeface="Quattrocento"/>
                <a:ea typeface="Quattrocento"/>
                <a:cs typeface="Quattrocento"/>
                <a:sym typeface="Quattrocento"/>
              </a:rPr>
              <a:t>Get in Touch</a:t>
            </a:r>
          </a:p>
        </p:txBody>
      </p:sp>
      <p:sp>
        <p:nvSpPr>
          <p:cNvPr id="8" name="TextBox 8"/>
          <p:cNvSpPr txBox="1"/>
          <p:nvPr/>
        </p:nvSpPr>
        <p:spPr>
          <a:xfrm>
            <a:off x="1166165" y="3225898"/>
            <a:ext cx="45768" cy="258175"/>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 </a:t>
            </a:r>
          </a:p>
        </p:txBody>
      </p:sp>
      <p:sp>
        <p:nvSpPr>
          <p:cNvPr id="9" name="TextBox 9"/>
          <p:cNvSpPr txBox="1"/>
          <p:nvPr/>
        </p:nvSpPr>
        <p:spPr>
          <a:xfrm>
            <a:off x="654548" y="3225898"/>
            <a:ext cx="4852392" cy="257880"/>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Ready to bring Fnomo Young Investor to your institution?</a:t>
            </a:r>
          </a:p>
        </p:txBody>
      </p:sp>
      <p:sp>
        <p:nvSpPr>
          <p:cNvPr id="10" name="TextBox 10"/>
          <p:cNvSpPr txBox="1"/>
          <p:nvPr/>
        </p:nvSpPr>
        <p:spPr>
          <a:xfrm>
            <a:off x="654548" y="3740248"/>
            <a:ext cx="2740521" cy="257880"/>
          </a:xfrm>
          <a:prstGeom prst="rect">
            <a:avLst/>
          </a:prstGeom>
        </p:spPr>
        <p:txBody>
          <a:bodyPr lIns="0" tIns="0" rIns="0" bIns="0" rtlCol="0" anchor="t">
            <a:spAutoFit/>
          </a:bodyPr>
          <a:lstStyle/>
          <a:p>
            <a:pPr algn="l">
              <a:lnSpc>
                <a:spcPts val="2061"/>
              </a:lnSpc>
            </a:pPr>
            <a:r>
              <a:rPr lang="en-US" sz="1472">
                <a:solidFill>
                  <a:srgbClr val="F9EEE7"/>
                </a:solidFill>
                <a:latin typeface="Quattrocento"/>
                <a:ea typeface="Quattrocento"/>
                <a:cs typeface="Quattrocento"/>
                <a:sym typeface="Quattrocento"/>
              </a:rPr>
              <a:t>Contact: </a:t>
            </a:r>
            <a:r>
              <a:rPr lang="en-US" sz="1472" b="1">
                <a:solidFill>
                  <a:srgbClr val="F9EEE7"/>
                </a:solidFill>
                <a:latin typeface="Quattrocento Bold"/>
                <a:ea typeface="Quattrocento Bold"/>
                <a:cs typeface="Quattrocento Bold"/>
                <a:sym typeface="Quattrocento Bold"/>
              </a:rPr>
              <a:t>fnomo.com | 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1045</Words>
  <Application>Microsoft Office PowerPoint</Application>
  <PresentationFormat>Custom</PresentationFormat>
  <Paragraphs>144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Quattrocento Bold</vt:lpstr>
      <vt:lpstr>Quattrocento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institute pdf.pdf</dc:title>
  <dc:creator>Kush Trivedi</dc:creator>
  <cp:lastModifiedBy>Kush Trivedi</cp:lastModifiedBy>
  <cp:revision>1</cp:revision>
  <dcterms:created xsi:type="dcterms:W3CDTF">2006-08-16T00:00:00Z</dcterms:created>
  <dcterms:modified xsi:type="dcterms:W3CDTF">2026-04-29T06:48:26Z</dcterms:modified>
  <dc:identifier>DAHILKK69M8</dc:identifier>
</cp:coreProperties>
</file>