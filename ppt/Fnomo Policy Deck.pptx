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6256000" cy="9144000"/>
  <p:notesSz cx="9144000" cy="16256000"/>
  <p:embeddedFontLst>
    <p:embeddedFont>
      <p:font typeface="Liter" charset="-122" pitchFamily="34"/>
      <p:regular r:id="rId24"/>
    </p:embeddedFont>
    <p:embeddedFont>
      <p:font typeface="Quattrocento Sans" charset="-122" pitchFamily="34"/>
      <p:regular r:id="rId2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font" Target="fonts/font1.fntdata"/><Relationship Id="rId25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stakeholders. Introduce the initiative as a response to Ireland's National Conversation on Education and the critical need to prepare students for financial decision-making beyond the classroom.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deck outlines a system-aligned initiative that requires zero structural overhaul while delivering measurable capability outcomes for Ireland's 60,000+ annual Leaving Certificate cohort.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transition. Set the stage: Ireland's education system is at a pivotal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that this is not a critique of the current system but a response to its evolution. The Department's own consultation has identified capability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problem statement. Be precise: literacy is not the issue — decision capability is. Use the phrase 'decision-making under uncertainty' as the core conceptual hook.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conceptual pivot. Distinguish between knowing and doing. The OECD statistic grounds the argument in international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transition. Introduce the core philosophy: we are not adding curriculum burden.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Critical reassurance for government stakeholders: this is additive, not disruptive. Zero structural overhaul is a key selling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mechanics. Emphasise that we evaluate methodology (the how) not just results (the what), which is the pedagogical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the student journey. The peer benchmarking and educator dashboards are key features that demonstrate systemic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returns slide. Every outcome must be measurable. The 12-month targets are illustrative and should be refined with Departmental input.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Chapter transition. Move from concept to execution.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clear phases. The timeline is aggressive but achievable. Emphasise that Phase 1 is low-risk and low-cost.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Address each stakeholder group explicitly. The 'zero operational disruption' message should be repeated.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policy alignment slide. Connect to specific frameworks: NCCA, EU Digital Education Action Plan, OECD PISA. This demonstrates strategic awareness.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ask. Be specific about what is needed from stakeholders. This is a call to action, not just a summary.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conviction. The title is the core message. Reinforce that this is about preparing students for the decisions they will actually 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ku73ug7lv542/mnt/agents/output/fnomo_policy/images/cover_abstract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FFFFFF"/>
              </a:gs>
              <a:gs pos="55000">
                <a:srgbClr val="FFFFFF"/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16000" y="2286000"/>
            <a:ext cx="787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52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Financial Decision Capability for Leaving Certificate Students</a:t>
            </a:r>
            <a:endParaRPr lang="en-US" sz="4000" dirty="0"/>
          </a:p>
        </p:txBody>
      </p:sp>
      <p:sp>
        <p:nvSpPr>
          <p:cNvPr id="6" name="Text 2"/>
          <p:cNvSpPr/>
          <p:nvPr/>
        </p:nvSpPr>
        <p:spPr>
          <a:xfrm>
            <a:off x="1016000" y="5334000"/>
            <a:ext cx="787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System-Aligned Initiative for Real-World Readiness</a:t>
            </a:r>
            <a:endParaRPr lang="en-US" sz="2400" dirty="0"/>
          </a:p>
        </p:txBody>
      </p:sp>
      <p:sp>
        <p:nvSpPr>
          <p:cNvPr id="7" name="Shape 3"/>
          <p:cNvSpPr/>
          <p:nvPr/>
        </p:nvSpPr>
        <p:spPr>
          <a:xfrm>
            <a:off x="1016000" y="5080000"/>
            <a:ext cx="1524000" cy="0"/>
          </a:xfrm>
          <a:prstGeom prst="straightConnector1">
            <a:avLst/>
          </a:prstGeom>
          <a:noFill/>
          <a:ln w="38100">
            <a:solidFill>
              <a:srgbClr val="0A0A0A"/>
            </a:solidFill>
            <a:prstDash val="solid"/>
            <a:headEnd type="none"/>
            <a:tailEnd type="none"/>
          </a:ln>
        </p:spPr>
      </p:sp>
      <p:sp>
        <p:nvSpPr>
          <p:cNvPr id="8" name="Text 4"/>
          <p:cNvSpPr/>
          <p:nvPr/>
        </p:nvSpPr>
        <p:spPr>
          <a:xfrm>
            <a:off x="1016000" y="8128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Fnomo / Fintoma Technology Limited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1016000" y="86360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762000"/>
            <a:ext cx="635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Overview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016000" y="1587500"/>
            <a:ext cx="2540000" cy="0"/>
          </a:xfrm>
          <a:prstGeom prst="straightConnector1">
            <a:avLst/>
          </a:prstGeom>
          <a:noFill/>
          <a:ln w="38100">
            <a:solidFill>
              <a:srgbClr val="0A0A0A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016000" y="2159000"/>
            <a:ext cx="1397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pPr>
              <a:lnSpc>
                <a:spcPct val="150000"/>
              </a:lnSpc>
            </a:pPr>
            <a:r>
              <a:rPr lang="en-US" sz="22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2200" b="1" dirty="0">
                <a:solidFill>
                  <a:srgbClr val="0A0A0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Policy Context</a:t>
            </a:r>
            <a:pPr>
              <a:lnSpc>
                <a:spcPct val="150000"/>
              </a:lnSpc>
            </a:pPr>
            <a:r>
              <a:rPr lang="en-US" sz="22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Education in Transition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3238500"/>
            <a:ext cx="13970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016000" y="3429000"/>
            <a:ext cx="1397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pPr>
              <a:lnSpc>
                <a:spcPct val="150000"/>
              </a:lnSpc>
            </a:pPr>
            <a:r>
              <a:rPr lang="en-US" sz="22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2200" b="1" dirty="0">
                <a:solidFill>
                  <a:srgbClr val="0A0A0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Critical Gap</a:t>
            </a:r>
            <a:pPr>
              <a:lnSpc>
                <a:spcPct val="150000"/>
              </a:lnSpc>
            </a:pPr>
            <a:r>
              <a:rPr lang="en-US" sz="22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What Leaving Certificate Students Lack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6000" y="4508500"/>
            <a:ext cx="13970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1016000" y="4699000"/>
            <a:ext cx="1397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pPr>
              <a:lnSpc>
                <a:spcPct val="150000"/>
              </a:lnSpc>
            </a:pPr>
            <a:r>
              <a:rPr lang="en-US" sz="22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2200" b="1" dirty="0">
                <a:solidFill>
                  <a:srgbClr val="0A0A0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Fnomo Solution</a:t>
            </a:r>
            <a:pPr>
              <a:lnSpc>
                <a:spcPct val="150000"/>
              </a:lnSpc>
            </a:pPr>
            <a:r>
              <a:rPr lang="en-US" sz="22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A Capability Layer, Not a Subject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16000" y="5778500"/>
            <a:ext cx="13970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1016000" y="5969000"/>
            <a:ext cx="1397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</a:t>
            </a:r>
            <a:pPr>
              <a:lnSpc>
                <a:spcPct val="150000"/>
              </a:lnSpc>
            </a:pPr>
            <a:r>
              <a:rPr lang="en-US" sz="22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2200" b="1" dirty="0">
                <a:solidFill>
                  <a:srgbClr val="0A0A0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Implementation &amp; Impact</a:t>
            </a:r>
            <a:pPr>
              <a:lnSpc>
                <a:spcPct val="150000"/>
              </a:lnSpc>
            </a:pPr>
            <a:r>
              <a:rPr lang="en-US" sz="22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Building Real-World Readiness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16000" y="7048500"/>
            <a:ext cx="13970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1016000" y="7239000"/>
            <a:ext cx="13970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800" b="1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</a:t>
            </a:r>
            <a:pPr>
              <a:lnSpc>
                <a:spcPct val="150000"/>
              </a:lnSpc>
            </a:pPr>
            <a:r>
              <a:rPr lang="en-US" sz="22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50000"/>
              </a:lnSpc>
            </a:pPr>
            <a:r>
              <a:rPr lang="en-US" sz="2200" b="1" dirty="0">
                <a:solidFill>
                  <a:srgbClr val="0A0A0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Next Steps</a:t>
            </a:r>
            <a:pPr>
              <a:lnSpc>
                <a:spcPct val="150000"/>
              </a:lnSpc>
            </a:pPr>
            <a:r>
              <a:rPr lang="en-US" sz="22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Pathway to National Adoption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16000" y="8318500"/>
            <a:ext cx="13970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/>
          <p:nvPr/>
        </p:nvSpPr>
        <p:spPr>
          <a:xfrm>
            <a:off x="1016000" y="8445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6666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Fnomo / Fintoma Technology Limited</a:t>
            </a:r>
            <a:endParaRPr lang="en-US" sz="14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ku73ug7lv542/mnt/agents/output/fnomo_policy/images/chapter_education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A">
                  <a:alpha val="90000"/>
                </a:srgbClr>
              </a:gs>
              <a:gs pos="65000">
                <a:srgbClr val="0A0A0A">
                  <a:alpha val="70000"/>
                </a:srgbClr>
              </a:gs>
              <a:gs pos="100000">
                <a:srgbClr val="0A0A0A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16000" y="2794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E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016000" y="3556000"/>
            <a:ext cx="889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Policy Context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016000" y="4572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Education in Transition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1016000" y="3429000"/>
            <a:ext cx="1524000" cy="0"/>
          </a:xfrm>
          <a:prstGeom prst="straightConnector1">
            <a:avLst/>
          </a:prstGeom>
          <a:noFill/>
          <a:ln w="38100">
            <a:solidFill>
              <a:srgbClr val="1E3A3A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635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System in Transition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016000" y="1460500"/>
            <a:ext cx="2032000" cy="0"/>
          </a:xfrm>
          <a:prstGeom prst="straightConnector1">
            <a:avLst/>
          </a:prstGeom>
          <a:noFill/>
          <a:ln w="38100">
            <a:solidFill>
              <a:srgbClr val="0A0A0A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016000" y="1778000"/>
            <a:ext cx="8890000" cy="584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200" b="1" dirty="0">
                <a:solidFill>
                  <a:srgbClr val="0A0A0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Ireland's National Conversation on Education</a:t>
            </a:r>
            <a:pPr>
              <a:lnSpc>
                <a:spcPct val="170000"/>
              </a:lnSpc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signals a critical shift in mandate.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mandate is moving from 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0A0A0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knowledge-based learning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0A0A0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real-world capability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Education must now prepare students for 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0A0A0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life beyond the classroom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requires frameworks to navigate complex, evolving environments — not just content memorisation.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0668000" y="1778000"/>
            <a:ext cx="4572000" cy="3048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922000" y="2032000"/>
            <a:ext cx="4064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64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60,000+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10922000" y="3175000"/>
            <a:ext cx="4064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Students sit the Leaving Certificate annually, entering adulthood with limited structured exposure to financial decision-making.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0668000" y="4953000"/>
            <a:ext cx="4572000" cy="3302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0" name="Text 7"/>
          <p:cNvSpPr/>
          <p:nvPr/>
        </p:nvSpPr>
        <p:spPr>
          <a:xfrm>
            <a:off x="10922000" y="5207000"/>
            <a:ext cx="4064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2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Department's consultation identified capability gaps at the critical transition between secondary and tertiary education.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16000" y="8445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6666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Fnomo / Fintoma Technology Limited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016000" y="83185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635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Missing Layer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016000" y="1460500"/>
            <a:ext cx="2032000" cy="0"/>
          </a:xfrm>
          <a:prstGeom prst="straightConnector1">
            <a:avLst/>
          </a:prstGeom>
          <a:noFill/>
          <a:ln w="38100">
            <a:solidFill>
              <a:srgbClr val="0A0A0A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016000" y="1778000"/>
            <a:ext cx="13970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Foundational financial literacy is currently being addressed through existing programmes.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However, a 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0A0A0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critical gap remains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at the Leaving Certificate stage.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Students lack frameworks for 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0A0A0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decision-making under uncertainty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the exact skill they need as they enter higher education, employment, and independent living.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missing layer is the 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0A0A0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interpretation of real-world financial signals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the ability to act on them with structured confidence.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Current programmes teach 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i="1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to know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; they do not teach 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i="1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how to decide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016000" y="6731000"/>
            <a:ext cx="14224000" cy="1016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4"/>
          <p:cNvSpPr/>
          <p:nvPr/>
        </p:nvSpPr>
        <p:spPr>
          <a:xfrm>
            <a:off x="1397000" y="6858000"/>
            <a:ext cx="13462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Gap: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Literacy is being taught. Capability is not.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8445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6666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Fnomo / Fintoma Technology Limited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016000" y="83185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635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Knowledge ≠ Decision Capability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016000" y="1460500"/>
            <a:ext cx="2032000" cy="0"/>
          </a:xfrm>
          <a:prstGeom prst="straightConnector1">
            <a:avLst/>
          </a:prstGeom>
          <a:noFill/>
          <a:ln w="38100">
            <a:solidFill>
              <a:srgbClr val="0A0A0A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016000" y="1778000"/>
            <a:ext cx="7874000" cy="533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Today's students have </a:t>
            </a:r>
            <a:pPr>
              <a:lnSpc>
                <a:spcPct val="170000"/>
              </a:lnSpc>
            </a:pPr>
            <a:r>
              <a:rPr lang="en-US" sz="2200" b="1" dirty="0">
                <a:solidFill>
                  <a:srgbClr val="0A0A0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unprecedented access</a:t>
            </a:r>
            <a:pPr>
              <a:lnSpc>
                <a:spcPct val="170000"/>
              </a:lnSpc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 financial information.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Information access does not equal the capability to act safely or effectively.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Knowledge provides the inputs; 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0A0A0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capability dictates the outcome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Students require structured environments to test behavioural choices without real-world consequences.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9652000" y="1778000"/>
            <a:ext cx="5588000" cy="3302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33000" y="2032000"/>
            <a:ext cx="4826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7200" dirty="0">
                <a:solidFill>
                  <a:srgbClr val="1E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73%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10033000" y="3429000"/>
            <a:ext cx="482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of young adults report feeling unprepared for financial decisions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033000" y="4800600"/>
            <a:ext cx="482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Source: OECD PISA Financial Literacy Framework, 2023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9398000" y="1778000"/>
            <a:ext cx="0" cy="469900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1016000" y="8445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6666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Fnomo / Fintoma Technology Limited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016000" y="83185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ku73ug7lv542/mnt/agents/output/fnomo_policy/images/chapter_digital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A">
                  <a:alpha val="90000"/>
                </a:srgbClr>
              </a:gs>
              <a:gs pos="65000">
                <a:srgbClr val="0A0A0A">
                  <a:alpha val="70000"/>
                </a:srgbClr>
              </a:gs>
              <a:gs pos="100000">
                <a:srgbClr val="0A0A0A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16000" y="2794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E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016000" y="3556000"/>
            <a:ext cx="1016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Fnomo Solution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016000" y="4572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 Capability Layer, Not a Subject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1016000" y="3429000"/>
            <a:ext cx="1524000" cy="0"/>
          </a:xfrm>
          <a:prstGeom prst="straightConnector1">
            <a:avLst/>
          </a:prstGeom>
          <a:noFill/>
          <a:ln w="38100">
            <a:solidFill>
              <a:srgbClr val="1E3A3A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635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Capability Layer, Not a Subject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016000" y="1460500"/>
            <a:ext cx="2032000" cy="0"/>
          </a:xfrm>
          <a:prstGeom prst="straightConnector1">
            <a:avLst/>
          </a:prstGeom>
          <a:noFill/>
          <a:ln w="38100">
            <a:solidFill>
              <a:srgbClr val="0A0A0A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016000" y="1778000"/>
            <a:ext cx="8890000" cy="482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initiative does not introduce new curriculum content but </a:t>
            </a:r>
            <a:pPr>
              <a:lnSpc>
                <a:spcPct val="170000"/>
              </a:lnSpc>
            </a:pPr>
            <a:r>
              <a:rPr lang="en-US" sz="2200" b="1" dirty="0">
                <a:solidFill>
                  <a:srgbClr val="0A0A0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strengthens how students engage</a:t>
            </a:r>
            <a:pPr>
              <a:lnSpc>
                <a:spcPct val="170000"/>
              </a:lnSpc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existing knowledge in real-world decision contexts.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It operates as a 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0A0A0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complementary layer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rather than an additional subject.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Integration requires 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0A0A0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zero structural overhaul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of the current syllabus.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focus is entirely on 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0A0A0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applied methodology over memorisation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0414000" y="1778000"/>
            <a:ext cx="4826000" cy="5080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4"/>
          <p:cNvSpPr/>
          <p:nvPr/>
        </p:nvSpPr>
        <p:spPr>
          <a:xfrm>
            <a:off x="10795000" y="203200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Design Principle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795000" y="2667000"/>
            <a:ext cx="762000" cy="0"/>
          </a:xfrm>
          <a:prstGeom prst="straightConnector1">
            <a:avLst/>
          </a:prstGeom>
          <a:noFill/>
          <a:ln w="38100">
            <a:solidFill>
              <a:srgbClr val="1E3A3A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10795000" y="2857500"/>
            <a:ext cx="4064000" cy="393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Designed for seamless embedding within existing pathways: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Transition Year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LCVP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Leaving Certificate Applied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12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additional teaching hours required. No new subject creation. No curriculum rewrite.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16000" y="8445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6666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Fnomo / Fintoma Technology Limited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1016000" y="83185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635000"/>
            <a:ext cx="1270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 — The Simulation Framework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016000" y="1460500"/>
            <a:ext cx="2032000" cy="0"/>
          </a:xfrm>
          <a:prstGeom prst="straightConnector1">
            <a:avLst/>
          </a:prstGeom>
          <a:noFill/>
          <a:ln w="38100">
            <a:solidFill>
              <a:srgbClr val="0A0A0A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016000" y="1905000"/>
            <a:ext cx="63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E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25400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1778000" y="1905000"/>
            <a:ext cx="7874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A0A0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Enter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simulated, real-world financial decision environments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2921000"/>
            <a:ext cx="63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E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16000" y="35560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0" name="Text 7"/>
          <p:cNvSpPr/>
          <p:nvPr/>
        </p:nvSpPr>
        <p:spPr>
          <a:xfrm>
            <a:off x="1778000" y="2921000"/>
            <a:ext cx="762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A0A0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Create and manage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portfolios without real capital risk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16000" y="3937000"/>
            <a:ext cx="63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E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016000" y="47244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1778000" y="3937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A0A0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Structured evaluation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monitors decision methodology, not just outcomes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16000" y="5016500"/>
            <a:ext cx="63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E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016000" y="56515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1778000" y="4953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A0A0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 benchmarking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provides systemic performance insights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16000" y="6032500"/>
            <a:ext cx="635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1E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16000" y="66675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/>
          <p:nvPr/>
        </p:nvSpPr>
        <p:spPr>
          <a:xfrm>
            <a:off x="1778000" y="60325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A0A0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Real-time feedback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on behavioural patterns, bias detection, and risk assessment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16000" y="6985000"/>
            <a:ext cx="14224000" cy="889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397000" y="7175500"/>
            <a:ext cx="1346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Core Differentiator: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We evaluate </a:t>
            </a:r>
            <a:pPr>
              <a:lnSpc>
                <a:spcPct val="100000"/>
              </a:lnSpc>
            </a:pPr>
            <a:r>
              <a:rPr lang="en-US" sz="2000" i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methodology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(how students decide) — not merely </a:t>
            </a:r>
            <a:pPr>
              <a:lnSpc>
                <a:spcPct val="100000"/>
              </a:lnSpc>
            </a:pPr>
            <a:r>
              <a:rPr lang="en-US" sz="2000" i="1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results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(what they earn).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16000" y="8445500"/>
            <a:ext cx="508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6666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Fnomo / Fintoma Technology Limited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1016000" y="83185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635000"/>
            <a:ext cx="889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Student Experience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016000" y="1460500"/>
            <a:ext cx="2032000" cy="0"/>
          </a:xfrm>
          <a:prstGeom prst="straightConnector1">
            <a:avLst/>
          </a:prstGeom>
          <a:noFill/>
          <a:ln w="38100">
            <a:solidFill>
              <a:srgbClr val="0A0A0A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365250" y="2032000"/>
            <a:ext cx="571500" cy="508000"/>
          </a:xfrm>
          <a:custGeom>
            <a:avLst/>
            <a:gdLst/>
            <a:ahLst/>
            <a:cxnLst/>
            <a:rect l="l" t="t" r="r" b="b"/>
            <a:pathLst>
              <a:path w="571500" h="508000">
                <a:moveTo>
                  <a:pt x="47625" y="194270"/>
                </a:moveTo>
                <a:lnTo>
                  <a:pt x="255191" y="279698"/>
                </a:lnTo>
                <a:cubicBezTo>
                  <a:pt x="264914" y="283666"/>
                  <a:pt x="275233" y="285750"/>
                  <a:pt x="285750" y="285750"/>
                </a:cubicBezTo>
                <a:cubicBezTo>
                  <a:pt x="296267" y="285750"/>
                  <a:pt x="306586" y="283666"/>
                  <a:pt x="316309" y="279698"/>
                </a:cubicBezTo>
                <a:lnTo>
                  <a:pt x="556816" y="180677"/>
                </a:lnTo>
                <a:cubicBezTo>
                  <a:pt x="565745" y="177006"/>
                  <a:pt x="571500" y="168374"/>
                  <a:pt x="571500" y="158750"/>
                </a:cubicBezTo>
                <a:cubicBezTo>
                  <a:pt x="571500" y="149126"/>
                  <a:pt x="565745" y="140494"/>
                  <a:pt x="556816" y="136823"/>
                </a:cubicBezTo>
                <a:lnTo>
                  <a:pt x="316309" y="37802"/>
                </a:lnTo>
                <a:cubicBezTo>
                  <a:pt x="306586" y="33834"/>
                  <a:pt x="296267" y="31750"/>
                  <a:pt x="285750" y="31750"/>
                </a:cubicBezTo>
                <a:cubicBezTo>
                  <a:pt x="275233" y="31750"/>
                  <a:pt x="264914" y="33834"/>
                  <a:pt x="255191" y="37802"/>
                </a:cubicBezTo>
                <a:lnTo>
                  <a:pt x="14684" y="136823"/>
                </a:lnTo>
                <a:cubicBezTo>
                  <a:pt x="5755" y="140494"/>
                  <a:pt x="0" y="149126"/>
                  <a:pt x="0" y="158750"/>
                </a:cubicBezTo>
                <a:lnTo>
                  <a:pt x="0" y="452437"/>
                </a:lnTo>
                <a:cubicBezTo>
                  <a:pt x="0" y="465634"/>
                  <a:pt x="10616" y="476250"/>
                  <a:pt x="23812" y="476250"/>
                </a:cubicBezTo>
                <a:cubicBezTo>
                  <a:pt x="37009" y="476250"/>
                  <a:pt x="47625" y="465634"/>
                  <a:pt x="47625" y="452437"/>
                </a:cubicBezTo>
                <a:lnTo>
                  <a:pt x="47625" y="194270"/>
                </a:lnTo>
                <a:close/>
                <a:moveTo>
                  <a:pt x="95250" y="265410"/>
                </a:moveTo>
                <a:lnTo>
                  <a:pt x="95250" y="381000"/>
                </a:lnTo>
                <a:cubicBezTo>
                  <a:pt x="95250" y="433586"/>
                  <a:pt x="180578" y="476250"/>
                  <a:pt x="285750" y="476250"/>
                </a:cubicBezTo>
                <a:cubicBezTo>
                  <a:pt x="390922" y="476250"/>
                  <a:pt x="476250" y="433586"/>
                  <a:pt x="476250" y="381000"/>
                </a:cubicBezTo>
                <a:lnTo>
                  <a:pt x="476250" y="265311"/>
                </a:lnTo>
                <a:lnTo>
                  <a:pt x="334466" y="323751"/>
                </a:lnTo>
                <a:cubicBezTo>
                  <a:pt x="318988" y="330101"/>
                  <a:pt x="302518" y="333375"/>
                  <a:pt x="285750" y="333375"/>
                </a:cubicBezTo>
                <a:cubicBezTo>
                  <a:pt x="268982" y="333375"/>
                  <a:pt x="252512" y="330101"/>
                  <a:pt x="237034" y="323751"/>
                </a:cubicBezTo>
                <a:lnTo>
                  <a:pt x="95250" y="265311"/>
                </a:lnTo>
                <a:close/>
              </a:path>
            </a:pathLst>
          </a:custGeom>
          <a:solidFill>
            <a:srgbClr val="1E3A3A"/>
          </a:solidFill>
          <a:ln/>
        </p:spPr>
      </p:sp>
      <p:sp>
        <p:nvSpPr>
          <p:cNvPr id="6" name="Text 3"/>
          <p:cNvSpPr/>
          <p:nvPr/>
        </p:nvSpPr>
        <p:spPr>
          <a:xfrm>
            <a:off x="1397000" y="2667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 Frameworks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397000" y="3238500"/>
            <a:ext cx="381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learn structured frameworks for evaluating complex financial signals and market indicators.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00750" y="2032000"/>
            <a:ext cx="444500" cy="508000"/>
          </a:xfrm>
          <a:custGeom>
            <a:avLst/>
            <a:gdLst/>
            <a:ahLst/>
            <a:cxnLst/>
            <a:rect l="l" t="t" r="r" b="b"/>
            <a:pathLst>
              <a:path w="444500" h="508000">
                <a:moveTo>
                  <a:pt x="285750" y="0"/>
                </a:moveTo>
                <a:lnTo>
                  <a:pt x="127000" y="0"/>
                </a:lnTo>
                <a:cubicBezTo>
                  <a:pt x="109438" y="0"/>
                  <a:pt x="95250" y="14188"/>
                  <a:pt x="95250" y="31750"/>
                </a:cubicBezTo>
                <a:cubicBezTo>
                  <a:pt x="95250" y="49312"/>
                  <a:pt x="109438" y="63500"/>
                  <a:pt x="127000" y="63500"/>
                </a:cubicBezTo>
                <a:lnTo>
                  <a:pt x="127000" y="213816"/>
                </a:lnTo>
                <a:lnTo>
                  <a:pt x="7441" y="422970"/>
                </a:lnTo>
                <a:cubicBezTo>
                  <a:pt x="2580" y="431602"/>
                  <a:pt x="0" y="441226"/>
                  <a:pt x="0" y="451148"/>
                </a:cubicBezTo>
                <a:cubicBezTo>
                  <a:pt x="0" y="482600"/>
                  <a:pt x="25400" y="508000"/>
                  <a:pt x="56852" y="508000"/>
                </a:cubicBezTo>
                <a:lnTo>
                  <a:pt x="387648" y="508000"/>
                </a:lnTo>
                <a:cubicBezTo>
                  <a:pt x="419001" y="508000"/>
                  <a:pt x="444500" y="482600"/>
                  <a:pt x="444500" y="451148"/>
                </a:cubicBezTo>
                <a:cubicBezTo>
                  <a:pt x="444500" y="441226"/>
                  <a:pt x="441920" y="431502"/>
                  <a:pt x="437059" y="422970"/>
                </a:cubicBezTo>
                <a:lnTo>
                  <a:pt x="317500" y="213816"/>
                </a:lnTo>
                <a:lnTo>
                  <a:pt x="317500" y="63500"/>
                </a:lnTo>
                <a:cubicBezTo>
                  <a:pt x="335062" y="63500"/>
                  <a:pt x="349250" y="49312"/>
                  <a:pt x="349250" y="31750"/>
                </a:cubicBezTo>
                <a:cubicBezTo>
                  <a:pt x="349250" y="14188"/>
                  <a:pt x="335062" y="0"/>
                  <a:pt x="317500" y="0"/>
                </a:cubicBezTo>
                <a:lnTo>
                  <a:pt x="285750" y="0"/>
                </a:lnTo>
                <a:close/>
                <a:moveTo>
                  <a:pt x="190500" y="213816"/>
                </a:moveTo>
                <a:lnTo>
                  <a:pt x="190500" y="63500"/>
                </a:lnTo>
                <a:lnTo>
                  <a:pt x="254000" y="63500"/>
                </a:lnTo>
                <a:lnTo>
                  <a:pt x="254000" y="213816"/>
                </a:lnTo>
                <a:cubicBezTo>
                  <a:pt x="254000" y="224830"/>
                  <a:pt x="256877" y="235744"/>
                  <a:pt x="262334" y="245368"/>
                </a:cubicBezTo>
                <a:lnTo>
                  <a:pt x="303609" y="317500"/>
                </a:lnTo>
                <a:lnTo>
                  <a:pt x="140891" y="317500"/>
                </a:lnTo>
                <a:lnTo>
                  <a:pt x="182166" y="245368"/>
                </a:lnTo>
                <a:cubicBezTo>
                  <a:pt x="187623" y="235744"/>
                  <a:pt x="190500" y="224929"/>
                  <a:pt x="190500" y="213816"/>
                </a:cubicBezTo>
                <a:close/>
              </a:path>
            </a:pathLst>
          </a:custGeom>
          <a:solidFill>
            <a:srgbClr val="1E3A3A"/>
          </a:solidFill>
          <a:ln/>
        </p:spPr>
      </p:sp>
      <p:sp>
        <p:nvSpPr>
          <p:cNvPr id="9" name="Text 6"/>
          <p:cNvSpPr/>
          <p:nvPr/>
        </p:nvSpPr>
        <p:spPr>
          <a:xfrm>
            <a:off x="5969000" y="2667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 in Simulation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69000" y="3238500"/>
            <a:ext cx="381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They apply these frameworks directly within the simulation environment, testing decisions in realistic scenarios.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541000" y="2032000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63500" y="63500"/>
                </a:moveTo>
                <a:cubicBezTo>
                  <a:pt x="63500" y="45938"/>
                  <a:pt x="49312" y="31750"/>
                  <a:pt x="31750" y="31750"/>
                </a:cubicBezTo>
                <a:cubicBezTo>
                  <a:pt x="14188" y="31750"/>
                  <a:pt x="0" y="45938"/>
                  <a:pt x="0" y="63500"/>
                </a:cubicBezTo>
                <a:lnTo>
                  <a:pt x="0" y="396875"/>
                </a:lnTo>
                <a:cubicBezTo>
                  <a:pt x="0" y="440730"/>
                  <a:pt x="35520" y="476250"/>
                  <a:pt x="79375" y="476250"/>
                </a:cubicBezTo>
                <a:lnTo>
                  <a:pt x="476250" y="476250"/>
                </a:lnTo>
                <a:cubicBezTo>
                  <a:pt x="493812" y="476250"/>
                  <a:pt x="508000" y="462062"/>
                  <a:pt x="508000" y="444500"/>
                </a:cubicBezTo>
                <a:cubicBezTo>
                  <a:pt x="508000" y="426938"/>
                  <a:pt x="493812" y="412750"/>
                  <a:pt x="476250" y="412750"/>
                </a:cubicBezTo>
                <a:lnTo>
                  <a:pt x="79375" y="412750"/>
                </a:lnTo>
                <a:cubicBezTo>
                  <a:pt x="70644" y="412750"/>
                  <a:pt x="63500" y="405606"/>
                  <a:pt x="63500" y="396875"/>
                </a:cubicBezTo>
                <a:lnTo>
                  <a:pt x="63500" y="63500"/>
                </a:lnTo>
                <a:close/>
                <a:moveTo>
                  <a:pt x="466923" y="149423"/>
                </a:moveTo>
                <a:cubicBezTo>
                  <a:pt x="479326" y="137021"/>
                  <a:pt x="479326" y="116880"/>
                  <a:pt x="466923" y="104477"/>
                </a:cubicBezTo>
                <a:cubicBezTo>
                  <a:pt x="454521" y="92075"/>
                  <a:pt x="434380" y="92075"/>
                  <a:pt x="421977" y="104477"/>
                </a:cubicBezTo>
                <a:lnTo>
                  <a:pt x="317500" y="209054"/>
                </a:lnTo>
                <a:lnTo>
                  <a:pt x="260548" y="152202"/>
                </a:lnTo>
                <a:cubicBezTo>
                  <a:pt x="248146" y="139799"/>
                  <a:pt x="228005" y="139799"/>
                  <a:pt x="215602" y="152202"/>
                </a:cubicBezTo>
                <a:lnTo>
                  <a:pt x="120352" y="247452"/>
                </a:lnTo>
                <a:cubicBezTo>
                  <a:pt x="107950" y="259854"/>
                  <a:pt x="107950" y="279995"/>
                  <a:pt x="120352" y="292398"/>
                </a:cubicBezTo>
                <a:cubicBezTo>
                  <a:pt x="132755" y="304800"/>
                  <a:pt x="152896" y="304800"/>
                  <a:pt x="165298" y="292398"/>
                </a:cubicBezTo>
                <a:lnTo>
                  <a:pt x="238125" y="219571"/>
                </a:lnTo>
                <a:lnTo>
                  <a:pt x="295077" y="276523"/>
                </a:lnTo>
                <a:cubicBezTo>
                  <a:pt x="307479" y="288925"/>
                  <a:pt x="327620" y="288925"/>
                  <a:pt x="340023" y="276523"/>
                </a:cubicBezTo>
                <a:lnTo>
                  <a:pt x="467023" y="149523"/>
                </a:lnTo>
                <a:close/>
              </a:path>
            </a:pathLst>
          </a:custGeom>
          <a:solidFill>
            <a:srgbClr val="1E3A3A"/>
          </a:solidFill>
          <a:ln/>
        </p:spPr>
      </p:sp>
      <p:sp>
        <p:nvSpPr>
          <p:cNvPr id="12" name="Text 9"/>
          <p:cNvSpPr/>
          <p:nvPr/>
        </p:nvSpPr>
        <p:spPr>
          <a:xfrm>
            <a:off x="10541000" y="2667000"/>
            <a:ext cx="381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Track &amp; Reflect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541000" y="3238500"/>
            <a:ext cx="3810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Ongoing performance tracking reveals behavioural patterns and cognitive biases over time.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16000" y="53340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/>
          <p:nvPr/>
        </p:nvSpPr>
        <p:spPr>
          <a:xfrm>
            <a:off x="1016000" y="55880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Systemic Features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1346200" y="6477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54000" y="12700"/>
                </a:moveTo>
                <a:cubicBezTo>
                  <a:pt x="299561" y="12700"/>
                  <a:pt x="336550" y="49689"/>
                  <a:pt x="336550" y="95250"/>
                </a:cubicBezTo>
                <a:cubicBezTo>
                  <a:pt x="336550" y="140811"/>
                  <a:pt x="299561" y="177800"/>
                  <a:pt x="254000" y="177800"/>
                </a:cubicBezTo>
                <a:cubicBezTo>
                  <a:pt x="208439" y="177800"/>
                  <a:pt x="171450" y="140811"/>
                  <a:pt x="171450" y="95250"/>
                </a:cubicBezTo>
                <a:cubicBezTo>
                  <a:pt x="171450" y="49689"/>
                  <a:pt x="208439" y="12700"/>
                  <a:pt x="254000" y="12700"/>
                </a:cubicBezTo>
                <a:close/>
                <a:moveTo>
                  <a:pt x="76200" y="69850"/>
                </a:moveTo>
                <a:cubicBezTo>
                  <a:pt x="107742" y="69850"/>
                  <a:pt x="133350" y="95458"/>
                  <a:pt x="133350" y="127000"/>
                </a:cubicBezTo>
                <a:cubicBezTo>
                  <a:pt x="133350" y="158542"/>
                  <a:pt x="107742" y="184150"/>
                  <a:pt x="76200" y="184150"/>
                </a:cubicBezTo>
                <a:cubicBezTo>
                  <a:pt x="44658" y="184150"/>
                  <a:pt x="19050" y="158542"/>
                  <a:pt x="19050" y="127000"/>
                </a:cubicBezTo>
                <a:cubicBezTo>
                  <a:pt x="19050" y="95458"/>
                  <a:pt x="44658" y="69850"/>
                  <a:pt x="76200" y="69850"/>
                </a:cubicBezTo>
                <a:close/>
                <a:moveTo>
                  <a:pt x="0" y="330200"/>
                </a:moveTo>
                <a:cubicBezTo>
                  <a:pt x="0" y="274082"/>
                  <a:pt x="45482" y="228600"/>
                  <a:pt x="101600" y="228600"/>
                </a:cubicBezTo>
                <a:cubicBezTo>
                  <a:pt x="111760" y="228600"/>
                  <a:pt x="121603" y="230108"/>
                  <a:pt x="130889" y="232886"/>
                </a:cubicBezTo>
                <a:cubicBezTo>
                  <a:pt x="104775" y="262096"/>
                  <a:pt x="88900" y="300672"/>
                  <a:pt x="88900" y="342900"/>
                </a:cubicBezTo>
                <a:lnTo>
                  <a:pt x="88900" y="355600"/>
                </a:lnTo>
                <a:cubicBezTo>
                  <a:pt x="88900" y="364649"/>
                  <a:pt x="90805" y="373221"/>
                  <a:pt x="94218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413782" y="381000"/>
                </a:moveTo>
                <a:cubicBezTo>
                  <a:pt x="417195" y="373221"/>
                  <a:pt x="419100" y="364649"/>
                  <a:pt x="419100" y="355600"/>
                </a:cubicBezTo>
                <a:lnTo>
                  <a:pt x="419100" y="342900"/>
                </a:lnTo>
                <a:cubicBezTo>
                  <a:pt x="419100" y="300673"/>
                  <a:pt x="403225" y="262096"/>
                  <a:pt x="377111" y="232886"/>
                </a:cubicBezTo>
                <a:cubicBezTo>
                  <a:pt x="386398" y="230108"/>
                  <a:pt x="396240" y="228600"/>
                  <a:pt x="406400" y="228600"/>
                </a:cubicBezTo>
                <a:cubicBezTo>
                  <a:pt x="462518" y="228600"/>
                  <a:pt x="508000" y="274082"/>
                  <a:pt x="508000" y="330200"/>
                </a:cubicBezTo>
                <a:lnTo>
                  <a:pt x="508000" y="355600"/>
                </a:lnTo>
                <a:cubicBezTo>
                  <a:pt x="508000" y="369649"/>
                  <a:pt x="496649" y="381000"/>
                  <a:pt x="482600" y="381000"/>
                </a:cubicBezTo>
                <a:lnTo>
                  <a:pt x="413782" y="381000"/>
                </a:lnTo>
                <a:close/>
                <a:moveTo>
                  <a:pt x="374650" y="127000"/>
                </a:moveTo>
                <a:cubicBezTo>
                  <a:pt x="374650" y="95458"/>
                  <a:pt x="400258" y="69850"/>
                  <a:pt x="431800" y="69850"/>
                </a:cubicBezTo>
                <a:cubicBezTo>
                  <a:pt x="463342" y="69850"/>
                  <a:pt x="488950" y="95458"/>
                  <a:pt x="488950" y="127000"/>
                </a:cubicBezTo>
                <a:cubicBezTo>
                  <a:pt x="488950" y="158542"/>
                  <a:pt x="463342" y="184150"/>
                  <a:pt x="431800" y="184150"/>
                </a:cubicBezTo>
                <a:cubicBezTo>
                  <a:pt x="400258" y="184150"/>
                  <a:pt x="374650" y="158542"/>
                  <a:pt x="374650" y="127000"/>
                </a:cubicBezTo>
                <a:close/>
                <a:moveTo>
                  <a:pt x="127000" y="342900"/>
                </a:moveTo>
                <a:cubicBezTo>
                  <a:pt x="127000" y="272733"/>
                  <a:pt x="183833" y="215900"/>
                  <a:pt x="254000" y="215900"/>
                </a:cubicBezTo>
                <a:cubicBezTo>
                  <a:pt x="324167" y="215900"/>
                  <a:pt x="381000" y="272733"/>
                  <a:pt x="381000" y="342900"/>
                </a:cubicBezTo>
                <a:lnTo>
                  <a:pt x="381000" y="355600"/>
                </a:lnTo>
                <a:cubicBezTo>
                  <a:pt x="381000" y="369649"/>
                  <a:pt x="369649" y="381000"/>
                  <a:pt x="355600" y="381000"/>
                </a:cubicBezTo>
                <a:lnTo>
                  <a:pt x="152400" y="381000"/>
                </a:lnTo>
                <a:cubicBezTo>
                  <a:pt x="138351" y="381000"/>
                  <a:pt x="127000" y="369649"/>
                  <a:pt x="127000" y="355600"/>
                </a:cubicBezTo>
                <a:lnTo>
                  <a:pt x="127000" y="342900"/>
                </a:lnTo>
                <a:close/>
              </a:path>
            </a:pathLst>
          </a:custGeom>
          <a:solidFill>
            <a:srgbClr val="1E3A3A"/>
          </a:solidFill>
          <a:ln/>
        </p:spPr>
      </p:sp>
      <p:sp>
        <p:nvSpPr>
          <p:cNvPr id="17" name="Text 14"/>
          <p:cNvSpPr/>
          <p:nvPr/>
        </p:nvSpPr>
        <p:spPr>
          <a:xfrm>
            <a:off x="2032000" y="6350000"/>
            <a:ext cx="558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Peer comparisons gauge real-world readiness against national benchmarks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346200" y="72390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101600" y="76200"/>
                </a:moveTo>
                <a:cubicBezTo>
                  <a:pt x="101600" y="48181"/>
                  <a:pt x="124381" y="25400"/>
                  <a:pt x="152400" y="25400"/>
                </a:cubicBezTo>
                <a:lnTo>
                  <a:pt x="431800" y="25400"/>
                </a:lnTo>
                <a:cubicBezTo>
                  <a:pt x="459819" y="25400"/>
                  <a:pt x="482600" y="48181"/>
                  <a:pt x="482600" y="76200"/>
                </a:cubicBezTo>
                <a:lnTo>
                  <a:pt x="482600" y="266700"/>
                </a:lnTo>
                <a:lnTo>
                  <a:pt x="406400" y="266700"/>
                </a:lnTo>
                <a:lnTo>
                  <a:pt x="406400" y="254000"/>
                </a:lnTo>
                <a:cubicBezTo>
                  <a:pt x="406400" y="239951"/>
                  <a:pt x="395049" y="228600"/>
                  <a:pt x="381000" y="228600"/>
                </a:cubicBezTo>
                <a:lnTo>
                  <a:pt x="330200" y="228600"/>
                </a:lnTo>
                <a:cubicBezTo>
                  <a:pt x="316151" y="228600"/>
                  <a:pt x="304800" y="239951"/>
                  <a:pt x="304800" y="254000"/>
                </a:cubicBezTo>
                <a:lnTo>
                  <a:pt x="304800" y="266700"/>
                </a:lnTo>
                <a:lnTo>
                  <a:pt x="202327" y="266700"/>
                </a:lnTo>
                <a:cubicBezTo>
                  <a:pt x="210979" y="251777"/>
                  <a:pt x="215900" y="234394"/>
                  <a:pt x="215900" y="215900"/>
                </a:cubicBezTo>
                <a:cubicBezTo>
                  <a:pt x="215900" y="159782"/>
                  <a:pt x="170418" y="114300"/>
                  <a:pt x="114300" y="114300"/>
                </a:cubicBezTo>
                <a:cubicBezTo>
                  <a:pt x="110014" y="114300"/>
                  <a:pt x="105727" y="114538"/>
                  <a:pt x="101600" y="115094"/>
                </a:cubicBezTo>
                <a:lnTo>
                  <a:pt x="101600" y="76200"/>
                </a:lnTo>
                <a:close/>
                <a:moveTo>
                  <a:pt x="264319" y="355600"/>
                </a:moveTo>
                <a:cubicBezTo>
                  <a:pt x="260271" y="336391"/>
                  <a:pt x="251381" y="319008"/>
                  <a:pt x="238839" y="304800"/>
                </a:cubicBezTo>
                <a:lnTo>
                  <a:pt x="482600" y="304800"/>
                </a:lnTo>
                <a:cubicBezTo>
                  <a:pt x="482600" y="332819"/>
                  <a:pt x="459819" y="355600"/>
                  <a:pt x="431800" y="355600"/>
                </a:cubicBezTo>
                <a:lnTo>
                  <a:pt x="264319" y="355600"/>
                </a:lnTo>
                <a:close/>
                <a:moveTo>
                  <a:pt x="50800" y="215900"/>
                </a:moveTo>
                <a:cubicBezTo>
                  <a:pt x="50800" y="180853"/>
                  <a:pt x="79253" y="152400"/>
                  <a:pt x="114300" y="152400"/>
                </a:cubicBezTo>
                <a:cubicBezTo>
                  <a:pt x="149347" y="152400"/>
                  <a:pt x="177800" y="180853"/>
                  <a:pt x="177800" y="215900"/>
                </a:cubicBezTo>
                <a:cubicBezTo>
                  <a:pt x="177800" y="250947"/>
                  <a:pt x="149347" y="279400"/>
                  <a:pt x="114300" y="279400"/>
                </a:cubicBezTo>
                <a:cubicBezTo>
                  <a:pt x="79253" y="279400"/>
                  <a:pt x="50800" y="250947"/>
                  <a:pt x="50800" y="215900"/>
                </a:cubicBezTo>
                <a:close/>
                <a:moveTo>
                  <a:pt x="0" y="381000"/>
                </a:moveTo>
                <a:cubicBezTo>
                  <a:pt x="0" y="338931"/>
                  <a:pt x="34131" y="304800"/>
                  <a:pt x="76200" y="304800"/>
                </a:cubicBezTo>
                <a:lnTo>
                  <a:pt x="152400" y="304800"/>
                </a:lnTo>
                <a:cubicBezTo>
                  <a:pt x="194469" y="304800"/>
                  <a:pt x="228600" y="338931"/>
                  <a:pt x="228600" y="381000"/>
                </a:cubicBezTo>
                <a:cubicBezTo>
                  <a:pt x="228600" y="395049"/>
                  <a:pt x="217249" y="406400"/>
                  <a:pt x="203200" y="406400"/>
                </a:cubicBezTo>
                <a:lnTo>
                  <a:pt x="25400" y="406400"/>
                </a:lnTo>
                <a:cubicBezTo>
                  <a:pt x="11351" y="406400"/>
                  <a:pt x="0" y="395049"/>
                  <a:pt x="0" y="381000"/>
                </a:cubicBezTo>
                <a:close/>
              </a:path>
            </a:pathLst>
          </a:custGeom>
          <a:solidFill>
            <a:srgbClr val="1E3A3A"/>
          </a:solidFill>
          <a:ln/>
        </p:spPr>
      </p:sp>
      <p:sp>
        <p:nvSpPr>
          <p:cNvPr id="19" name="Text 16"/>
          <p:cNvSpPr/>
          <p:nvPr/>
        </p:nvSpPr>
        <p:spPr>
          <a:xfrm>
            <a:off x="2032000" y="7175500"/>
            <a:ext cx="5588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Educator dashboards guide individual and cohort-level interventions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128000" y="6477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0"/>
                </a:moveTo>
                <a:cubicBezTo>
                  <a:pt x="206851" y="0"/>
                  <a:pt x="210503" y="794"/>
                  <a:pt x="213836" y="2302"/>
                </a:cubicBezTo>
                <a:lnTo>
                  <a:pt x="363379" y="65723"/>
                </a:lnTo>
                <a:cubicBezTo>
                  <a:pt x="380841" y="73104"/>
                  <a:pt x="393859" y="90329"/>
                  <a:pt x="393779" y="111125"/>
                </a:cubicBezTo>
                <a:cubicBezTo>
                  <a:pt x="393383" y="189865"/>
                  <a:pt x="360998" y="333931"/>
                  <a:pt x="224234" y="399415"/>
                </a:cubicBezTo>
                <a:cubicBezTo>
                  <a:pt x="210979" y="405765"/>
                  <a:pt x="195580" y="405765"/>
                  <a:pt x="182324" y="399415"/>
                </a:cubicBezTo>
                <a:cubicBezTo>
                  <a:pt x="45482" y="333931"/>
                  <a:pt x="13176" y="189865"/>
                  <a:pt x="12779" y="111125"/>
                </a:cubicBezTo>
                <a:cubicBezTo>
                  <a:pt x="12700" y="90329"/>
                  <a:pt x="25717" y="73104"/>
                  <a:pt x="43180" y="65723"/>
                </a:cubicBezTo>
                <a:lnTo>
                  <a:pt x="192643" y="2302"/>
                </a:lnTo>
                <a:cubicBezTo>
                  <a:pt x="195977" y="794"/>
                  <a:pt x="199549" y="0"/>
                  <a:pt x="203200" y="0"/>
                </a:cubicBezTo>
                <a:close/>
                <a:moveTo>
                  <a:pt x="203200" y="53022"/>
                </a:moveTo>
                <a:lnTo>
                  <a:pt x="203200" y="353139"/>
                </a:lnTo>
                <a:cubicBezTo>
                  <a:pt x="312738" y="300117"/>
                  <a:pt x="342186" y="182642"/>
                  <a:pt x="342900" y="112316"/>
                </a:cubicBezTo>
                <a:lnTo>
                  <a:pt x="203200" y="53102"/>
                </a:lnTo>
                <a:lnTo>
                  <a:pt x="203200" y="53102"/>
                </a:lnTo>
                <a:close/>
              </a:path>
            </a:pathLst>
          </a:custGeom>
          <a:solidFill>
            <a:srgbClr val="1E3A3A"/>
          </a:solidFill>
          <a:ln/>
        </p:spPr>
      </p:sp>
      <p:sp>
        <p:nvSpPr>
          <p:cNvPr id="21" name="Text 18"/>
          <p:cNvSpPr/>
          <p:nvPr/>
        </p:nvSpPr>
        <p:spPr>
          <a:xfrm>
            <a:off x="8763000" y="6413500"/>
            <a:ext cx="609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real-world financial risk for students during learning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178800" y="7239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2700" y="50800"/>
                </a:moveTo>
                <a:cubicBezTo>
                  <a:pt x="12700" y="22781"/>
                  <a:pt x="35481" y="0"/>
                  <a:pt x="63500" y="0"/>
                </a:cubicBezTo>
                <a:lnTo>
                  <a:pt x="241300" y="0"/>
                </a:lnTo>
                <a:cubicBezTo>
                  <a:pt x="269319" y="0"/>
                  <a:pt x="292100" y="22781"/>
                  <a:pt x="292100" y="50800"/>
                </a:cubicBezTo>
                <a:lnTo>
                  <a:pt x="292100" y="355600"/>
                </a:lnTo>
                <a:cubicBezTo>
                  <a:pt x="292100" y="383619"/>
                  <a:pt x="269319" y="406400"/>
                  <a:pt x="241300" y="406400"/>
                </a:cubicBezTo>
                <a:lnTo>
                  <a:pt x="63500" y="406400"/>
                </a:lnTo>
                <a:cubicBezTo>
                  <a:pt x="35481" y="406400"/>
                  <a:pt x="12700" y="383619"/>
                  <a:pt x="12700" y="355600"/>
                </a:cubicBezTo>
                <a:lnTo>
                  <a:pt x="12700" y="50800"/>
                </a:lnTo>
                <a:close/>
                <a:moveTo>
                  <a:pt x="101600" y="349250"/>
                </a:moveTo>
                <a:cubicBezTo>
                  <a:pt x="101600" y="359807"/>
                  <a:pt x="110093" y="368300"/>
                  <a:pt x="120650" y="368300"/>
                </a:cubicBezTo>
                <a:lnTo>
                  <a:pt x="184150" y="368300"/>
                </a:lnTo>
                <a:cubicBezTo>
                  <a:pt x="194707" y="368300"/>
                  <a:pt x="203200" y="359807"/>
                  <a:pt x="203200" y="349250"/>
                </a:cubicBezTo>
                <a:cubicBezTo>
                  <a:pt x="203200" y="338693"/>
                  <a:pt x="194707" y="330200"/>
                  <a:pt x="184150" y="330200"/>
                </a:cubicBezTo>
                <a:lnTo>
                  <a:pt x="120650" y="330200"/>
                </a:lnTo>
                <a:cubicBezTo>
                  <a:pt x="110093" y="330200"/>
                  <a:pt x="101600" y="338693"/>
                  <a:pt x="101600" y="349250"/>
                </a:cubicBezTo>
                <a:close/>
                <a:moveTo>
                  <a:pt x="241300" y="50800"/>
                </a:moveTo>
                <a:lnTo>
                  <a:pt x="63500" y="50800"/>
                </a:lnTo>
                <a:lnTo>
                  <a:pt x="63500" y="292100"/>
                </a:lnTo>
                <a:lnTo>
                  <a:pt x="241300" y="292100"/>
                </a:lnTo>
                <a:lnTo>
                  <a:pt x="241300" y="50800"/>
                </a:lnTo>
                <a:close/>
              </a:path>
            </a:pathLst>
          </a:custGeom>
          <a:solidFill>
            <a:srgbClr val="1E3A3A"/>
          </a:solidFill>
          <a:ln/>
        </p:spPr>
      </p:sp>
      <p:sp>
        <p:nvSpPr>
          <p:cNvPr id="23" name="Text 20"/>
          <p:cNvSpPr/>
          <p:nvPr/>
        </p:nvSpPr>
        <p:spPr>
          <a:xfrm>
            <a:off x="8763000" y="7175500"/>
            <a:ext cx="635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Accessible across devices — classroom, remote, or hybrid delivery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16000" y="8445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6666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Fnomo / Fintoma Technology Limited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1016000" y="83185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635000"/>
            <a:ext cx="1270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This Builds — Measurable Outcomes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016000" y="1460500"/>
            <a:ext cx="2032000" cy="0"/>
          </a:xfrm>
          <a:prstGeom prst="straightConnector1">
            <a:avLst/>
          </a:prstGeom>
          <a:noFill/>
          <a:ln w="38100">
            <a:solidFill>
              <a:srgbClr val="0A0A0A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016000" y="1905000"/>
            <a:ext cx="431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85%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1016000" y="3048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Target student engagement rate within 12 months of pilot launch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969000" y="1905000"/>
            <a:ext cx="431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1E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40%</a:t>
            </a:r>
            <a:endParaRPr lang="en-US" sz="5600" dirty="0"/>
          </a:p>
        </p:txBody>
      </p:sp>
      <p:sp>
        <p:nvSpPr>
          <p:cNvPr id="8" name="Text 5"/>
          <p:cNvSpPr/>
          <p:nvPr/>
        </p:nvSpPr>
        <p:spPr>
          <a:xfrm>
            <a:off x="5969000" y="3048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Improvement in structured decision patterns measured against baseline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22000" y="1905000"/>
            <a:ext cx="4318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56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100%</a:t>
            </a:r>
            <a:endParaRPr lang="en-US" sz="5600" dirty="0"/>
          </a:p>
        </p:txBody>
      </p:sp>
      <p:sp>
        <p:nvSpPr>
          <p:cNvPr id="10" name="Text 7"/>
          <p:cNvSpPr/>
          <p:nvPr/>
        </p:nvSpPr>
        <p:spPr>
          <a:xfrm>
            <a:off x="10922000" y="3048000"/>
            <a:ext cx="4318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Coverage of common financial cognitive biases tracked and reported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16000" y="43180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1016000" y="4572000"/>
            <a:ext cx="6350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Capability Outcomes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16000" y="5207000"/>
            <a:ext cx="13970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1E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▪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2000" b="1" dirty="0">
                <a:solidFill>
                  <a:srgbClr val="0A0A0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Decision Confidence: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Measurable increase in structured choice-making under uncertainty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1E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▪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2000" b="1" dirty="0">
                <a:solidFill>
                  <a:srgbClr val="0A0A0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Rational Thinking: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Developed preference for analytical over impulsive action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1E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▪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2000" b="1" dirty="0">
                <a:solidFill>
                  <a:srgbClr val="0A0A0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Practical Awareness: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Deep financial understanding prior to independent adulthood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2000" dirty="0">
                <a:solidFill>
                  <a:srgbClr val="1E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▪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</a:t>
            </a:r>
            <a:pPr>
              <a:lnSpc>
                <a:spcPct val="170000"/>
              </a:lnSpc>
            </a:pPr>
            <a:r>
              <a:rPr lang="en-US" sz="2000" b="1" dirty="0">
                <a:solidFill>
                  <a:srgbClr val="0A0A0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Workforce Readiness:</a:t>
            </a:r>
            <a:pPr>
              <a:lnSpc>
                <a:spcPct val="17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Future economic workforce equipped with applied decision skills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16000" y="8445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6666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Fnomo / Fintoma Technology Limited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1016000" y="83185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3ku73ug7lv542/mnt/agents/output/fnomo_policy/images/chapter_structure.png">    </p:cNvPr>
          <p:cNvPicPr>
            <a:picLocks noChangeAspect="1"/>
          </p:cNvPicPr>
          <p:nvPr/>
        </p:nvPicPr>
        <p:blipFill>
          <a:blip r:embed="rId1"/>
          <a:srcRect l="0" r="0" t="781" b="781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0A0A0A">
                  <a:alpha val="90000"/>
                </a:srgbClr>
              </a:gs>
              <a:gs pos="65000">
                <a:srgbClr val="0A0A0A">
                  <a:alpha val="70000"/>
                </a:srgbClr>
              </a:gs>
              <a:gs pos="100000">
                <a:srgbClr val="0A0A0A">
                  <a:alpha val="40000"/>
                </a:srgbClr>
              </a:gs>
            </a:gsLst>
            <a:lin ang="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1016000" y="2794000"/>
            <a:ext cx="254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1E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016000" y="3556000"/>
            <a:ext cx="1143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8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&amp; Impact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1016000" y="4572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CCCCC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Building Real-World Readiness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1016000" y="3429000"/>
            <a:ext cx="1524000" cy="0"/>
          </a:xfrm>
          <a:prstGeom prst="straightConnector1">
            <a:avLst/>
          </a:prstGeom>
          <a:noFill/>
          <a:ln w="38100">
            <a:solidFill>
              <a:srgbClr val="1E3A3A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635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Roadmap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016000" y="1460500"/>
            <a:ext cx="2032000" cy="0"/>
          </a:xfrm>
          <a:prstGeom prst="straightConnector1">
            <a:avLst/>
          </a:prstGeom>
          <a:noFill/>
          <a:ln w="38100">
            <a:solidFill>
              <a:srgbClr val="0A0A0A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016000" y="1905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E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1016000" y="2476500"/>
            <a:ext cx="3175000" cy="50800"/>
          </a:xfrm>
          <a:prstGeom prst="rect">
            <a:avLst/>
          </a:prstGeom>
          <a:solidFill>
            <a:srgbClr val="1E3A3A"/>
          </a:solidFill>
          <a:ln/>
        </p:spPr>
      </p:sp>
      <p:sp>
        <p:nvSpPr>
          <p:cNvPr id="7" name="Text 4"/>
          <p:cNvSpPr/>
          <p:nvPr/>
        </p:nvSpPr>
        <p:spPr>
          <a:xfrm>
            <a:off x="1778000" y="1905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Pilot Design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26670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 1–3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3111500"/>
            <a:ext cx="317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Select 10–15 partner schools. Configure platform. Train educator cohort.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4699000" y="1905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E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99000" y="2476500"/>
            <a:ext cx="3175000" cy="50800"/>
          </a:xfrm>
          <a:prstGeom prst="rect">
            <a:avLst/>
          </a:prstGeom>
          <a:solidFill>
            <a:srgbClr val="1E3A3A"/>
          </a:solidFill>
          <a:ln/>
        </p:spPr>
      </p:sp>
      <p:sp>
        <p:nvSpPr>
          <p:cNvPr id="12" name="Text 9"/>
          <p:cNvSpPr/>
          <p:nvPr/>
        </p:nvSpPr>
        <p:spPr>
          <a:xfrm>
            <a:off x="5461000" y="1905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Pilot Execution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699000" y="26670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 4–9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4699000" y="3111500"/>
            <a:ext cx="317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 simulation. Collect engagement and decision-capability data. Interim reporting.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382000" y="1905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E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8382000" y="2476500"/>
            <a:ext cx="3175000" cy="50800"/>
          </a:xfrm>
          <a:prstGeom prst="rect">
            <a:avLst/>
          </a:prstGeom>
          <a:solidFill>
            <a:srgbClr val="1E3A3A"/>
          </a:solidFill>
          <a:ln/>
        </p:spPr>
      </p:sp>
      <p:sp>
        <p:nvSpPr>
          <p:cNvPr id="17" name="Text 14"/>
          <p:cNvSpPr/>
          <p:nvPr/>
        </p:nvSpPr>
        <p:spPr>
          <a:xfrm>
            <a:off x="9144000" y="1905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Evaluation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382000" y="26670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Months 10–12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382000" y="3111500"/>
            <a:ext cx="317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Analyse systemic insights. Validate outcome metrics. Refine framework based on feedback.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2065000" y="1905000"/>
            <a:ext cx="635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1E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2065000" y="2476500"/>
            <a:ext cx="3175000" cy="50800"/>
          </a:xfrm>
          <a:prstGeom prst="rect">
            <a:avLst/>
          </a:prstGeom>
          <a:solidFill>
            <a:srgbClr val="1E3A3A"/>
          </a:solidFill>
          <a:ln/>
        </p:spPr>
      </p:sp>
      <p:sp>
        <p:nvSpPr>
          <p:cNvPr id="22" name="Text 19"/>
          <p:cNvSpPr/>
          <p:nvPr/>
        </p:nvSpPr>
        <p:spPr>
          <a:xfrm>
            <a:off x="12827000" y="1905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Scaled Adoption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12065000" y="26670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Year 2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2065000" y="3111500"/>
            <a:ext cx="3175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Expand to 100+ institutions. Integrate with NCCA reporting. Establish national baseline.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016000" y="5207000"/>
            <a:ext cx="14224000" cy="0"/>
          </a:xfrm>
          <a:prstGeom prst="straightConnector1">
            <a:avLst/>
          </a:prstGeom>
          <a:noFill/>
          <a:ln w="25400">
            <a:solidFill>
              <a:srgbClr val="0A0A0A"/>
            </a:solidFill>
            <a:prstDash val="solid"/>
            <a:headEnd type="none"/>
            <a:tailEnd type="none"/>
          </a:ln>
        </p:spPr>
      </p:sp>
      <p:sp>
        <p:nvSpPr>
          <p:cNvPr id="26" name="Shape 23"/>
          <p:cNvSpPr/>
          <p:nvPr/>
        </p:nvSpPr>
        <p:spPr>
          <a:xfrm>
            <a:off x="2349500" y="5130800"/>
            <a:ext cx="152400" cy="152400"/>
          </a:xfrm>
          <a:prstGeom prst="ellipse">
            <a:avLst/>
          </a:prstGeom>
          <a:solidFill>
            <a:srgbClr val="1E3A3A"/>
          </a:solidFill>
          <a:ln/>
        </p:spPr>
      </p:sp>
      <p:sp>
        <p:nvSpPr>
          <p:cNvPr id="27" name="Shape 24"/>
          <p:cNvSpPr/>
          <p:nvPr/>
        </p:nvSpPr>
        <p:spPr>
          <a:xfrm>
            <a:off x="6032500" y="5130800"/>
            <a:ext cx="152400" cy="152400"/>
          </a:xfrm>
          <a:prstGeom prst="ellipse">
            <a:avLst/>
          </a:prstGeom>
          <a:solidFill>
            <a:srgbClr val="1E3A3A"/>
          </a:solidFill>
          <a:ln/>
        </p:spPr>
      </p:sp>
      <p:sp>
        <p:nvSpPr>
          <p:cNvPr id="28" name="Shape 25"/>
          <p:cNvSpPr/>
          <p:nvPr/>
        </p:nvSpPr>
        <p:spPr>
          <a:xfrm>
            <a:off x="9715500" y="5130800"/>
            <a:ext cx="152400" cy="152400"/>
          </a:xfrm>
          <a:prstGeom prst="ellipse">
            <a:avLst/>
          </a:prstGeom>
          <a:solidFill>
            <a:srgbClr val="1E3A3A"/>
          </a:solidFill>
          <a:ln/>
        </p:spPr>
      </p:sp>
      <p:sp>
        <p:nvSpPr>
          <p:cNvPr id="29" name="Shape 26"/>
          <p:cNvSpPr/>
          <p:nvPr/>
        </p:nvSpPr>
        <p:spPr>
          <a:xfrm>
            <a:off x="13398500" y="5130800"/>
            <a:ext cx="152400" cy="152400"/>
          </a:xfrm>
          <a:prstGeom prst="ellipse">
            <a:avLst/>
          </a:prstGeom>
          <a:solidFill>
            <a:srgbClr val="1E3A3A"/>
          </a:solidFill>
          <a:ln/>
        </p:spPr>
      </p:sp>
      <p:sp>
        <p:nvSpPr>
          <p:cNvPr id="30" name="Text 27"/>
          <p:cNvSpPr/>
          <p:nvPr/>
        </p:nvSpPr>
        <p:spPr>
          <a:xfrm>
            <a:off x="1016000" y="54610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Q1–Q3 Year 1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4699000" y="54610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Q4–Q4 Year 1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382000" y="54610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Q1 Year 2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2065000" y="5461000"/>
            <a:ext cx="3175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Q2+ Year 2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1016000" y="6096000"/>
            <a:ext cx="14224000" cy="1524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397000" y="6223000"/>
            <a:ext cx="381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Profile: Low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397000" y="6667500"/>
            <a:ext cx="1346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Phase 1 is designed as a low-risk, low-cost pilot with clear exit criteria. No structural changes required. Full educator support provided. Measurable outcomes defined before launch.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016000" y="8445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6666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Fnomo / Fintoma Technology Limited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016000" y="83185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635000"/>
            <a:ext cx="1143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Stakeholder Benefits &amp; System Alignment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016000" y="1460500"/>
            <a:ext cx="2032000" cy="0"/>
          </a:xfrm>
          <a:prstGeom prst="straightConnector1">
            <a:avLst/>
          </a:prstGeom>
          <a:noFill/>
          <a:ln w="38100">
            <a:solidFill>
              <a:srgbClr val="0A0A0A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016000" y="1905000"/>
            <a:ext cx="6858000" cy="2794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16000" y="1905000"/>
            <a:ext cx="50800" cy="2794000"/>
          </a:xfrm>
          <a:prstGeom prst="rect">
            <a:avLst/>
          </a:prstGeom>
          <a:solidFill>
            <a:srgbClr val="1E3A3A"/>
          </a:solidFill>
          <a:ln/>
        </p:spPr>
      </p:sp>
      <p:sp>
        <p:nvSpPr>
          <p:cNvPr id="7" name="Text 4"/>
          <p:cNvSpPr/>
          <p:nvPr/>
        </p:nvSpPr>
        <p:spPr>
          <a:xfrm>
            <a:off x="1397000" y="2095500"/>
            <a:ext cx="609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Students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97000" y="2667000"/>
            <a:ext cx="609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Real-world readiness before independent adulthood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Measurable confidence in financial decision-making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Structured thinking habits that transfer across domains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382000" y="1905000"/>
            <a:ext cx="6858000" cy="2794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382000" y="1905000"/>
            <a:ext cx="50800" cy="2794000"/>
          </a:xfrm>
          <a:prstGeom prst="rect">
            <a:avLst/>
          </a:prstGeom>
          <a:solidFill>
            <a:srgbClr val="1E3A3A"/>
          </a:solidFill>
          <a:ln/>
        </p:spPr>
      </p:sp>
      <p:sp>
        <p:nvSpPr>
          <p:cNvPr id="11" name="Text 8"/>
          <p:cNvSpPr/>
          <p:nvPr/>
        </p:nvSpPr>
        <p:spPr>
          <a:xfrm>
            <a:off x="8763000" y="2095500"/>
            <a:ext cx="609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Educators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763000" y="2667000"/>
            <a:ext cx="609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Data-driven insights into student decision patterns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Aligned with existing curriculum frameworks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No additional subject burden or teaching hours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16000" y="5080000"/>
            <a:ext cx="6858000" cy="2794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16000" y="5080000"/>
            <a:ext cx="50800" cy="2794000"/>
          </a:xfrm>
          <a:prstGeom prst="rect">
            <a:avLst/>
          </a:prstGeom>
          <a:solidFill>
            <a:srgbClr val="1E3A3A"/>
          </a:solidFill>
          <a:ln/>
        </p:spPr>
      </p:sp>
      <p:sp>
        <p:nvSpPr>
          <p:cNvPr id="15" name="Text 12"/>
          <p:cNvSpPr/>
          <p:nvPr/>
        </p:nvSpPr>
        <p:spPr>
          <a:xfrm>
            <a:off x="1397000" y="5270500"/>
            <a:ext cx="609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the Department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97000" y="5842000"/>
            <a:ext cx="609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Directly supports capability-based education mandate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Complements NCCA curriculum structures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Scalable institutional-level adoption pathway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382000" y="5080000"/>
            <a:ext cx="6858000" cy="2794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82000" y="5080000"/>
            <a:ext cx="50800" cy="2794000"/>
          </a:xfrm>
          <a:prstGeom prst="rect">
            <a:avLst/>
          </a:prstGeom>
          <a:solidFill>
            <a:srgbClr val="1E3A3A"/>
          </a:solidFill>
          <a:ln/>
        </p:spPr>
      </p:sp>
      <p:sp>
        <p:nvSpPr>
          <p:cNvPr id="19" name="Text 16"/>
          <p:cNvSpPr/>
          <p:nvPr/>
        </p:nvSpPr>
        <p:spPr>
          <a:xfrm>
            <a:off x="8763000" y="5270500"/>
            <a:ext cx="6096000" cy="444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the State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763000" y="5842000"/>
            <a:ext cx="6096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Systemic modernisation with zero operational disruption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Future workforce preparedness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 Reduced downstream financial literacy intervention costs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16000" y="8445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6666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Fnomo / Fintoma Technology Limited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016000" y="83185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635000"/>
            <a:ext cx="1016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Aligned with National Direction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016000" y="1460500"/>
            <a:ext cx="2032000" cy="0"/>
          </a:xfrm>
          <a:prstGeom prst="straightConnector1">
            <a:avLst/>
          </a:prstGeom>
          <a:noFill/>
          <a:ln w="38100">
            <a:solidFill>
              <a:srgbClr val="0A0A0A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016000" y="1778000"/>
            <a:ext cx="8890000" cy="469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70000"/>
              </a:lnSpc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Directly supports the </a:t>
            </a:r>
            <a:pPr>
              <a:lnSpc>
                <a:spcPct val="170000"/>
              </a:lnSpc>
            </a:pPr>
            <a:r>
              <a:rPr lang="en-US" sz="2200" b="1" dirty="0">
                <a:solidFill>
                  <a:srgbClr val="0A0A0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systemic shift toward capability-based education</a:t>
            </a:r>
            <a:pPr>
              <a:lnSpc>
                <a:spcPct val="170000"/>
              </a:lnSpc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Seamlessly complements existing 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0A0A0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NCCA curriculum structures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Designed fundamentally for 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0A0A0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scalable, institutional-level adoption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  <a:p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Achieves systemic modernisation with 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b="1" dirty="0">
                <a:solidFill>
                  <a:srgbClr val="0A0A0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zero operational disruption</a:t>
            </a:r>
            <a:pPr>
              <a:lnSpc>
                <a:spcPct val="170000"/>
              </a:lnSpc>
              <a:spcBef>
                <a:spcPts val="1600"/>
              </a:spcBef>
            </a:pPr>
            <a:r>
              <a:rPr lang="en-US" sz="2200" dirty="0">
                <a:solidFill>
                  <a:srgbClr val="333333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10414000" y="1778000"/>
            <a:ext cx="4826000" cy="53340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4"/>
          <p:cNvSpPr/>
          <p:nvPr/>
        </p:nvSpPr>
        <p:spPr>
          <a:xfrm>
            <a:off x="10795000" y="2032000"/>
            <a:ext cx="4064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Alignments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795000" y="2667000"/>
            <a:ext cx="762000" cy="0"/>
          </a:xfrm>
          <a:prstGeom prst="straightConnector1">
            <a:avLst/>
          </a:prstGeom>
          <a:noFill/>
          <a:ln w="38100">
            <a:solidFill>
              <a:srgbClr val="1E3A3A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10795000" y="2857500"/>
            <a:ext cx="4064000" cy="400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EU Digital Education Action Plan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OECD PISA Financial Literacy Objectives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National Skills Strategy 2025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Department of Education — Learner Outcomes Framework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▸</a:t>
            </a:r>
            <a:pPr>
              <a:lnSpc>
                <a:spcPct val="16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Ireland for Finance — Future Skills Agenda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016000" y="7302500"/>
            <a:ext cx="14224000" cy="10160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397000" y="7429500"/>
            <a:ext cx="1346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E3A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Zero Structural Overhaul Required.</a:t>
            </a:r>
            <a:pPr>
              <a:lnSpc>
                <a:spcPct val="100000"/>
              </a:lnSpc>
            </a:pPr>
            <a:r>
              <a:rPr lang="en-US" sz="20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initiative embeds within existing frameworks rather than creating new ones — ensuring rapid deployment without legislative or curriculum delays.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16000" y="8445500"/>
            <a:ext cx="5080000" cy="317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6666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Fnomo / Fintoma Technology Limited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016000" y="83185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635000"/>
            <a:ext cx="11430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38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Steps — Pathway to National Adoption</a:t>
            </a:r>
            <a:endParaRPr lang="en-US" sz="4000" dirty="0"/>
          </a:p>
        </p:txBody>
      </p:sp>
      <p:sp>
        <p:nvSpPr>
          <p:cNvPr id="4" name="Shape 1"/>
          <p:cNvSpPr/>
          <p:nvPr/>
        </p:nvSpPr>
        <p:spPr>
          <a:xfrm>
            <a:off x="1016000" y="1460500"/>
            <a:ext cx="2032000" cy="0"/>
          </a:xfrm>
          <a:prstGeom prst="straightConnector1">
            <a:avLst/>
          </a:prstGeom>
          <a:noFill/>
          <a:ln w="38100">
            <a:solidFill>
              <a:srgbClr val="0A0A0A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1016000" y="2159000"/>
            <a:ext cx="203200" cy="203200"/>
          </a:xfrm>
          <a:prstGeom prst="ellipse">
            <a:avLst/>
          </a:prstGeom>
          <a:solidFill>
            <a:srgbClr val="1E3A3A"/>
          </a:solidFill>
          <a:ln/>
        </p:spPr>
      </p:sp>
      <p:sp>
        <p:nvSpPr>
          <p:cNvPr id="6" name="Text 3"/>
          <p:cNvSpPr/>
          <p:nvPr/>
        </p:nvSpPr>
        <p:spPr>
          <a:xfrm>
            <a:off x="1460500" y="20320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A0A0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Initiate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 structured pilot pathway across selected institutions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16000" y="3048000"/>
            <a:ext cx="203200" cy="203200"/>
          </a:xfrm>
          <a:prstGeom prst="ellipse">
            <a:avLst/>
          </a:prstGeom>
          <a:solidFill>
            <a:srgbClr val="1E3A3A"/>
          </a:solidFill>
          <a:ln/>
        </p:spPr>
      </p:sp>
      <p:sp>
        <p:nvSpPr>
          <p:cNvPr id="8" name="Text 5"/>
          <p:cNvSpPr/>
          <p:nvPr/>
        </p:nvSpPr>
        <p:spPr>
          <a:xfrm>
            <a:off x="1460500" y="29210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A0A0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Validate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student engagement and decision capability outcomes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016000" y="3937000"/>
            <a:ext cx="203200" cy="203200"/>
          </a:xfrm>
          <a:prstGeom prst="ellipse">
            <a:avLst/>
          </a:prstGeom>
          <a:solidFill>
            <a:srgbClr val="1E3A3A"/>
          </a:solidFill>
          <a:ln/>
        </p:spPr>
      </p:sp>
      <p:sp>
        <p:nvSpPr>
          <p:cNvPr id="10" name="Text 7"/>
          <p:cNvSpPr/>
          <p:nvPr/>
        </p:nvSpPr>
        <p:spPr>
          <a:xfrm>
            <a:off x="1460500" y="38100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A0A0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Refine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framework based on active Departmental feedback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16000" y="4826000"/>
            <a:ext cx="203200" cy="203200"/>
          </a:xfrm>
          <a:prstGeom prst="ellipse">
            <a:avLst/>
          </a:prstGeom>
          <a:solidFill>
            <a:srgbClr val="1E3A3A"/>
          </a:solidFill>
          <a:ln/>
        </p:spPr>
      </p:sp>
      <p:sp>
        <p:nvSpPr>
          <p:cNvPr id="12" name="Text 9"/>
          <p:cNvSpPr/>
          <p:nvPr/>
        </p:nvSpPr>
        <p:spPr>
          <a:xfrm>
            <a:off x="1460500" y="4699000"/>
            <a:ext cx="1270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0A0A0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Establish</a:t>
            </a:r>
            <a:pPr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foundation for system-level national adoption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16000" y="5715000"/>
            <a:ext cx="14224000" cy="0"/>
          </a:xfrm>
          <a:prstGeom prst="straightConnector1">
            <a:avLst/>
          </a:prstGeom>
          <a:noFill/>
          <a:ln w="25400">
            <a:solidFill>
              <a:srgbClr val="0A0A0A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/>
          <p:nvPr/>
        </p:nvSpPr>
        <p:spPr>
          <a:xfrm>
            <a:off x="1016000" y="5969000"/>
            <a:ext cx="381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1E3A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REQUESTED ACTION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16000" y="6477000"/>
            <a:ext cx="1397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2400" b="1" dirty="0">
                <a:solidFill>
                  <a:srgbClr val="0A0A0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Formal endorsement to proceed with Phase 1 pilot design and partner school identification.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16000" y="7620000"/>
            <a:ext cx="889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for Department of Education stakeholders | Fnomo / Fintoma Technology Limited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16000" y="8445500"/>
            <a:ext cx="5080000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666666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Fnomo / Fintoma Technology Limited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1016000" y="83185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16000" y="2540000"/>
            <a:ext cx="14224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5200" dirty="0">
                <a:solidFill>
                  <a:srgbClr val="0A0A0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Real-World Readiness Starts With Real Decisions.</a:t>
            </a:r>
            <a:endParaRPr lang="en-US" sz="1600" dirty="0"/>
          </a:p>
        </p:txBody>
      </p:sp>
      <p:sp>
        <p:nvSpPr>
          <p:cNvPr id="4" name="Shape 1"/>
          <p:cNvSpPr/>
          <p:nvPr/>
        </p:nvSpPr>
        <p:spPr>
          <a:xfrm>
            <a:off x="1016000" y="4826000"/>
            <a:ext cx="2540000" cy="0"/>
          </a:xfrm>
          <a:prstGeom prst="straightConnector1">
            <a:avLst/>
          </a:prstGeom>
          <a:noFill/>
          <a:ln w="50800">
            <a:solidFill>
              <a:srgbClr val="1E3A3A"/>
            </a:solidFill>
            <a:prstDash val="solid"/>
            <a:headEnd type="none"/>
            <a:tailEnd type="none"/>
          </a:ln>
        </p:spPr>
      </p:sp>
      <p:sp>
        <p:nvSpPr>
          <p:cNvPr id="5" name="Text 2"/>
          <p:cNvSpPr/>
          <p:nvPr/>
        </p:nvSpPr>
        <p:spPr>
          <a:xfrm>
            <a:off x="1016000" y="52070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333333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Fnomo / Fintoma Technology Limited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016000" y="5842000"/>
            <a:ext cx="889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99999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Prepared for Department of Education stakeholders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16000" y="8318500"/>
            <a:ext cx="14224000" cy="0"/>
          </a:xfrm>
          <a:prstGeom prst="straightConnector1">
            <a:avLst/>
          </a:prstGeom>
          <a:noFill/>
          <a:ln w="12700">
            <a:solidFill>
              <a:srgbClr val="E0E0E0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Fnomo Policy Deck</dc:title>
  <dc:subject>Fnomo Policy Deck</dc:subject>
  <dc:creator>Kimi</dc:creator>
  <cp:lastModifiedBy>Kimi</cp:lastModifiedBy>
  <cp:revision>1</cp:revision>
  <dcterms:created xsi:type="dcterms:W3CDTF">2026-04-24T18:58:29Z</dcterms:created>
  <dcterms:modified xsi:type="dcterms:W3CDTF">2026-04-24T18:58:29Z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{"Label":"Fnomo Policy Deck","ContentProducer":"001191110108MACG2KBH8F10000","ProduceID":"19dc0d6f-0992-8de4-8000-0000d90c998f","ReservedCode1":"","ContentPropagator":"001191110108MACG2KBH8F20000","PropagateID":"19dc0d6f-0992-8de4-8000-0000d90c998f","ReservedCode2":""}</vt:lpwstr>
  </property>
</Properties>
</file>