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10"/>
  </p:normalViewPr>
  <p:slideViewPr>
    <p:cSldViewPr snapToGrid="0" snapToObjects="1">
      <p:cViewPr varScale="1">
        <p:scale>
          <a:sx n="92" d="100"/>
          <a:sy n="92" d="100"/>
        </p:scale>
        <p:origin x="56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93187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235"/>
        </a:solidFill>
        <a:effectLst/>
      </p:bgPr>
    </p:bg>
    <p:spTree>
      <p:nvGrpSpPr>
        <p:cNvPr id="1" name=""/>
        <p:cNvGrpSpPr/>
        <p:nvPr/>
      </p:nvGrpSpPr>
      <p:grpSpPr>
        <a:xfrm>
          <a:off x="0" y="0"/>
          <a:ext cx="0" cy="0"/>
          <a:chOff x="0" y="0"/>
          <a:chExt cx="0" cy="0"/>
        </a:xfrm>
      </p:grpSpPr>
      <p:sp>
        <p:nvSpPr>
          <p:cNvPr id="2" name="Shape 0"/>
          <p:cNvSpPr/>
          <p:nvPr/>
        </p:nvSpPr>
        <p:spPr>
          <a:xfrm>
            <a:off x="0" y="0"/>
            <a:ext cx="4389120" cy="5143500"/>
          </a:xfrm>
          <a:prstGeom prst="rect">
            <a:avLst/>
          </a:prstGeom>
          <a:solidFill>
            <a:srgbClr val="FFFFFF"/>
          </a:solidFill>
          <a:ln w="12700">
            <a:solidFill>
              <a:srgbClr val="FFFFFF"/>
            </a:solidFill>
            <a:prstDash val="solid"/>
          </a:ln>
        </p:spPr>
        <p:txBody>
          <a:bodyPr/>
          <a:lstStyle/>
          <a:p>
            <a:endParaRPr lang="en-IN"/>
          </a:p>
        </p:txBody>
      </p:sp>
      <p:sp>
        <p:nvSpPr>
          <p:cNvPr id="3" name="Shape 1"/>
          <p:cNvSpPr/>
          <p:nvPr/>
        </p:nvSpPr>
        <p:spPr>
          <a:xfrm>
            <a:off x="0" y="0"/>
            <a:ext cx="109728" cy="5143500"/>
          </a:xfrm>
          <a:prstGeom prst="rect">
            <a:avLst/>
          </a:prstGeom>
          <a:solidFill>
            <a:srgbClr val="6B21C8"/>
          </a:solidFill>
          <a:ln w="12700">
            <a:solidFill>
              <a:srgbClr val="6B21C8"/>
            </a:solidFill>
            <a:prstDash val="solid"/>
          </a:ln>
        </p:spPr>
        <p:txBody>
          <a:bodyPr/>
          <a:lstStyle/>
          <a:p>
            <a:endParaRPr lang="en-IN"/>
          </a:p>
        </p:txBody>
      </p:sp>
      <p:sp>
        <p:nvSpPr>
          <p:cNvPr id="4" name="Shape 2"/>
          <p:cNvSpPr/>
          <p:nvPr/>
        </p:nvSpPr>
        <p:spPr>
          <a:xfrm>
            <a:off x="320040" y="347472"/>
            <a:ext cx="1280160" cy="347472"/>
          </a:xfrm>
          <a:prstGeom prst="rect">
            <a:avLst/>
          </a:prstGeom>
          <a:solidFill>
            <a:srgbClr val="1A1F5E"/>
          </a:solidFill>
          <a:ln w="12700">
            <a:solidFill>
              <a:srgbClr val="1A1F5E"/>
            </a:solidFill>
            <a:prstDash val="solid"/>
          </a:ln>
        </p:spPr>
        <p:txBody>
          <a:bodyPr/>
          <a:lstStyle/>
          <a:p>
            <a:endParaRPr lang="en-IN"/>
          </a:p>
        </p:txBody>
      </p:sp>
      <p:sp>
        <p:nvSpPr>
          <p:cNvPr id="5" name="Text 3"/>
          <p:cNvSpPr/>
          <p:nvPr/>
        </p:nvSpPr>
        <p:spPr>
          <a:xfrm>
            <a:off x="320040" y="347472"/>
            <a:ext cx="128016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 Fnomo</a:t>
            </a:r>
            <a:endParaRPr lang="en-US" sz="1100" dirty="0"/>
          </a:p>
        </p:txBody>
      </p:sp>
      <p:sp>
        <p:nvSpPr>
          <p:cNvPr id="6" name="Text 4"/>
          <p:cNvSpPr/>
          <p:nvPr/>
        </p:nvSpPr>
        <p:spPr>
          <a:xfrm>
            <a:off x="182880" y="960120"/>
            <a:ext cx="3931920" cy="1828800"/>
          </a:xfrm>
          <a:prstGeom prst="rect">
            <a:avLst/>
          </a:prstGeom>
          <a:noFill/>
          <a:ln/>
        </p:spPr>
        <p:txBody>
          <a:bodyPr wrap="square" lIns="0" tIns="0" rIns="0" bIns="0" rtlCol="0" anchor="ctr"/>
          <a:lstStyle/>
          <a:p>
            <a:pPr marL="0" indent="0" algn="l">
              <a:lnSpc>
                <a:spcPct val="108000"/>
              </a:lnSpc>
              <a:buNone/>
            </a:pPr>
            <a:r>
              <a:rPr lang="en-US" sz="3800" b="1" dirty="0">
                <a:solidFill>
                  <a:srgbClr val="1A1F5E"/>
                </a:solidFill>
                <a:latin typeface="Calibri" pitchFamily="34" charset="0"/>
                <a:ea typeface="Calibri" pitchFamily="34" charset="-122"/>
                <a:cs typeface="Calibri" pitchFamily="34" charset="-120"/>
              </a:rPr>
              <a:t>STRATEGIC</a:t>
            </a:r>
            <a:endParaRPr lang="en-US" sz="3800" dirty="0"/>
          </a:p>
          <a:p>
            <a:pPr marL="0" indent="0" algn="l">
              <a:lnSpc>
                <a:spcPct val="108000"/>
              </a:lnSpc>
              <a:buNone/>
            </a:pPr>
            <a:r>
              <a:rPr lang="en-US" sz="3800" b="1" dirty="0">
                <a:solidFill>
                  <a:srgbClr val="1A1F5E"/>
                </a:solidFill>
                <a:latin typeface="Calibri" pitchFamily="34" charset="0"/>
                <a:ea typeface="Calibri" pitchFamily="34" charset="-122"/>
                <a:cs typeface="Calibri" pitchFamily="34" charset="-120"/>
              </a:rPr>
              <a:t>PARTNERSHIP</a:t>
            </a:r>
            <a:endParaRPr lang="en-US" sz="3800" dirty="0"/>
          </a:p>
          <a:p>
            <a:pPr marL="0" indent="0" algn="l">
              <a:lnSpc>
                <a:spcPct val="108000"/>
              </a:lnSpc>
              <a:buNone/>
            </a:pPr>
            <a:r>
              <a:rPr lang="en-US" sz="3800" b="1" dirty="0">
                <a:solidFill>
                  <a:srgbClr val="1A1F5E"/>
                </a:solidFill>
                <a:latin typeface="Calibri" pitchFamily="34" charset="0"/>
                <a:ea typeface="Calibri" pitchFamily="34" charset="-122"/>
                <a:cs typeface="Calibri" pitchFamily="34" charset="-120"/>
              </a:rPr>
              <a:t>BRIEF</a:t>
            </a:r>
            <a:endParaRPr lang="en-US" sz="3800" dirty="0"/>
          </a:p>
        </p:txBody>
      </p:sp>
      <p:sp>
        <p:nvSpPr>
          <p:cNvPr id="7" name="Text 5"/>
          <p:cNvSpPr/>
          <p:nvPr/>
        </p:nvSpPr>
        <p:spPr>
          <a:xfrm>
            <a:off x="182880" y="2852928"/>
            <a:ext cx="3977640" cy="292608"/>
          </a:xfrm>
          <a:prstGeom prst="rect">
            <a:avLst/>
          </a:prstGeom>
          <a:noFill/>
          <a:ln/>
        </p:spPr>
        <p:txBody>
          <a:bodyPr wrap="square" lIns="0" tIns="0" rIns="0" bIns="0" rtlCol="0" anchor="ctr"/>
          <a:lstStyle/>
          <a:p>
            <a:pPr marL="0" indent="0">
              <a:buNone/>
            </a:pPr>
            <a:r>
              <a:rPr lang="en-US" sz="950" b="1" kern="0" spc="150" dirty="0">
                <a:solidFill>
                  <a:srgbClr val="6B21C8"/>
                </a:solidFill>
                <a:latin typeface="Calibri" pitchFamily="34" charset="0"/>
                <a:ea typeface="Calibri" pitchFamily="34" charset="-122"/>
                <a:cs typeface="Calibri" pitchFamily="34" charset="-120"/>
              </a:rPr>
              <a:t>AN INSTITUTIONAL DECISION INFRASTRUCTURE</a:t>
            </a:r>
            <a:endParaRPr lang="en-US" sz="950" dirty="0"/>
          </a:p>
        </p:txBody>
      </p:sp>
      <p:sp>
        <p:nvSpPr>
          <p:cNvPr id="8" name="Shape 6"/>
          <p:cNvSpPr/>
          <p:nvPr/>
        </p:nvSpPr>
        <p:spPr>
          <a:xfrm>
            <a:off x="182880" y="3163824"/>
            <a:ext cx="3977640" cy="18288"/>
          </a:xfrm>
          <a:prstGeom prst="rect">
            <a:avLst/>
          </a:prstGeom>
          <a:solidFill>
            <a:srgbClr val="E8EAF4"/>
          </a:solidFill>
          <a:ln w="12700">
            <a:solidFill>
              <a:srgbClr val="E8EAF4"/>
            </a:solidFill>
            <a:prstDash val="solid"/>
          </a:ln>
        </p:spPr>
        <p:txBody>
          <a:bodyPr/>
          <a:lstStyle/>
          <a:p>
            <a:endParaRPr lang="en-IN"/>
          </a:p>
        </p:txBody>
      </p:sp>
      <p:sp>
        <p:nvSpPr>
          <p:cNvPr id="9" name="Text 7"/>
          <p:cNvSpPr/>
          <p:nvPr/>
        </p:nvSpPr>
        <p:spPr>
          <a:xfrm>
            <a:off x="182880" y="3246120"/>
            <a:ext cx="3977640" cy="777240"/>
          </a:xfrm>
          <a:prstGeom prst="rect">
            <a:avLst/>
          </a:prstGeom>
          <a:noFill/>
          <a:ln/>
        </p:spPr>
        <p:txBody>
          <a:bodyPr wrap="square" lIns="0" tIns="0" rIns="0" bIns="0" rtlCol="0" anchor="ctr"/>
          <a:lstStyle/>
          <a:p>
            <a:pPr marL="0" indent="0" algn="l">
              <a:lnSpc>
                <a:spcPct val="130000"/>
              </a:lnSpc>
              <a:buNone/>
            </a:pPr>
            <a:r>
              <a:rPr lang="en-US" sz="1100" dirty="0">
                <a:solidFill>
                  <a:srgbClr val="4B5280"/>
                </a:solidFill>
                <a:latin typeface="Calibri" pitchFamily="34" charset="0"/>
                <a:ea typeface="Calibri" pitchFamily="34" charset="-122"/>
                <a:cs typeface="Calibri" pitchFamily="34" charset="-120"/>
              </a:rPr>
              <a:t>Fnomo is not a news aggregator or a social sentiment tracker. It is an advanced analysis engine designed to eliminate Decision Decay.</a:t>
            </a:r>
            <a:endParaRPr lang="en-US" sz="1100" dirty="0"/>
          </a:p>
        </p:txBody>
      </p:sp>
      <p:sp>
        <p:nvSpPr>
          <p:cNvPr id="10" name="Shape 8"/>
          <p:cNvSpPr/>
          <p:nvPr/>
        </p:nvSpPr>
        <p:spPr>
          <a:xfrm>
            <a:off x="182880" y="4480560"/>
            <a:ext cx="3977640" cy="438912"/>
          </a:xfrm>
          <a:prstGeom prst="rect">
            <a:avLst/>
          </a:prstGeom>
          <a:solidFill>
            <a:srgbClr val="1A1F5E"/>
          </a:solidFill>
          <a:ln w="12700">
            <a:solidFill>
              <a:srgbClr val="1A1F5E"/>
            </a:solidFill>
            <a:prstDash val="solid"/>
          </a:ln>
        </p:spPr>
        <p:txBody>
          <a:bodyPr/>
          <a:lstStyle/>
          <a:p>
            <a:endParaRPr lang="en-IN"/>
          </a:p>
        </p:txBody>
      </p:sp>
      <p:sp>
        <p:nvSpPr>
          <p:cNvPr id="11" name="Text 9"/>
          <p:cNvSpPr/>
          <p:nvPr/>
        </p:nvSpPr>
        <p:spPr>
          <a:xfrm>
            <a:off x="182880" y="4480560"/>
            <a:ext cx="3977640" cy="438912"/>
          </a:xfrm>
          <a:prstGeom prst="rect">
            <a:avLst/>
          </a:prstGeom>
          <a:noFill/>
          <a:ln/>
        </p:spPr>
        <p:txBody>
          <a:bodyPr wrap="square" lIns="0" tIns="0" rIns="0" bIns="0" rtlCol="0" anchor="ctr"/>
          <a:lstStyle/>
          <a:p>
            <a:pPr marL="0" indent="0" algn="ctr">
              <a:buNone/>
            </a:pPr>
            <a:r>
              <a:rPr lang="en-US" sz="850" dirty="0">
                <a:solidFill>
                  <a:srgbClr val="8899CC"/>
                </a:solidFill>
                <a:latin typeface="Calibri" pitchFamily="34" charset="0"/>
                <a:ea typeface="Calibri" pitchFamily="34" charset="-122"/>
                <a:cs typeface="Calibri" pitchFamily="34" charset="-120"/>
              </a:rPr>
              <a:t>CONFIDENTIAL  ·  Professional Partnership Summary</a:t>
            </a:r>
            <a:endParaRPr lang="en-US" sz="850" dirty="0"/>
          </a:p>
        </p:txBody>
      </p:sp>
      <p:sp>
        <p:nvSpPr>
          <p:cNvPr id="12" name="Shape 10"/>
          <p:cNvSpPr/>
          <p:nvPr/>
        </p:nvSpPr>
        <p:spPr>
          <a:xfrm>
            <a:off x="4389120" y="0"/>
            <a:ext cx="4754880" cy="5143500"/>
          </a:xfrm>
          <a:prstGeom prst="rect">
            <a:avLst/>
          </a:prstGeom>
          <a:solidFill>
            <a:srgbClr val="1A1F5E"/>
          </a:solidFill>
          <a:ln w="12700">
            <a:solidFill>
              <a:srgbClr val="1A1F5E"/>
            </a:solidFill>
            <a:prstDash val="solid"/>
          </a:ln>
        </p:spPr>
        <p:txBody>
          <a:bodyPr/>
          <a:lstStyle/>
          <a:p>
            <a:endParaRPr lang="en-IN"/>
          </a:p>
        </p:txBody>
      </p:sp>
      <p:sp>
        <p:nvSpPr>
          <p:cNvPr id="13" name="Shape 11"/>
          <p:cNvSpPr/>
          <p:nvPr/>
        </p:nvSpPr>
        <p:spPr>
          <a:xfrm>
            <a:off x="4389120" y="274320"/>
            <a:ext cx="4754880" cy="0"/>
          </a:xfrm>
          <a:prstGeom prst="line">
            <a:avLst/>
          </a:prstGeom>
          <a:noFill/>
          <a:ln w="6350">
            <a:solidFill>
              <a:srgbClr val="2A3070"/>
            </a:solidFill>
            <a:prstDash val="solid"/>
          </a:ln>
        </p:spPr>
        <p:txBody>
          <a:bodyPr/>
          <a:lstStyle/>
          <a:p>
            <a:endParaRPr lang="en-IN"/>
          </a:p>
        </p:txBody>
      </p:sp>
      <p:sp>
        <p:nvSpPr>
          <p:cNvPr id="14" name="Shape 12"/>
          <p:cNvSpPr/>
          <p:nvPr/>
        </p:nvSpPr>
        <p:spPr>
          <a:xfrm>
            <a:off x="4389120" y="914400"/>
            <a:ext cx="4754880" cy="0"/>
          </a:xfrm>
          <a:prstGeom prst="line">
            <a:avLst/>
          </a:prstGeom>
          <a:noFill/>
          <a:ln w="6350">
            <a:solidFill>
              <a:srgbClr val="2A3070"/>
            </a:solidFill>
            <a:prstDash val="solid"/>
          </a:ln>
        </p:spPr>
        <p:txBody>
          <a:bodyPr/>
          <a:lstStyle/>
          <a:p>
            <a:endParaRPr lang="en-IN"/>
          </a:p>
        </p:txBody>
      </p:sp>
      <p:sp>
        <p:nvSpPr>
          <p:cNvPr id="15" name="Shape 13"/>
          <p:cNvSpPr/>
          <p:nvPr/>
        </p:nvSpPr>
        <p:spPr>
          <a:xfrm>
            <a:off x="4389120" y="1554480"/>
            <a:ext cx="4754880" cy="0"/>
          </a:xfrm>
          <a:prstGeom prst="line">
            <a:avLst/>
          </a:prstGeom>
          <a:noFill/>
          <a:ln w="6350">
            <a:solidFill>
              <a:srgbClr val="2A3070"/>
            </a:solidFill>
            <a:prstDash val="solid"/>
          </a:ln>
        </p:spPr>
        <p:txBody>
          <a:bodyPr/>
          <a:lstStyle/>
          <a:p>
            <a:endParaRPr lang="en-IN"/>
          </a:p>
        </p:txBody>
      </p:sp>
      <p:sp>
        <p:nvSpPr>
          <p:cNvPr id="16" name="Shape 14"/>
          <p:cNvSpPr/>
          <p:nvPr/>
        </p:nvSpPr>
        <p:spPr>
          <a:xfrm>
            <a:off x="4389120" y="2194560"/>
            <a:ext cx="4754880" cy="0"/>
          </a:xfrm>
          <a:prstGeom prst="line">
            <a:avLst/>
          </a:prstGeom>
          <a:noFill/>
          <a:ln w="6350">
            <a:solidFill>
              <a:srgbClr val="2A3070"/>
            </a:solidFill>
            <a:prstDash val="solid"/>
          </a:ln>
        </p:spPr>
        <p:txBody>
          <a:bodyPr/>
          <a:lstStyle/>
          <a:p>
            <a:endParaRPr lang="en-IN"/>
          </a:p>
        </p:txBody>
      </p:sp>
      <p:sp>
        <p:nvSpPr>
          <p:cNvPr id="17" name="Shape 15"/>
          <p:cNvSpPr/>
          <p:nvPr/>
        </p:nvSpPr>
        <p:spPr>
          <a:xfrm>
            <a:off x="4389120" y="2834640"/>
            <a:ext cx="4754880" cy="0"/>
          </a:xfrm>
          <a:prstGeom prst="line">
            <a:avLst/>
          </a:prstGeom>
          <a:noFill/>
          <a:ln w="6350">
            <a:solidFill>
              <a:srgbClr val="2A3070"/>
            </a:solidFill>
            <a:prstDash val="solid"/>
          </a:ln>
        </p:spPr>
        <p:txBody>
          <a:bodyPr/>
          <a:lstStyle/>
          <a:p>
            <a:endParaRPr lang="en-IN"/>
          </a:p>
        </p:txBody>
      </p:sp>
      <p:sp>
        <p:nvSpPr>
          <p:cNvPr id="18" name="Shape 16"/>
          <p:cNvSpPr/>
          <p:nvPr/>
        </p:nvSpPr>
        <p:spPr>
          <a:xfrm>
            <a:off x="4389120" y="3474720"/>
            <a:ext cx="4754880" cy="0"/>
          </a:xfrm>
          <a:prstGeom prst="line">
            <a:avLst/>
          </a:prstGeom>
          <a:noFill/>
          <a:ln w="6350">
            <a:solidFill>
              <a:srgbClr val="2A3070"/>
            </a:solidFill>
            <a:prstDash val="solid"/>
          </a:ln>
        </p:spPr>
        <p:txBody>
          <a:bodyPr/>
          <a:lstStyle/>
          <a:p>
            <a:endParaRPr lang="en-IN"/>
          </a:p>
        </p:txBody>
      </p:sp>
      <p:sp>
        <p:nvSpPr>
          <p:cNvPr id="19" name="Shape 17"/>
          <p:cNvSpPr/>
          <p:nvPr/>
        </p:nvSpPr>
        <p:spPr>
          <a:xfrm>
            <a:off x="4389120" y="4114800"/>
            <a:ext cx="4754880" cy="0"/>
          </a:xfrm>
          <a:prstGeom prst="line">
            <a:avLst/>
          </a:prstGeom>
          <a:noFill/>
          <a:ln w="6350">
            <a:solidFill>
              <a:srgbClr val="2A3070"/>
            </a:solidFill>
            <a:prstDash val="solid"/>
          </a:ln>
        </p:spPr>
        <p:txBody>
          <a:bodyPr/>
          <a:lstStyle/>
          <a:p>
            <a:endParaRPr lang="en-IN"/>
          </a:p>
        </p:txBody>
      </p:sp>
      <p:sp>
        <p:nvSpPr>
          <p:cNvPr id="20" name="Shape 18"/>
          <p:cNvSpPr/>
          <p:nvPr/>
        </p:nvSpPr>
        <p:spPr>
          <a:xfrm>
            <a:off x="4389120" y="4754880"/>
            <a:ext cx="4754880" cy="0"/>
          </a:xfrm>
          <a:prstGeom prst="line">
            <a:avLst/>
          </a:prstGeom>
          <a:noFill/>
          <a:ln w="6350">
            <a:solidFill>
              <a:srgbClr val="2A3070"/>
            </a:solidFill>
            <a:prstDash val="solid"/>
          </a:ln>
        </p:spPr>
        <p:txBody>
          <a:bodyPr/>
          <a:lstStyle/>
          <a:p>
            <a:endParaRPr lang="en-IN"/>
          </a:p>
        </p:txBody>
      </p:sp>
      <p:sp>
        <p:nvSpPr>
          <p:cNvPr id="21" name="Shape 19"/>
          <p:cNvSpPr/>
          <p:nvPr/>
        </p:nvSpPr>
        <p:spPr>
          <a:xfrm>
            <a:off x="4389120" y="0"/>
            <a:ext cx="0" cy="5143500"/>
          </a:xfrm>
          <a:prstGeom prst="line">
            <a:avLst/>
          </a:prstGeom>
          <a:noFill/>
          <a:ln w="6350">
            <a:solidFill>
              <a:srgbClr val="2A3070"/>
            </a:solidFill>
            <a:prstDash val="solid"/>
          </a:ln>
        </p:spPr>
        <p:txBody>
          <a:bodyPr/>
          <a:lstStyle/>
          <a:p>
            <a:endParaRPr lang="en-IN"/>
          </a:p>
        </p:txBody>
      </p:sp>
      <p:sp>
        <p:nvSpPr>
          <p:cNvPr id="22" name="Shape 20"/>
          <p:cNvSpPr/>
          <p:nvPr/>
        </p:nvSpPr>
        <p:spPr>
          <a:xfrm>
            <a:off x="5184648" y="0"/>
            <a:ext cx="0" cy="5143500"/>
          </a:xfrm>
          <a:prstGeom prst="line">
            <a:avLst/>
          </a:prstGeom>
          <a:noFill/>
          <a:ln w="6350">
            <a:solidFill>
              <a:srgbClr val="2A3070"/>
            </a:solidFill>
            <a:prstDash val="solid"/>
          </a:ln>
        </p:spPr>
        <p:txBody>
          <a:bodyPr/>
          <a:lstStyle/>
          <a:p>
            <a:endParaRPr lang="en-IN"/>
          </a:p>
        </p:txBody>
      </p:sp>
      <p:sp>
        <p:nvSpPr>
          <p:cNvPr id="23" name="Shape 21"/>
          <p:cNvSpPr/>
          <p:nvPr/>
        </p:nvSpPr>
        <p:spPr>
          <a:xfrm>
            <a:off x="5980176" y="0"/>
            <a:ext cx="0" cy="5143500"/>
          </a:xfrm>
          <a:prstGeom prst="line">
            <a:avLst/>
          </a:prstGeom>
          <a:noFill/>
          <a:ln w="6350">
            <a:solidFill>
              <a:srgbClr val="2A3070"/>
            </a:solidFill>
            <a:prstDash val="solid"/>
          </a:ln>
        </p:spPr>
        <p:txBody>
          <a:bodyPr/>
          <a:lstStyle/>
          <a:p>
            <a:endParaRPr lang="en-IN"/>
          </a:p>
        </p:txBody>
      </p:sp>
      <p:sp>
        <p:nvSpPr>
          <p:cNvPr id="24" name="Shape 22"/>
          <p:cNvSpPr/>
          <p:nvPr/>
        </p:nvSpPr>
        <p:spPr>
          <a:xfrm>
            <a:off x="6775704" y="0"/>
            <a:ext cx="0" cy="5143500"/>
          </a:xfrm>
          <a:prstGeom prst="line">
            <a:avLst/>
          </a:prstGeom>
          <a:noFill/>
          <a:ln w="6350">
            <a:solidFill>
              <a:srgbClr val="2A3070"/>
            </a:solidFill>
            <a:prstDash val="solid"/>
          </a:ln>
        </p:spPr>
        <p:txBody>
          <a:bodyPr/>
          <a:lstStyle/>
          <a:p>
            <a:endParaRPr lang="en-IN"/>
          </a:p>
        </p:txBody>
      </p:sp>
      <p:sp>
        <p:nvSpPr>
          <p:cNvPr id="25" name="Shape 23"/>
          <p:cNvSpPr/>
          <p:nvPr/>
        </p:nvSpPr>
        <p:spPr>
          <a:xfrm>
            <a:off x="7571232" y="0"/>
            <a:ext cx="0" cy="5143500"/>
          </a:xfrm>
          <a:prstGeom prst="line">
            <a:avLst/>
          </a:prstGeom>
          <a:noFill/>
          <a:ln w="6350">
            <a:solidFill>
              <a:srgbClr val="2A3070"/>
            </a:solidFill>
            <a:prstDash val="solid"/>
          </a:ln>
        </p:spPr>
        <p:txBody>
          <a:bodyPr/>
          <a:lstStyle/>
          <a:p>
            <a:endParaRPr lang="en-IN"/>
          </a:p>
        </p:txBody>
      </p:sp>
      <p:sp>
        <p:nvSpPr>
          <p:cNvPr id="26" name="Shape 24"/>
          <p:cNvSpPr/>
          <p:nvPr/>
        </p:nvSpPr>
        <p:spPr>
          <a:xfrm>
            <a:off x="8366760" y="0"/>
            <a:ext cx="0" cy="5143500"/>
          </a:xfrm>
          <a:prstGeom prst="line">
            <a:avLst/>
          </a:prstGeom>
          <a:noFill/>
          <a:ln w="6350">
            <a:solidFill>
              <a:srgbClr val="2A3070"/>
            </a:solidFill>
            <a:prstDash val="solid"/>
          </a:ln>
        </p:spPr>
        <p:txBody>
          <a:bodyPr/>
          <a:lstStyle/>
          <a:p>
            <a:endParaRPr lang="en-IN"/>
          </a:p>
        </p:txBody>
      </p:sp>
      <p:sp>
        <p:nvSpPr>
          <p:cNvPr id="27" name="Shape 25"/>
          <p:cNvSpPr/>
          <p:nvPr/>
        </p:nvSpPr>
        <p:spPr>
          <a:xfrm>
            <a:off x="5989320" y="1280160"/>
            <a:ext cx="1828800" cy="1828800"/>
          </a:xfrm>
          <a:prstGeom prst="ellipse">
            <a:avLst/>
          </a:prstGeom>
          <a:solidFill>
            <a:srgbClr val="6B21C8">
              <a:alpha val="40000"/>
            </a:srgbClr>
          </a:solidFill>
          <a:ln w="25400">
            <a:solidFill>
              <a:srgbClr val="9333EA"/>
            </a:solidFill>
            <a:prstDash val="solid"/>
          </a:ln>
        </p:spPr>
        <p:txBody>
          <a:bodyPr/>
          <a:lstStyle/>
          <a:p>
            <a:endParaRPr lang="en-IN"/>
          </a:p>
        </p:txBody>
      </p:sp>
      <p:sp>
        <p:nvSpPr>
          <p:cNvPr id="28" name="Shape 26"/>
          <p:cNvSpPr/>
          <p:nvPr/>
        </p:nvSpPr>
        <p:spPr>
          <a:xfrm>
            <a:off x="6355080" y="1645920"/>
            <a:ext cx="1097280" cy="1097280"/>
          </a:xfrm>
          <a:prstGeom prst="ellipse">
            <a:avLst/>
          </a:prstGeom>
          <a:solidFill>
            <a:srgbClr val="6B21C8">
              <a:alpha val="60000"/>
            </a:srgbClr>
          </a:solidFill>
          <a:ln w="12700">
            <a:solidFill>
              <a:srgbClr val="AA55FF"/>
            </a:solidFill>
            <a:prstDash val="solid"/>
          </a:ln>
        </p:spPr>
        <p:txBody>
          <a:bodyPr/>
          <a:lstStyle/>
          <a:p>
            <a:endParaRPr lang="en-IN"/>
          </a:p>
        </p:txBody>
      </p:sp>
      <p:sp>
        <p:nvSpPr>
          <p:cNvPr id="29" name="Text 27"/>
          <p:cNvSpPr/>
          <p:nvPr/>
        </p:nvSpPr>
        <p:spPr>
          <a:xfrm>
            <a:off x="5989320" y="1280160"/>
            <a:ext cx="1828800" cy="1828800"/>
          </a:xfrm>
          <a:prstGeom prst="rect">
            <a:avLst/>
          </a:prstGeom>
          <a:noFill/>
          <a:ln/>
        </p:spPr>
        <p:txBody>
          <a:bodyPr wrap="square" lIns="0" tIns="0" rIns="0" bIns="0" rtlCol="0" anchor="ctr"/>
          <a:lstStyle/>
          <a:p>
            <a:pPr marL="0" indent="0" algn="ctr">
              <a:lnSpc>
                <a:spcPct val="140000"/>
              </a:lnSpc>
              <a:buNone/>
            </a:pPr>
            <a:r>
              <a:rPr lang="en-US" sz="900" b="1" dirty="0">
                <a:solidFill>
                  <a:srgbClr val="FFFFFF"/>
                </a:solidFill>
                <a:latin typeface="Calibri" pitchFamily="34" charset="0"/>
                <a:ea typeface="Calibri" pitchFamily="34" charset="-122"/>
                <a:cs typeface="Calibri" pitchFamily="34" charset="-120"/>
              </a:rPr>
              <a:t>DECISION</a:t>
            </a:r>
            <a:endParaRPr lang="en-US" sz="900" dirty="0"/>
          </a:p>
          <a:p>
            <a:pPr marL="0" indent="0" algn="ctr">
              <a:lnSpc>
                <a:spcPct val="140000"/>
              </a:lnSpc>
              <a:buNone/>
            </a:pPr>
            <a:r>
              <a:rPr lang="en-US" sz="900" b="1" dirty="0">
                <a:solidFill>
                  <a:srgbClr val="FFFFFF"/>
                </a:solidFill>
                <a:latin typeface="Calibri" pitchFamily="34" charset="0"/>
                <a:ea typeface="Calibri" pitchFamily="34" charset="-122"/>
                <a:cs typeface="Calibri" pitchFamily="34" charset="-120"/>
              </a:rPr>
              <a:t>INTELLIGENCE</a:t>
            </a:r>
            <a:endParaRPr lang="en-US" sz="900" dirty="0"/>
          </a:p>
        </p:txBody>
      </p:sp>
      <p:sp>
        <p:nvSpPr>
          <p:cNvPr id="30" name="Shape 28"/>
          <p:cNvSpPr/>
          <p:nvPr/>
        </p:nvSpPr>
        <p:spPr>
          <a:xfrm>
            <a:off x="4754880" y="457200"/>
            <a:ext cx="1371600" cy="347472"/>
          </a:xfrm>
          <a:prstGeom prst="roundRect">
            <a:avLst>
              <a:gd name="adj" fmla="val 13158"/>
            </a:avLst>
          </a:prstGeom>
          <a:solidFill>
            <a:srgbClr val="1E2860"/>
          </a:solidFill>
          <a:ln w="12700">
            <a:solidFill>
              <a:srgbClr val="2563EB"/>
            </a:solidFill>
            <a:prstDash val="solid"/>
          </a:ln>
        </p:spPr>
        <p:txBody>
          <a:bodyPr/>
          <a:lstStyle/>
          <a:p>
            <a:endParaRPr lang="en-IN"/>
          </a:p>
        </p:txBody>
      </p:sp>
      <p:sp>
        <p:nvSpPr>
          <p:cNvPr id="31" name="Text 29"/>
          <p:cNvSpPr/>
          <p:nvPr/>
        </p:nvSpPr>
        <p:spPr>
          <a:xfrm>
            <a:off x="4754880" y="457200"/>
            <a:ext cx="1371600" cy="347472"/>
          </a:xfrm>
          <a:prstGeom prst="rect">
            <a:avLst/>
          </a:prstGeom>
          <a:noFill/>
          <a:ln/>
        </p:spPr>
        <p:txBody>
          <a:bodyPr wrap="square" lIns="0" tIns="0" rIns="0" bIns="0" rtlCol="0" anchor="ctr"/>
          <a:lstStyle/>
          <a:p>
            <a:pPr marL="0" indent="0" algn="ctr">
              <a:buNone/>
            </a:pPr>
            <a:r>
              <a:rPr lang="en-US" sz="700" b="1" dirty="0">
                <a:solidFill>
                  <a:srgbClr val="88AADD"/>
                </a:solidFill>
                <a:latin typeface="Calibri" pitchFamily="34" charset="0"/>
                <a:ea typeface="Calibri" pitchFamily="34" charset="-122"/>
                <a:cs typeface="Calibri" pitchFamily="34" charset="-120"/>
              </a:rPr>
              <a:t>REAL-TIME DATA</a:t>
            </a:r>
            <a:endParaRPr lang="en-US" sz="700" dirty="0"/>
          </a:p>
        </p:txBody>
      </p:sp>
      <p:sp>
        <p:nvSpPr>
          <p:cNvPr id="32" name="Shape 30"/>
          <p:cNvSpPr/>
          <p:nvPr/>
        </p:nvSpPr>
        <p:spPr>
          <a:xfrm>
            <a:off x="7772400" y="822960"/>
            <a:ext cx="1371600" cy="347472"/>
          </a:xfrm>
          <a:prstGeom prst="roundRect">
            <a:avLst>
              <a:gd name="adj" fmla="val 13158"/>
            </a:avLst>
          </a:prstGeom>
          <a:solidFill>
            <a:srgbClr val="1E2860"/>
          </a:solidFill>
          <a:ln w="12700">
            <a:solidFill>
              <a:srgbClr val="2563EB"/>
            </a:solidFill>
            <a:prstDash val="solid"/>
          </a:ln>
        </p:spPr>
        <p:txBody>
          <a:bodyPr/>
          <a:lstStyle/>
          <a:p>
            <a:endParaRPr lang="en-IN"/>
          </a:p>
        </p:txBody>
      </p:sp>
      <p:sp>
        <p:nvSpPr>
          <p:cNvPr id="33" name="Text 31"/>
          <p:cNvSpPr/>
          <p:nvPr/>
        </p:nvSpPr>
        <p:spPr>
          <a:xfrm>
            <a:off x="7772400" y="822960"/>
            <a:ext cx="1371600" cy="347472"/>
          </a:xfrm>
          <a:prstGeom prst="rect">
            <a:avLst/>
          </a:prstGeom>
          <a:noFill/>
          <a:ln/>
        </p:spPr>
        <p:txBody>
          <a:bodyPr wrap="square" lIns="0" tIns="0" rIns="0" bIns="0" rtlCol="0" anchor="ctr"/>
          <a:lstStyle/>
          <a:p>
            <a:pPr marL="0" indent="0" algn="ctr">
              <a:buNone/>
            </a:pPr>
            <a:r>
              <a:rPr lang="en-US" sz="700" b="1" dirty="0">
                <a:solidFill>
                  <a:srgbClr val="88AADD"/>
                </a:solidFill>
                <a:latin typeface="Calibri" pitchFamily="34" charset="0"/>
                <a:ea typeface="Calibri" pitchFamily="34" charset="-122"/>
                <a:cs typeface="Calibri" pitchFamily="34" charset="-120"/>
              </a:rPr>
              <a:t>ANALYSIS ENGINE</a:t>
            </a:r>
            <a:endParaRPr lang="en-US" sz="700" dirty="0"/>
          </a:p>
        </p:txBody>
      </p:sp>
      <p:sp>
        <p:nvSpPr>
          <p:cNvPr id="34" name="Shape 32"/>
          <p:cNvSpPr/>
          <p:nvPr/>
        </p:nvSpPr>
        <p:spPr>
          <a:xfrm>
            <a:off x="5029200" y="3474720"/>
            <a:ext cx="1371600" cy="347472"/>
          </a:xfrm>
          <a:prstGeom prst="roundRect">
            <a:avLst>
              <a:gd name="adj" fmla="val 13158"/>
            </a:avLst>
          </a:prstGeom>
          <a:solidFill>
            <a:srgbClr val="1E2860"/>
          </a:solidFill>
          <a:ln w="12700">
            <a:solidFill>
              <a:srgbClr val="2563EB"/>
            </a:solidFill>
            <a:prstDash val="solid"/>
          </a:ln>
        </p:spPr>
        <p:txBody>
          <a:bodyPr/>
          <a:lstStyle/>
          <a:p>
            <a:endParaRPr lang="en-IN"/>
          </a:p>
        </p:txBody>
      </p:sp>
      <p:sp>
        <p:nvSpPr>
          <p:cNvPr id="35" name="Text 33"/>
          <p:cNvSpPr/>
          <p:nvPr/>
        </p:nvSpPr>
        <p:spPr>
          <a:xfrm>
            <a:off x="5029200" y="3474720"/>
            <a:ext cx="1371600" cy="347472"/>
          </a:xfrm>
          <a:prstGeom prst="rect">
            <a:avLst/>
          </a:prstGeom>
          <a:noFill/>
          <a:ln/>
        </p:spPr>
        <p:txBody>
          <a:bodyPr wrap="square" lIns="0" tIns="0" rIns="0" bIns="0" rtlCol="0" anchor="ctr"/>
          <a:lstStyle/>
          <a:p>
            <a:pPr marL="0" indent="0" algn="ctr">
              <a:buNone/>
            </a:pPr>
            <a:r>
              <a:rPr lang="en-US" sz="700" b="1" dirty="0">
                <a:solidFill>
                  <a:srgbClr val="88AADD"/>
                </a:solidFill>
                <a:latin typeface="Calibri" pitchFamily="34" charset="0"/>
                <a:ea typeface="Calibri" pitchFamily="34" charset="-122"/>
                <a:cs typeface="Calibri" pitchFamily="34" charset="-120"/>
              </a:rPr>
              <a:t>PATTERN LOGIC</a:t>
            </a:r>
            <a:endParaRPr lang="en-US" sz="700" dirty="0"/>
          </a:p>
        </p:txBody>
      </p:sp>
      <p:sp>
        <p:nvSpPr>
          <p:cNvPr id="36" name="Shape 34"/>
          <p:cNvSpPr/>
          <p:nvPr/>
        </p:nvSpPr>
        <p:spPr>
          <a:xfrm>
            <a:off x="7498080" y="3840480"/>
            <a:ext cx="1371600" cy="347472"/>
          </a:xfrm>
          <a:prstGeom prst="roundRect">
            <a:avLst>
              <a:gd name="adj" fmla="val 13158"/>
            </a:avLst>
          </a:prstGeom>
          <a:solidFill>
            <a:srgbClr val="1E2860"/>
          </a:solidFill>
          <a:ln w="12700">
            <a:solidFill>
              <a:srgbClr val="2563EB"/>
            </a:solidFill>
            <a:prstDash val="solid"/>
          </a:ln>
        </p:spPr>
        <p:txBody>
          <a:bodyPr/>
          <a:lstStyle/>
          <a:p>
            <a:endParaRPr lang="en-IN"/>
          </a:p>
        </p:txBody>
      </p:sp>
      <p:sp>
        <p:nvSpPr>
          <p:cNvPr id="37" name="Text 35"/>
          <p:cNvSpPr/>
          <p:nvPr/>
        </p:nvSpPr>
        <p:spPr>
          <a:xfrm>
            <a:off x="7498080" y="3840480"/>
            <a:ext cx="1371600" cy="347472"/>
          </a:xfrm>
          <a:prstGeom prst="rect">
            <a:avLst/>
          </a:prstGeom>
          <a:noFill/>
          <a:ln/>
        </p:spPr>
        <p:txBody>
          <a:bodyPr wrap="square" lIns="0" tIns="0" rIns="0" bIns="0" rtlCol="0" anchor="ctr"/>
          <a:lstStyle/>
          <a:p>
            <a:pPr marL="0" indent="0" algn="ctr">
              <a:buNone/>
            </a:pPr>
            <a:r>
              <a:rPr lang="en-US" sz="700" b="1" dirty="0">
                <a:solidFill>
                  <a:srgbClr val="88AADD"/>
                </a:solidFill>
                <a:latin typeface="Calibri" pitchFamily="34" charset="0"/>
                <a:ea typeface="Calibri" pitchFamily="34" charset="-122"/>
                <a:cs typeface="Calibri" pitchFamily="34" charset="-120"/>
              </a:rPr>
              <a:t>RISK SIGNALS</a:t>
            </a:r>
            <a:endParaRPr lang="en-US" sz="700" dirty="0"/>
          </a:p>
        </p:txBody>
      </p:sp>
      <p:sp>
        <p:nvSpPr>
          <p:cNvPr id="38" name="Shape 36"/>
          <p:cNvSpPr/>
          <p:nvPr/>
        </p:nvSpPr>
        <p:spPr>
          <a:xfrm>
            <a:off x="5440680" y="630936"/>
            <a:ext cx="1005840" cy="685800"/>
          </a:xfrm>
          <a:prstGeom prst="line">
            <a:avLst/>
          </a:prstGeom>
          <a:noFill/>
          <a:ln w="8890">
            <a:solidFill>
              <a:srgbClr val="334488"/>
            </a:solidFill>
            <a:prstDash val="solid"/>
          </a:ln>
        </p:spPr>
        <p:txBody>
          <a:bodyPr/>
          <a:lstStyle/>
          <a:p>
            <a:endParaRPr lang="en-IN"/>
          </a:p>
        </p:txBody>
      </p:sp>
      <p:sp>
        <p:nvSpPr>
          <p:cNvPr id="39" name="Shape 37"/>
          <p:cNvSpPr/>
          <p:nvPr/>
        </p:nvSpPr>
        <p:spPr>
          <a:xfrm>
            <a:off x="7498080" y="996696"/>
            <a:ext cx="0" cy="640080"/>
          </a:xfrm>
          <a:prstGeom prst="line">
            <a:avLst/>
          </a:prstGeom>
          <a:noFill/>
          <a:ln w="8890">
            <a:solidFill>
              <a:srgbClr val="334488"/>
            </a:solidFill>
            <a:prstDash val="solid"/>
          </a:ln>
        </p:spPr>
        <p:txBody>
          <a:bodyPr/>
          <a:lstStyle/>
          <a:p>
            <a:endParaRPr lang="en-IN"/>
          </a:p>
        </p:txBody>
      </p:sp>
      <p:sp>
        <p:nvSpPr>
          <p:cNvPr id="40" name="Shape 38"/>
          <p:cNvSpPr/>
          <p:nvPr/>
        </p:nvSpPr>
        <p:spPr>
          <a:xfrm>
            <a:off x="5715000" y="3474720"/>
            <a:ext cx="731520" cy="0"/>
          </a:xfrm>
          <a:prstGeom prst="line">
            <a:avLst/>
          </a:prstGeom>
          <a:noFill/>
          <a:ln w="8890">
            <a:solidFill>
              <a:srgbClr val="334488"/>
            </a:solidFill>
            <a:prstDash val="solid"/>
          </a:ln>
        </p:spPr>
        <p:txBody>
          <a:bodyPr/>
          <a:lstStyle/>
          <a:p>
            <a:endParaRPr lang="en-IN"/>
          </a:p>
        </p:txBody>
      </p:sp>
      <p:sp>
        <p:nvSpPr>
          <p:cNvPr id="41" name="Shape 39"/>
          <p:cNvSpPr/>
          <p:nvPr/>
        </p:nvSpPr>
        <p:spPr>
          <a:xfrm>
            <a:off x="7498080" y="3931920"/>
            <a:ext cx="0" cy="0"/>
          </a:xfrm>
          <a:prstGeom prst="line">
            <a:avLst/>
          </a:prstGeom>
          <a:noFill/>
          <a:ln w="8890">
            <a:solidFill>
              <a:srgbClr val="334488"/>
            </a:solidFill>
            <a:prstDash val="solid"/>
          </a:ln>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1F5E"/>
          </a:solidFill>
          <a:ln w="12700">
            <a:solidFill>
              <a:srgbClr val="1A1F5E"/>
            </a:solidFill>
            <a:prstDash val="solid"/>
          </a:ln>
        </p:spPr>
        <p:txBody>
          <a:bodyPr/>
          <a:lstStyle/>
          <a:p>
            <a:endParaRPr lang="en-IN"/>
          </a:p>
        </p:txBody>
      </p:sp>
      <p:sp>
        <p:nvSpPr>
          <p:cNvPr id="3" name="Shape 1"/>
          <p:cNvSpPr/>
          <p:nvPr/>
        </p:nvSpPr>
        <p:spPr>
          <a:xfrm>
            <a:off x="0" y="0"/>
            <a:ext cx="64008" cy="658368"/>
          </a:xfrm>
          <a:prstGeom prst="rect">
            <a:avLst/>
          </a:prstGeom>
          <a:solidFill>
            <a:srgbClr val="6B21C8"/>
          </a:solidFill>
          <a:ln w="12700">
            <a:solidFill>
              <a:srgbClr val="6B21C8"/>
            </a:solidFill>
            <a:prstDash val="solid"/>
          </a:ln>
        </p:spPr>
        <p:txBody>
          <a:bodyPr/>
          <a:lstStyle/>
          <a:p>
            <a:endParaRPr lang="en-IN"/>
          </a:p>
        </p:txBody>
      </p:sp>
      <p:sp>
        <p:nvSpPr>
          <p:cNvPr id="4" name="Text 2"/>
          <p:cNvSpPr/>
          <p:nvPr/>
        </p:nvSpPr>
        <p:spPr>
          <a:xfrm>
            <a:off x="164592" y="0"/>
            <a:ext cx="1371600" cy="65836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Fnomo</a:t>
            </a:r>
            <a:endParaRPr lang="en-US" sz="1300" dirty="0"/>
          </a:p>
        </p:txBody>
      </p:sp>
      <p:sp>
        <p:nvSpPr>
          <p:cNvPr id="5" name="Shape 3"/>
          <p:cNvSpPr/>
          <p:nvPr/>
        </p:nvSpPr>
        <p:spPr>
          <a:xfrm>
            <a:off x="1417320" y="219456"/>
            <a:ext cx="27432" cy="219456"/>
          </a:xfrm>
          <a:prstGeom prst="rect">
            <a:avLst/>
          </a:prstGeom>
          <a:solidFill>
            <a:srgbClr val="8888BB"/>
          </a:solidFill>
          <a:ln w="12700">
            <a:solidFill>
              <a:srgbClr val="8888BB"/>
            </a:solidFill>
            <a:prstDash val="solid"/>
          </a:ln>
        </p:spPr>
        <p:txBody>
          <a:bodyPr/>
          <a:lstStyle/>
          <a:p>
            <a:endParaRPr lang="en-IN"/>
          </a:p>
        </p:txBody>
      </p:sp>
      <p:sp>
        <p:nvSpPr>
          <p:cNvPr id="6" name="Text 4"/>
          <p:cNvSpPr/>
          <p:nvPr/>
        </p:nvSpPr>
        <p:spPr>
          <a:xfrm>
            <a:off x="1554480" y="0"/>
            <a:ext cx="5943600" cy="658368"/>
          </a:xfrm>
          <a:prstGeom prst="rect">
            <a:avLst/>
          </a:prstGeom>
          <a:noFill/>
          <a:ln/>
        </p:spPr>
        <p:txBody>
          <a:bodyPr wrap="square" lIns="0" tIns="0" rIns="0" bIns="0" rtlCol="0" anchor="ctr"/>
          <a:lstStyle/>
          <a:p>
            <a:pPr marL="0" indent="0">
              <a:buNone/>
            </a:pPr>
            <a:r>
              <a:rPr lang="en-US" sz="1100" b="1" kern="0" spc="200" dirty="0">
                <a:solidFill>
                  <a:srgbClr val="B0B8E8"/>
                </a:solidFill>
                <a:latin typeface="Calibri" pitchFamily="34" charset="0"/>
                <a:ea typeface="Calibri" pitchFamily="34" charset="-122"/>
                <a:cs typeface="Calibri" pitchFamily="34" charset="-120"/>
              </a:rPr>
              <a:t>THE MANDATE</a:t>
            </a:r>
            <a:endParaRPr lang="en-US" sz="1100" dirty="0"/>
          </a:p>
        </p:txBody>
      </p:sp>
      <p:sp>
        <p:nvSpPr>
          <p:cNvPr id="7" name="Text 5"/>
          <p:cNvSpPr/>
          <p:nvPr/>
        </p:nvSpPr>
        <p:spPr>
          <a:xfrm>
            <a:off x="7680960" y="0"/>
            <a:ext cx="1417320" cy="658368"/>
          </a:xfrm>
          <a:prstGeom prst="rect">
            <a:avLst/>
          </a:prstGeom>
          <a:noFill/>
          <a:ln/>
        </p:spPr>
        <p:txBody>
          <a:bodyPr wrap="square" lIns="0" tIns="0" rIns="0" bIns="0" rtlCol="0" anchor="ctr"/>
          <a:lstStyle/>
          <a:p>
            <a:pPr marL="0" indent="0" algn="r">
              <a:buNone/>
            </a:pPr>
            <a:r>
              <a:rPr lang="en-US" sz="900" dirty="0">
                <a:solidFill>
                  <a:srgbClr val="8888BB"/>
                </a:solidFill>
                <a:latin typeface="Calibri" pitchFamily="34" charset="0"/>
                <a:ea typeface="Calibri" pitchFamily="34" charset="-122"/>
                <a:cs typeface="Calibri" pitchFamily="34" charset="-120"/>
              </a:rPr>
              <a:t>Slide 2 of 11</a:t>
            </a:r>
            <a:endParaRPr lang="en-US" sz="900" dirty="0"/>
          </a:p>
        </p:txBody>
      </p:sp>
      <p:sp>
        <p:nvSpPr>
          <p:cNvPr id="8" name="Text 6"/>
          <p:cNvSpPr/>
          <p:nvPr/>
        </p:nvSpPr>
        <p:spPr>
          <a:xfrm>
            <a:off x="365760" y="804672"/>
            <a:ext cx="8412480" cy="384048"/>
          </a:xfrm>
          <a:prstGeom prst="rect">
            <a:avLst/>
          </a:prstGeom>
          <a:noFill/>
          <a:ln/>
        </p:spPr>
        <p:txBody>
          <a:bodyPr wrap="square" lIns="0" tIns="0" rIns="0" bIns="0" rtlCol="0" anchor="ctr"/>
          <a:lstStyle/>
          <a:p>
            <a:pPr marL="0" indent="0">
              <a:buNone/>
            </a:pPr>
            <a:r>
              <a:rPr lang="en-US" sz="2200" b="1" dirty="0">
                <a:solidFill>
                  <a:srgbClr val="1A1F5E"/>
                </a:solidFill>
                <a:latin typeface="Calibri" pitchFamily="34" charset="0"/>
                <a:ea typeface="Calibri" pitchFamily="34" charset="-122"/>
                <a:cs typeface="Calibri" pitchFamily="34" charset="-120"/>
              </a:rPr>
              <a:t>THE MANDATE:</a:t>
            </a:r>
            <a:endParaRPr lang="en-US" sz="2200" dirty="0"/>
          </a:p>
        </p:txBody>
      </p:sp>
      <p:sp>
        <p:nvSpPr>
          <p:cNvPr id="9" name="Text 7"/>
          <p:cNvSpPr/>
          <p:nvPr/>
        </p:nvSpPr>
        <p:spPr>
          <a:xfrm>
            <a:off x="365760" y="1170432"/>
            <a:ext cx="8412480" cy="384048"/>
          </a:xfrm>
          <a:prstGeom prst="rect">
            <a:avLst/>
          </a:prstGeom>
          <a:noFill/>
          <a:ln/>
        </p:spPr>
        <p:txBody>
          <a:bodyPr wrap="square" lIns="0" tIns="0" rIns="0" bIns="0" rtlCol="0" anchor="ctr"/>
          <a:lstStyle/>
          <a:p>
            <a:pPr marL="0" indent="0">
              <a:buNone/>
            </a:pPr>
            <a:r>
              <a:rPr lang="en-US" sz="2200" b="1" dirty="0">
                <a:solidFill>
                  <a:srgbClr val="6B21C8"/>
                </a:solidFill>
                <a:latin typeface="Calibri" pitchFamily="34" charset="0"/>
                <a:ea typeface="Calibri" pitchFamily="34" charset="-122"/>
                <a:cs typeface="Calibri" pitchFamily="34" charset="-120"/>
              </a:rPr>
              <a:t>ELIMINATING DECISION DECAY</a:t>
            </a:r>
            <a:endParaRPr lang="en-US" sz="2200" dirty="0"/>
          </a:p>
        </p:txBody>
      </p:sp>
      <p:sp>
        <p:nvSpPr>
          <p:cNvPr id="10" name="Text 8"/>
          <p:cNvSpPr/>
          <p:nvPr/>
        </p:nvSpPr>
        <p:spPr>
          <a:xfrm>
            <a:off x="365760" y="1627632"/>
            <a:ext cx="8412480" cy="640080"/>
          </a:xfrm>
          <a:prstGeom prst="rect">
            <a:avLst/>
          </a:prstGeom>
          <a:noFill/>
          <a:ln/>
        </p:spPr>
        <p:txBody>
          <a:bodyPr wrap="square" lIns="0" tIns="0" rIns="0" bIns="0" rtlCol="0" anchor="ctr"/>
          <a:lstStyle/>
          <a:p>
            <a:pPr marL="0" indent="0" algn="l">
              <a:lnSpc>
                <a:spcPct val="135000"/>
              </a:lnSpc>
              <a:buNone/>
            </a:pPr>
            <a:r>
              <a:rPr lang="en-US" sz="1150" dirty="0">
                <a:solidFill>
                  <a:srgbClr val="4B5280"/>
                </a:solidFill>
                <a:latin typeface="Calibri" pitchFamily="34" charset="0"/>
                <a:ea typeface="Calibri" pitchFamily="34" charset="-122"/>
                <a:cs typeface="Calibri" pitchFamily="34" charset="-120"/>
              </a:rPr>
              <a:t>Fnomo addresses a critical failure in financial decision-making. Decision Decay occurs when high-quality information degrades before reaching the decision maker, creating a gap between market reality and investor action.</a:t>
            </a:r>
            <a:endParaRPr lang="en-US" sz="1150" dirty="0"/>
          </a:p>
        </p:txBody>
      </p:sp>
      <p:sp>
        <p:nvSpPr>
          <p:cNvPr id="11" name="Shape 9"/>
          <p:cNvSpPr/>
          <p:nvPr/>
        </p:nvSpPr>
        <p:spPr>
          <a:xfrm>
            <a:off x="365760" y="2377440"/>
            <a:ext cx="4023360" cy="2468880"/>
          </a:xfrm>
          <a:prstGeom prst="rect">
            <a:avLst/>
          </a:prstGeom>
          <a:solidFill>
            <a:srgbClr val="FFFFFF"/>
          </a:solidFill>
          <a:ln w="15240">
            <a:solidFill>
              <a:srgbClr val="6B21C8"/>
            </a:solidFill>
            <a:prstDash val="solid"/>
          </a:ln>
          <a:effectLst>
            <a:outerShdw blurRad="101600" dist="38100" dir="8100000" algn="bl" rotWithShape="0">
              <a:srgbClr val="000000">
                <a:alpha val="12000"/>
              </a:srgbClr>
            </a:outerShdw>
          </a:effectLst>
        </p:spPr>
        <p:txBody>
          <a:bodyPr/>
          <a:lstStyle/>
          <a:p>
            <a:endParaRPr lang="en-IN"/>
          </a:p>
        </p:txBody>
      </p:sp>
      <p:sp>
        <p:nvSpPr>
          <p:cNvPr id="12" name="Shape 10"/>
          <p:cNvSpPr/>
          <p:nvPr/>
        </p:nvSpPr>
        <p:spPr>
          <a:xfrm>
            <a:off x="365760" y="2377440"/>
            <a:ext cx="50292" cy="2468880"/>
          </a:xfrm>
          <a:prstGeom prst="rect">
            <a:avLst/>
          </a:prstGeom>
          <a:solidFill>
            <a:srgbClr val="6B21C8"/>
          </a:solidFill>
          <a:ln w="12700">
            <a:solidFill>
              <a:srgbClr val="6B21C8"/>
            </a:solidFill>
            <a:prstDash val="solid"/>
          </a:ln>
        </p:spPr>
        <p:txBody>
          <a:bodyPr/>
          <a:lstStyle/>
          <a:p>
            <a:endParaRPr lang="en-IN"/>
          </a:p>
        </p:txBody>
      </p:sp>
      <p:sp>
        <p:nvSpPr>
          <p:cNvPr id="13" name="Text 11"/>
          <p:cNvSpPr/>
          <p:nvPr/>
        </p:nvSpPr>
        <p:spPr>
          <a:xfrm>
            <a:off x="512064" y="2450592"/>
            <a:ext cx="3749040" cy="329184"/>
          </a:xfrm>
          <a:prstGeom prst="rect">
            <a:avLst/>
          </a:prstGeom>
          <a:noFill/>
          <a:ln/>
        </p:spPr>
        <p:txBody>
          <a:bodyPr wrap="square" lIns="0" tIns="0" rIns="0" bIns="0" rtlCol="0" anchor="ctr"/>
          <a:lstStyle/>
          <a:p>
            <a:pPr marL="0" indent="0">
              <a:buNone/>
            </a:pPr>
            <a:r>
              <a:rPr lang="en-US" sz="1000" b="1" dirty="0">
                <a:solidFill>
                  <a:srgbClr val="1A1F5E"/>
                </a:solidFill>
                <a:latin typeface="Calibri" pitchFamily="34" charset="0"/>
                <a:ea typeface="Calibri" pitchFamily="34" charset="-122"/>
                <a:cs typeface="Calibri" pitchFamily="34" charset="-120"/>
              </a:rPr>
              <a:t>ELIMINATING DECISION DECAY</a:t>
            </a:r>
            <a:endParaRPr lang="en-US" sz="1000" dirty="0"/>
          </a:p>
        </p:txBody>
      </p:sp>
      <p:sp>
        <p:nvSpPr>
          <p:cNvPr id="14" name="Text 12"/>
          <p:cNvSpPr/>
          <p:nvPr/>
        </p:nvSpPr>
        <p:spPr>
          <a:xfrm>
            <a:off x="594360" y="2852928"/>
            <a:ext cx="3611880" cy="402336"/>
          </a:xfrm>
          <a:prstGeom prst="rect">
            <a:avLst/>
          </a:prstGeom>
          <a:noFill/>
          <a:ln/>
        </p:spPr>
        <p:txBody>
          <a:bodyPr wrap="square" lIns="0" tIns="0" rIns="0" bIns="0" rtlCol="0" anchor="ctr"/>
          <a:lstStyle/>
          <a:p>
            <a:pPr marL="152400" indent="-152400">
              <a:lnSpc>
                <a:spcPct val="120000"/>
              </a:lnSpc>
              <a:buSzPct val="100000"/>
              <a:buChar char="•"/>
            </a:pPr>
            <a:r>
              <a:rPr lang="en-US" sz="1000" dirty="0">
                <a:solidFill>
                  <a:srgbClr val="4B5280"/>
                </a:solidFill>
                <a:latin typeface="Calibri" pitchFamily="34" charset="0"/>
                <a:ea typeface="Calibri" pitchFamily="34" charset="-122"/>
                <a:cs typeface="Calibri" pitchFamily="34" charset="-120"/>
              </a:rPr>
              <a:t>Information overload creates analysis paralysis before major investment decisions</a:t>
            </a:r>
            <a:endParaRPr lang="en-US" sz="1000" dirty="0"/>
          </a:p>
        </p:txBody>
      </p:sp>
      <p:sp>
        <p:nvSpPr>
          <p:cNvPr id="15" name="Text 13"/>
          <p:cNvSpPr/>
          <p:nvPr/>
        </p:nvSpPr>
        <p:spPr>
          <a:xfrm>
            <a:off x="594360" y="3291840"/>
            <a:ext cx="3611880" cy="402336"/>
          </a:xfrm>
          <a:prstGeom prst="rect">
            <a:avLst/>
          </a:prstGeom>
          <a:noFill/>
          <a:ln/>
        </p:spPr>
        <p:txBody>
          <a:bodyPr wrap="square" lIns="0" tIns="0" rIns="0" bIns="0" rtlCol="0" anchor="ctr"/>
          <a:lstStyle/>
          <a:p>
            <a:pPr marL="152400" indent="-152400">
              <a:lnSpc>
                <a:spcPct val="120000"/>
              </a:lnSpc>
              <a:buSzPct val="100000"/>
              <a:buChar char="•"/>
            </a:pPr>
            <a:r>
              <a:rPr lang="en-US" sz="1000" dirty="0">
                <a:solidFill>
                  <a:srgbClr val="4B5280"/>
                </a:solidFill>
                <a:latin typeface="Calibri" pitchFamily="34" charset="0"/>
                <a:ea typeface="Calibri" pitchFamily="34" charset="-122"/>
                <a:cs typeface="Calibri" pitchFamily="34" charset="-120"/>
              </a:rPr>
              <a:t>Real-time signals are buried beneath noise from conflicting sources</a:t>
            </a:r>
            <a:endParaRPr lang="en-US" sz="1000" dirty="0"/>
          </a:p>
        </p:txBody>
      </p:sp>
      <p:sp>
        <p:nvSpPr>
          <p:cNvPr id="16" name="Text 14"/>
          <p:cNvSpPr/>
          <p:nvPr/>
        </p:nvSpPr>
        <p:spPr>
          <a:xfrm>
            <a:off x="594360" y="3730752"/>
            <a:ext cx="3611880" cy="402336"/>
          </a:xfrm>
          <a:prstGeom prst="rect">
            <a:avLst/>
          </a:prstGeom>
          <a:noFill/>
          <a:ln/>
        </p:spPr>
        <p:txBody>
          <a:bodyPr wrap="square" lIns="0" tIns="0" rIns="0" bIns="0" rtlCol="0" anchor="ctr"/>
          <a:lstStyle/>
          <a:p>
            <a:pPr marL="152400" indent="-152400">
              <a:lnSpc>
                <a:spcPct val="120000"/>
              </a:lnSpc>
              <a:buSzPct val="100000"/>
              <a:buChar char="•"/>
            </a:pPr>
            <a:r>
              <a:rPr lang="en-US" sz="1000" dirty="0">
                <a:solidFill>
                  <a:srgbClr val="4B5280"/>
                </a:solidFill>
                <a:latin typeface="Calibri" pitchFamily="34" charset="0"/>
                <a:ea typeface="Calibri" pitchFamily="34" charset="-122"/>
                <a:cs typeface="Calibri" pitchFamily="34" charset="-120"/>
              </a:rPr>
              <a:t>Human cognitive bias amplifies errors at critical decision moments</a:t>
            </a:r>
            <a:endParaRPr lang="en-US" sz="1000" dirty="0"/>
          </a:p>
        </p:txBody>
      </p:sp>
      <p:sp>
        <p:nvSpPr>
          <p:cNvPr id="17" name="Text 15"/>
          <p:cNvSpPr/>
          <p:nvPr/>
        </p:nvSpPr>
        <p:spPr>
          <a:xfrm>
            <a:off x="594360" y="4169664"/>
            <a:ext cx="3611880" cy="402336"/>
          </a:xfrm>
          <a:prstGeom prst="rect">
            <a:avLst/>
          </a:prstGeom>
          <a:noFill/>
          <a:ln/>
        </p:spPr>
        <p:txBody>
          <a:bodyPr wrap="square" lIns="0" tIns="0" rIns="0" bIns="0" rtlCol="0" anchor="ctr"/>
          <a:lstStyle/>
          <a:p>
            <a:pPr marL="152400" indent="-152400">
              <a:lnSpc>
                <a:spcPct val="120000"/>
              </a:lnSpc>
              <a:buSzPct val="100000"/>
              <a:buChar char="•"/>
            </a:pPr>
            <a:r>
              <a:rPr lang="en-US" sz="1000" dirty="0">
                <a:solidFill>
                  <a:srgbClr val="4B5280"/>
                </a:solidFill>
                <a:latin typeface="Calibri" pitchFamily="34" charset="0"/>
                <a:ea typeface="Calibri" pitchFamily="34" charset="-122"/>
                <a:cs typeface="Calibri" pitchFamily="34" charset="-120"/>
              </a:rPr>
              <a:t>Institutional-grade intelligence is inaccessible to most decision makers</a:t>
            </a:r>
            <a:endParaRPr lang="en-US" sz="1000" dirty="0"/>
          </a:p>
        </p:txBody>
      </p:sp>
      <p:sp>
        <p:nvSpPr>
          <p:cNvPr id="18" name="Shape 16"/>
          <p:cNvSpPr/>
          <p:nvPr/>
        </p:nvSpPr>
        <p:spPr>
          <a:xfrm>
            <a:off x="4663440" y="2377440"/>
            <a:ext cx="4023360" cy="2468880"/>
          </a:xfrm>
          <a:prstGeom prst="rect">
            <a:avLst/>
          </a:prstGeom>
          <a:solidFill>
            <a:srgbClr val="FFFFFF"/>
          </a:solidFill>
          <a:ln w="15240">
            <a:solidFill>
              <a:srgbClr val="2563EB"/>
            </a:solidFill>
            <a:prstDash val="solid"/>
          </a:ln>
          <a:effectLst>
            <a:outerShdw blurRad="101600" dist="38100" dir="8100000" algn="bl" rotWithShape="0">
              <a:srgbClr val="000000">
                <a:alpha val="12000"/>
              </a:srgbClr>
            </a:outerShdw>
          </a:effectLst>
        </p:spPr>
        <p:txBody>
          <a:bodyPr/>
          <a:lstStyle/>
          <a:p>
            <a:endParaRPr lang="en-IN"/>
          </a:p>
        </p:txBody>
      </p:sp>
      <p:sp>
        <p:nvSpPr>
          <p:cNvPr id="19" name="Shape 17"/>
          <p:cNvSpPr/>
          <p:nvPr/>
        </p:nvSpPr>
        <p:spPr>
          <a:xfrm>
            <a:off x="4663440" y="2377440"/>
            <a:ext cx="50292" cy="2468880"/>
          </a:xfrm>
          <a:prstGeom prst="rect">
            <a:avLst/>
          </a:prstGeom>
          <a:solidFill>
            <a:srgbClr val="2563EB"/>
          </a:solidFill>
          <a:ln w="12700">
            <a:solidFill>
              <a:srgbClr val="2563EB"/>
            </a:solidFill>
            <a:prstDash val="solid"/>
          </a:ln>
        </p:spPr>
        <p:txBody>
          <a:bodyPr/>
          <a:lstStyle/>
          <a:p>
            <a:endParaRPr lang="en-IN"/>
          </a:p>
        </p:txBody>
      </p:sp>
      <p:sp>
        <p:nvSpPr>
          <p:cNvPr id="20" name="Text 18"/>
          <p:cNvSpPr/>
          <p:nvPr/>
        </p:nvSpPr>
        <p:spPr>
          <a:xfrm>
            <a:off x="4818888" y="2450592"/>
            <a:ext cx="3749040" cy="329184"/>
          </a:xfrm>
          <a:prstGeom prst="rect">
            <a:avLst/>
          </a:prstGeom>
          <a:noFill/>
          <a:ln/>
        </p:spPr>
        <p:txBody>
          <a:bodyPr wrap="square" lIns="0" tIns="0" rIns="0" bIns="0" rtlCol="0" anchor="ctr"/>
          <a:lstStyle/>
          <a:p>
            <a:pPr marL="0" indent="0">
              <a:buNone/>
            </a:pPr>
            <a:r>
              <a:rPr lang="en-US" sz="1000" b="1" dirty="0">
                <a:solidFill>
                  <a:srgbClr val="1A1F5E"/>
                </a:solidFill>
                <a:latin typeface="Calibri" pitchFamily="34" charset="0"/>
                <a:ea typeface="Calibri" pitchFamily="34" charset="-122"/>
                <a:cs typeface="Calibri" pitchFamily="34" charset="-120"/>
              </a:rPr>
              <a:t>WHY 100% MISDIRECTION</a:t>
            </a:r>
            <a:endParaRPr lang="en-US" sz="1000" dirty="0"/>
          </a:p>
        </p:txBody>
      </p:sp>
      <p:sp>
        <p:nvSpPr>
          <p:cNvPr id="21" name="Text 19"/>
          <p:cNvSpPr/>
          <p:nvPr/>
        </p:nvSpPr>
        <p:spPr>
          <a:xfrm>
            <a:off x="4818888" y="2852928"/>
            <a:ext cx="3611880" cy="402336"/>
          </a:xfrm>
          <a:prstGeom prst="rect">
            <a:avLst/>
          </a:prstGeom>
          <a:noFill/>
          <a:ln/>
        </p:spPr>
        <p:txBody>
          <a:bodyPr wrap="square" lIns="0" tIns="0" rIns="0" bIns="0" rtlCol="0" anchor="ctr"/>
          <a:lstStyle/>
          <a:p>
            <a:pPr marL="152400" indent="-152400">
              <a:lnSpc>
                <a:spcPct val="120000"/>
              </a:lnSpc>
              <a:buSzPct val="100000"/>
              <a:buChar char="•"/>
            </a:pPr>
            <a:r>
              <a:rPr lang="en-US" sz="1000" dirty="0">
                <a:solidFill>
                  <a:srgbClr val="4B5280"/>
                </a:solidFill>
                <a:latin typeface="Calibri" pitchFamily="34" charset="0"/>
                <a:ea typeface="Calibri" pitchFamily="34" charset="-122"/>
                <a:cs typeface="Calibri" pitchFamily="34" charset="-120"/>
              </a:rPr>
              <a:t>Traditional analytics platforms deliver raw data, not decision-ready intelligence</a:t>
            </a:r>
            <a:endParaRPr lang="en-US" sz="1000" dirty="0"/>
          </a:p>
        </p:txBody>
      </p:sp>
      <p:sp>
        <p:nvSpPr>
          <p:cNvPr id="22" name="Text 20"/>
          <p:cNvSpPr/>
          <p:nvPr/>
        </p:nvSpPr>
        <p:spPr>
          <a:xfrm>
            <a:off x="4818888" y="3291840"/>
            <a:ext cx="3611880" cy="402336"/>
          </a:xfrm>
          <a:prstGeom prst="rect">
            <a:avLst/>
          </a:prstGeom>
          <a:noFill/>
          <a:ln/>
        </p:spPr>
        <p:txBody>
          <a:bodyPr wrap="square" lIns="0" tIns="0" rIns="0" bIns="0" rtlCol="0" anchor="ctr"/>
          <a:lstStyle/>
          <a:p>
            <a:pPr marL="152400" indent="-152400">
              <a:lnSpc>
                <a:spcPct val="120000"/>
              </a:lnSpc>
              <a:buSzPct val="100000"/>
              <a:buChar char="•"/>
            </a:pPr>
            <a:r>
              <a:rPr lang="en-US" sz="1000" dirty="0">
                <a:solidFill>
                  <a:srgbClr val="4B5280"/>
                </a:solidFill>
                <a:latin typeface="Calibri" pitchFamily="34" charset="0"/>
                <a:ea typeface="Calibri" pitchFamily="34" charset="-122"/>
                <a:cs typeface="Calibri" pitchFamily="34" charset="-120"/>
              </a:rPr>
              <a:t>Speed of delivery has improved while quality of insight has deteriorated</a:t>
            </a:r>
            <a:endParaRPr lang="en-US" sz="1000" dirty="0"/>
          </a:p>
        </p:txBody>
      </p:sp>
      <p:sp>
        <p:nvSpPr>
          <p:cNvPr id="23" name="Text 21"/>
          <p:cNvSpPr/>
          <p:nvPr/>
        </p:nvSpPr>
        <p:spPr>
          <a:xfrm>
            <a:off x="4818888" y="3730752"/>
            <a:ext cx="3611880" cy="402336"/>
          </a:xfrm>
          <a:prstGeom prst="rect">
            <a:avLst/>
          </a:prstGeom>
          <a:noFill/>
          <a:ln/>
        </p:spPr>
        <p:txBody>
          <a:bodyPr wrap="square" lIns="0" tIns="0" rIns="0" bIns="0" rtlCol="0" anchor="ctr"/>
          <a:lstStyle/>
          <a:p>
            <a:pPr marL="152400" indent="-152400">
              <a:lnSpc>
                <a:spcPct val="120000"/>
              </a:lnSpc>
              <a:buSzPct val="100000"/>
              <a:buChar char="•"/>
            </a:pPr>
            <a:r>
              <a:rPr lang="en-US" sz="1000" dirty="0">
                <a:solidFill>
                  <a:srgbClr val="4B5280"/>
                </a:solidFill>
                <a:latin typeface="Calibri" pitchFamily="34" charset="0"/>
                <a:ea typeface="Calibri" pitchFamily="34" charset="-122"/>
                <a:cs typeface="Calibri" pitchFamily="34" charset="-120"/>
              </a:rPr>
              <a:t>Institutional capital flows continue to outperform retail by leveraging proprietary systems</a:t>
            </a:r>
            <a:endParaRPr lang="en-US" sz="1000" dirty="0"/>
          </a:p>
        </p:txBody>
      </p:sp>
      <p:sp>
        <p:nvSpPr>
          <p:cNvPr id="24" name="Text 22"/>
          <p:cNvSpPr/>
          <p:nvPr/>
        </p:nvSpPr>
        <p:spPr>
          <a:xfrm>
            <a:off x="4818888" y="4169664"/>
            <a:ext cx="3611880" cy="402336"/>
          </a:xfrm>
          <a:prstGeom prst="rect">
            <a:avLst/>
          </a:prstGeom>
          <a:noFill/>
          <a:ln/>
        </p:spPr>
        <p:txBody>
          <a:bodyPr wrap="square" lIns="0" tIns="0" rIns="0" bIns="0" rtlCol="0" anchor="ctr"/>
          <a:lstStyle/>
          <a:p>
            <a:pPr marL="152400" indent="-152400">
              <a:lnSpc>
                <a:spcPct val="120000"/>
              </a:lnSpc>
              <a:buSzPct val="100000"/>
              <a:buChar char="•"/>
            </a:pPr>
            <a:r>
              <a:rPr lang="en-US" sz="1000" dirty="0">
                <a:solidFill>
                  <a:srgbClr val="4B5280"/>
                </a:solidFill>
                <a:latin typeface="Calibri" pitchFamily="34" charset="0"/>
                <a:ea typeface="Calibri" pitchFamily="34" charset="-122"/>
                <a:cs typeface="Calibri" pitchFamily="34" charset="-120"/>
              </a:rPr>
              <a:t>Fnomo closes this gap with structured, pre-decision validation architecture</a:t>
            </a:r>
            <a:endParaRPr lang="en-US" sz="1000" dirty="0"/>
          </a:p>
        </p:txBody>
      </p:sp>
      <p:sp>
        <p:nvSpPr>
          <p:cNvPr id="25" name="Shape 23"/>
          <p:cNvSpPr/>
          <p:nvPr/>
        </p:nvSpPr>
        <p:spPr>
          <a:xfrm>
            <a:off x="365760" y="4663440"/>
            <a:ext cx="8412480" cy="347472"/>
          </a:xfrm>
          <a:prstGeom prst="rect">
            <a:avLst/>
          </a:prstGeom>
          <a:solidFill>
            <a:srgbClr val="1A1F5E"/>
          </a:solidFill>
          <a:ln w="15240">
            <a:solidFill>
              <a:srgbClr val="1A1F5E"/>
            </a:solidFill>
            <a:prstDash val="solid"/>
          </a:ln>
          <a:effectLst>
            <a:outerShdw blurRad="101600" dist="38100" dir="8100000" algn="bl" rotWithShape="0">
              <a:srgbClr val="000000">
                <a:alpha val="12000"/>
              </a:srgbClr>
            </a:outerShdw>
          </a:effectLst>
        </p:spPr>
        <p:txBody>
          <a:bodyPr/>
          <a:lstStyle/>
          <a:p>
            <a:endParaRPr lang="en-IN"/>
          </a:p>
        </p:txBody>
      </p:sp>
      <p:sp>
        <p:nvSpPr>
          <p:cNvPr id="26" name="Shape 24"/>
          <p:cNvSpPr/>
          <p:nvPr/>
        </p:nvSpPr>
        <p:spPr>
          <a:xfrm>
            <a:off x="365760" y="4663440"/>
            <a:ext cx="50292" cy="347472"/>
          </a:xfrm>
          <a:prstGeom prst="rect">
            <a:avLst/>
          </a:prstGeom>
          <a:solidFill>
            <a:srgbClr val="1A1F5E"/>
          </a:solidFill>
          <a:ln w="12700">
            <a:solidFill>
              <a:srgbClr val="1A1F5E"/>
            </a:solidFill>
            <a:prstDash val="solid"/>
          </a:ln>
        </p:spPr>
        <p:txBody>
          <a:bodyPr/>
          <a:lstStyle/>
          <a:p>
            <a:endParaRPr lang="en-IN"/>
          </a:p>
        </p:txBody>
      </p:sp>
      <p:sp>
        <p:nvSpPr>
          <p:cNvPr id="27" name="Text 25"/>
          <p:cNvSpPr/>
          <p:nvPr/>
        </p:nvSpPr>
        <p:spPr>
          <a:xfrm>
            <a:off x="365760" y="4663440"/>
            <a:ext cx="8412480" cy="347472"/>
          </a:xfrm>
          <a:prstGeom prst="rect">
            <a:avLst/>
          </a:prstGeom>
          <a:noFill/>
          <a:ln/>
        </p:spPr>
        <p:txBody>
          <a:bodyPr wrap="square" lIns="0" tIns="0" rIns="0" bIns="0" rtlCol="0" anchor="ctr"/>
          <a:lstStyle/>
          <a:p>
            <a:pPr marL="0" indent="0" algn="ctr">
              <a:buNone/>
            </a:pPr>
            <a:r>
              <a:rPr lang="en-US" sz="900" b="1" kern="0" spc="100" dirty="0">
                <a:solidFill>
                  <a:srgbClr val="99AADD"/>
                </a:solidFill>
                <a:latin typeface="Calibri" pitchFamily="34" charset="0"/>
                <a:ea typeface="Calibri" pitchFamily="34" charset="-122"/>
                <a:cs typeface="Calibri" pitchFamily="34" charset="-120"/>
              </a:rPr>
              <a:t>DECISION INFRASTRUCTURE  →  CAPITAL MEMORY  →  DECISIVE ACTION  →  COMPOUNDED RETURNS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1F5E"/>
          </a:solidFill>
          <a:ln w="12700">
            <a:solidFill>
              <a:srgbClr val="1A1F5E"/>
            </a:solidFill>
            <a:prstDash val="solid"/>
          </a:ln>
        </p:spPr>
        <p:txBody>
          <a:bodyPr/>
          <a:lstStyle/>
          <a:p>
            <a:endParaRPr lang="en-IN"/>
          </a:p>
        </p:txBody>
      </p:sp>
      <p:sp>
        <p:nvSpPr>
          <p:cNvPr id="3" name="Shape 1"/>
          <p:cNvSpPr/>
          <p:nvPr/>
        </p:nvSpPr>
        <p:spPr>
          <a:xfrm>
            <a:off x="0" y="0"/>
            <a:ext cx="64008" cy="658368"/>
          </a:xfrm>
          <a:prstGeom prst="rect">
            <a:avLst/>
          </a:prstGeom>
          <a:solidFill>
            <a:srgbClr val="6B21C8"/>
          </a:solidFill>
          <a:ln w="12700">
            <a:solidFill>
              <a:srgbClr val="6B21C8"/>
            </a:solidFill>
            <a:prstDash val="solid"/>
          </a:ln>
        </p:spPr>
        <p:txBody>
          <a:bodyPr/>
          <a:lstStyle/>
          <a:p>
            <a:endParaRPr lang="en-IN"/>
          </a:p>
        </p:txBody>
      </p:sp>
      <p:sp>
        <p:nvSpPr>
          <p:cNvPr id="4" name="Text 2"/>
          <p:cNvSpPr/>
          <p:nvPr/>
        </p:nvSpPr>
        <p:spPr>
          <a:xfrm>
            <a:off x="164592" y="0"/>
            <a:ext cx="1371600" cy="65836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Fnomo</a:t>
            </a:r>
            <a:endParaRPr lang="en-US" sz="1300" dirty="0"/>
          </a:p>
        </p:txBody>
      </p:sp>
      <p:sp>
        <p:nvSpPr>
          <p:cNvPr id="5" name="Shape 3"/>
          <p:cNvSpPr/>
          <p:nvPr/>
        </p:nvSpPr>
        <p:spPr>
          <a:xfrm>
            <a:off x="1417320" y="219456"/>
            <a:ext cx="27432" cy="219456"/>
          </a:xfrm>
          <a:prstGeom prst="rect">
            <a:avLst/>
          </a:prstGeom>
          <a:solidFill>
            <a:srgbClr val="8888BB"/>
          </a:solidFill>
          <a:ln w="12700">
            <a:solidFill>
              <a:srgbClr val="8888BB"/>
            </a:solidFill>
            <a:prstDash val="solid"/>
          </a:ln>
        </p:spPr>
        <p:txBody>
          <a:bodyPr/>
          <a:lstStyle/>
          <a:p>
            <a:endParaRPr lang="en-IN"/>
          </a:p>
        </p:txBody>
      </p:sp>
      <p:sp>
        <p:nvSpPr>
          <p:cNvPr id="6" name="Text 4"/>
          <p:cNvSpPr/>
          <p:nvPr/>
        </p:nvSpPr>
        <p:spPr>
          <a:xfrm>
            <a:off x="1554480" y="0"/>
            <a:ext cx="5943600" cy="658368"/>
          </a:xfrm>
          <a:prstGeom prst="rect">
            <a:avLst/>
          </a:prstGeom>
          <a:noFill/>
          <a:ln/>
        </p:spPr>
        <p:txBody>
          <a:bodyPr wrap="square" lIns="0" tIns="0" rIns="0" bIns="0" rtlCol="0" anchor="ctr"/>
          <a:lstStyle/>
          <a:p>
            <a:pPr marL="0" indent="0">
              <a:buNone/>
            </a:pPr>
            <a:r>
              <a:rPr lang="en-US" sz="1100" b="1" kern="0" spc="200" dirty="0">
                <a:solidFill>
                  <a:srgbClr val="B0B8E8"/>
                </a:solidFill>
                <a:latin typeface="Calibri" pitchFamily="34" charset="0"/>
                <a:ea typeface="Calibri" pitchFamily="34" charset="-122"/>
                <a:cs typeface="Calibri" pitchFamily="34" charset="-120"/>
              </a:rPr>
              <a:t>THE PROFESSIONAL FRICTION</a:t>
            </a:r>
            <a:endParaRPr lang="en-US" sz="1100" dirty="0"/>
          </a:p>
        </p:txBody>
      </p:sp>
      <p:sp>
        <p:nvSpPr>
          <p:cNvPr id="7" name="Text 5"/>
          <p:cNvSpPr/>
          <p:nvPr/>
        </p:nvSpPr>
        <p:spPr>
          <a:xfrm>
            <a:off x="7680960" y="0"/>
            <a:ext cx="1417320" cy="658368"/>
          </a:xfrm>
          <a:prstGeom prst="rect">
            <a:avLst/>
          </a:prstGeom>
          <a:noFill/>
          <a:ln/>
        </p:spPr>
        <p:txBody>
          <a:bodyPr wrap="square" lIns="0" tIns="0" rIns="0" bIns="0" rtlCol="0" anchor="ctr"/>
          <a:lstStyle/>
          <a:p>
            <a:pPr marL="0" indent="0" algn="r">
              <a:buNone/>
            </a:pPr>
            <a:r>
              <a:rPr lang="en-US" sz="900" dirty="0">
                <a:solidFill>
                  <a:srgbClr val="8888BB"/>
                </a:solidFill>
                <a:latin typeface="Calibri" pitchFamily="34" charset="0"/>
                <a:ea typeface="Calibri" pitchFamily="34" charset="-122"/>
                <a:cs typeface="Calibri" pitchFamily="34" charset="-120"/>
              </a:rPr>
              <a:t>Slide 3 of 11</a:t>
            </a:r>
            <a:endParaRPr lang="en-US" sz="900" dirty="0"/>
          </a:p>
        </p:txBody>
      </p:sp>
      <p:sp>
        <p:nvSpPr>
          <p:cNvPr id="8" name="Text 6"/>
          <p:cNvSpPr/>
          <p:nvPr/>
        </p:nvSpPr>
        <p:spPr>
          <a:xfrm>
            <a:off x="365760" y="804672"/>
            <a:ext cx="8412480" cy="347472"/>
          </a:xfrm>
          <a:prstGeom prst="rect">
            <a:avLst/>
          </a:prstGeom>
          <a:noFill/>
          <a:ln/>
        </p:spPr>
        <p:txBody>
          <a:bodyPr wrap="square" lIns="0" tIns="0" rIns="0" bIns="0" rtlCol="0" anchor="ctr"/>
          <a:lstStyle/>
          <a:p>
            <a:pPr marL="0" indent="0">
              <a:buNone/>
            </a:pPr>
            <a:r>
              <a:rPr lang="en-US" sz="2200" b="1" dirty="0">
                <a:solidFill>
                  <a:srgbClr val="1A1F5E"/>
                </a:solidFill>
                <a:latin typeface="Calibri" pitchFamily="34" charset="0"/>
                <a:ea typeface="Calibri" pitchFamily="34" charset="-122"/>
                <a:cs typeface="Calibri" pitchFamily="34" charset="-120"/>
              </a:rPr>
              <a:t>THE PROFESSIONAL FRICTION:</a:t>
            </a:r>
            <a:endParaRPr lang="en-US" sz="2200" dirty="0"/>
          </a:p>
        </p:txBody>
      </p:sp>
      <p:sp>
        <p:nvSpPr>
          <p:cNvPr id="9" name="Text 7"/>
          <p:cNvSpPr/>
          <p:nvPr/>
        </p:nvSpPr>
        <p:spPr>
          <a:xfrm>
            <a:off x="365760" y="1133856"/>
            <a:ext cx="8412480" cy="347472"/>
          </a:xfrm>
          <a:prstGeom prst="rect">
            <a:avLst/>
          </a:prstGeom>
          <a:noFill/>
          <a:ln/>
        </p:spPr>
        <p:txBody>
          <a:bodyPr wrap="square" lIns="0" tIns="0" rIns="0" bIns="0" rtlCol="0" anchor="ctr"/>
          <a:lstStyle/>
          <a:p>
            <a:pPr marL="0" indent="0">
              <a:buNone/>
            </a:pPr>
            <a:r>
              <a:rPr lang="en-US" sz="2200" b="1" dirty="0">
                <a:solidFill>
                  <a:srgbClr val="EF4444"/>
                </a:solidFill>
                <a:latin typeface="Calibri" pitchFamily="34" charset="0"/>
                <a:ea typeface="Calibri" pitchFamily="34" charset="-122"/>
                <a:cs typeface="Calibri" pitchFamily="34" charset="-120"/>
              </a:rPr>
              <a:t>WHY CAPITAL IS AT RISK</a:t>
            </a:r>
            <a:endParaRPr lang="en-US" sz="2200" dirty="0"/>
          </a:p>
        </p:txBody>
      </p:sp>
      <p:sp>
        <p:nvSpPr>
          <p:cNvPr id="10" name="Text 8"/>
          <p:cNvSpPr/>
          <p:nvPr/>
        </p:nvSpPr>
        <p:spPr>
          <a:xfrm>
            <a:off x="365760" y="1572768"/>
            <a:ext cx="8412480" cy="566928"/>
          </a:xfrm>
          <a:prstGeom prst="rect">
            <a:avLst/>
          </a:prstGeom>
          <a:noFill/>
          <a:ln/>
        </p:spPr>
        <p:txBody>
          <a:bodyPr wrap="square" lIns="0" tIns="0" rIns="0" bIns="0" rtlCol="0" anchor="ctr"/>
          <a:lstStyle/>
          <a:p>
            <a:pPr marL="0" indent="0">
              <a:lnSpc>
                <a:spcPct val="135000"/>
              </a:lnSpc>
              <a:buNone/>
            </a:pPr>
            <a:r>
              <a:rPr lang="en-US" sz="1100" dirty="0">
                <a:solidFill>
                  <a:srgbClr val="4B5280"/>
                </a:solidFill>
                <a:latin typeface="Calibri" pitchFamily="34" charset="0"/>
                <a:ea typeface="Calibri" pitchFamily="34" charset="-122"/>
                <a:cs typeface="Calibri" pitchFamily="34" charset="-120"/>
              </a:rPr>
              <a:t>The most significant financial losses do not stem from bad investments — they stem from decisions made without complete intelligence. The friction between information and action is where capital goes to die.</a:t>
            </a:r>
            <a:endParaRPr lang="en-US" sz="1100" dirty="0"/>
          </a:p>
        </p:txBody>
      </p:sp>
      <p:sp>
        <p:nvSpPr>
          <p:cNvPr id="11" name="Shape 9"/>
          <p:cNvSpPr/>
          <p:nvPr/>
        </p:nvSpPr>
        <p:spPr>
          <a:xfrm>
            <a:off x="320040" y="2249424"/>
            <a:ext cx="2743200" cy="2606040"/>
          </a:xfrm>
          <a:prstGeom prst="rect">
            <a:avLst/>
          </a:prstGeom>
          <a:solidFill>
            <a:srgbClr val="FFFFFF"/>
          </a:solidFill>
          <a:ln w="15240">
            <a:solidFill>
              <a:srgbClr val="EF4444"/>
            </a:solidFill>
            <a:prstDash val="solid"/>
          </a:ln>
          <a:effectLst>
            <a:outerShdw blurRad="101600" dist="38100" dir="8100000" algn="bl" rotWithShape="0">
              <a:srgbClr val="000000">
                <a:alpha val="12000"/>
              </a:srgbClr>
            </a:outerShdw>
          </a:effectLst>
        </p:spPr>
        <p:txBody>
          <a:bodyPr/>
          <a:lstStyle/>
          <a:p>
            <a:endParaRPr lang="en-IN"/>
          </a:p>
        </p:txBody>
      </p:sp>
      <p:sp>
        <p:nvSpPr>
          <p:cNvPr id="12" name="Shape 10"/>
          <p:cNvSpPr/>
          <p:nvPr/>
        </p:nvSpPr>
        <p:spPr>
          <a:xfrm>
            <a:off x="320040" y="2249424"/>
            <a:ext cx="50292" cy="2606040"/>
          </a:xfrm>
          <a:prstGeom prst="rect">
            <a:avLst/>
          </a:prstGeom>
          <a:solidFill>
            <a:srgbClr val="EF4444"/>
          </a:solidFill>
          <a:ln w="12700">
            <a:solidFill>
              <a:srgbClr val="EF4444"/>
            </a:solidFill>
            <a:prstDash val="solid"/>
          </a:ln>
        </p:spPr>
        <p:txBody>
          <a:bodyPr/>
          <a:lstStyle/>
          <a:p>
            <a:endParaRPr lang="en-IN"/>
          </a:p>
        </p:txBody>
      </p:sp>
      <p:sp>
        <p:nvSpPr>
          <p:cNvPr id="13" name="Text 11"/>
          <p:cNvSpPr/>
          <p:nvPr/>
        </p:nvSpPr>
        <p:spPr>
          <a:xfrm>
            <a:off x="448056" y="2340864"/>
            <a:ext cx="2487168" cy="402336"/>
          </a:xfrm>
          <a:prstGeom prst="rect">
            <a:avLst/>
          </a:prstGeom>
          <a:noFill/>
          <a:ln/>
        </p:spPr>
        <p:txBody>
          <a:bodyPr wrap="square" lIns="0" tIns="0" rIns="0" bIns="0" rtlCol="0" anchor="ctr"/>
          <a:lstStyle/>
          <a:p>
            <a:pPr marL="0" indent="0">
              <a:buNone/>
            </a:pPr>
            <a:r>
              <a:rPr lang="en-US" sz="950" b="1" dirty="0">
                <a:solidFill>
                  <a:srgbClr val="EF4444"/>
                </a:solidFill>
                <a:latin typeface="Calibri" pitchFamily="34" charset="0"/>
                <a:ea typeface="Calibri" pitchFamily="34" charset="-122"/>
                <a:cs typeface="Calibri" pitchFamily="34" charset="-120"/>
              </a:rPr>
              <a:t>THE DECISION DEFICIT</a:t>
            </a:r>
            <a:endParaRPr lang="en-US" sz="950" dirty="0"/>
          </a:p>
        </p:txBody>
      </p:sp>
      <p:sp>
        <p:nvSpPr>
          <p:cNvPr id="14" name="Text 12"/>
          <p:cNvSpPr/>
          <p:nvPr/>
        </p:nvSpPr>
        <p:spPr>
          <a:xfrm>
            <a:off x="448056" y="2798064"/>
            <a:ext cx="2487168" cy="566928"/>
          </a:xfrm>
          <a:prstGeom prst="rect">
            <a:avLst/>
          </a:prstGeom>
          <a:noFill/>
          <a:ln/>
        </p:spPr>
        <p:txBody>
          <a:bodyPr wrap="square" lIns="0" tIns="0" rIns="0" bIns="0" rtlCol="0" anchor="ctr"/>
          <a:lstStyle/>
          <a:p>
            <a:pPr marL="127000" indent="-127000">
              <a:lnSpc>
                <a:spcPct val="118000"/>
              </a:lnSpc>
              <a:buSzPct val="100000"/>
              <a:buChar char="•"/>
            </a:pPr>
            <a:r>
              <a:rPr lang="en-US" sz="950" dirty="0">
                <a:solidFill>
                  <a:srgbClr val="4B5280"/>
                </a:solidFill>
                <a:latin typeface="Calibri" pitchFamily="34" charset="0"/>
                <a:ea typeface="Calibri" pitchFamily="34" charset="-122"/>
                <a:cs typeface="Calibri" pitchFamily="34" charset="-120"/>
              </a:rPr>
              <a:t>74% of retail investors report making decisions without sufficient validated data</a:t>
            </a:r>
            <a:endParaRPr lang="en-US" sz="950" dirty="0"/>
          </a:p>
        </p:txBody>
      </p:sp>
      <p:sp>
        <p:nvSpPr>
          <p:cNvPr id="15" name="Text 13"/>
          <p:cNvSpPr/>
          <p:nvPr/>
        </p:nvSpPr>
        <p:spPr>
          <a:xfrm>
            <a:off x="448056" y="3419856"/>
            <a:ext cx="2487168" cy="566928"/>
          </a:xfrm>
          <a:prstGeom prst="rect">
            <a:avLst/>
          </a:prstGeom>
          <a:noFill/>
          <a:ln/>
        </p:spPr>
        <p:txBody>
          <a:bodyPr wrap="square" lIns="0" tIns="0" rIns="0" bIns="0" rtlCol="0" anchor="ctr"/>
          <a:lstStyle/>
          <a:p>
            <a:pPr marL="127000" indent="-127000">
              <a:lnSpc>
                <a:spcPct val="118000"/>
              </a:lnSpc>
              <a:buSzPct val="100000"/>
              <a:buChar char="•"/>
            </a:pPr>
            <a:r>
              <a:rPr lang="en-US" sz="950" dirty="0">
                <a:solidFill>
                  <a:srgbClr val="4B5280"/>
                </a:solidFill>
                <a:latin typeface="Calibri" pitchFamily="34" charset="0"/>
                <a:ea typeface="Calibri" pitchFamily="34" charset="-122"/>
                <a:cs typeface="Calibri" pitchFamily="34" charset="-120"/>
              </a:rPr>
              <a:t>Analysis tools fragment the decision view, creating blind spots</a:t>
            </a:r>
            <a:endParaRPr lang="en-US" sz="950" dirty="0"/>
          </a:p>
        </p:txBody>
      </p:sp>
      <p:sp>
        <p:nvSpPr>
          <p:cNvPr id="16" name="Text 14"/>
          <p:cNvSpPr/>
          <p:nvPr/>
        </p:nvSpPr>
        <p:spPr>
          <a:xfrm>
            <a:off x="448056" y="4041648"/>
            <a:ext cx="2487168" cy="566928"/>
          </a:xfrm>
          <a:prstGeom prst="rect">
            <a:avLst/>
          </a:prstGeom>
          <a:noFill/>
          <a:ln/>
        </p:spPr>
        <p:txBody>
          <a:bodyPr wrap="square" lIns="0" tIns="0" rIns="0" bIns="0" rtlCol="0" anchor="ctr"/>
          <a:lstStyle/>
          <a:p>
            <a:pPr marL="127000" indent="-127000">
              <a:lnSpc>
                <a:spcPct val="118000"/>
              </a:lnSpc>
              <a:buSzPct val="100000"/>
              <a:buChar char="•"/>
            </a:pPr>
            <a:r>
              <a:rPr lang="en-US" sz="950" dirty="0">
                <a:solidFill>
                  <a:srgbClr val="4B5280"/>
                </a:solidFill>
                <a:latin typeface="Calibri" pitchFamily="34" charset="0"/>
                <a:ea typeface="Calibri" pitchFamily="34" charset="-122"/>
                <a:cs typeface="Calibri" pitchFamily="34" charset="-120"/>
              </a:rPr>
              <a:t>Real-time market signals arrive too late for decisive action</a:t>
            </a:r>
            <a:endParaRPr lang="en-US" sz="950" dirty="0"/>
          </a:p>
        </p:txBody>
      </p:sp>
      <p:sp>
        <p:nvSpPr>
          <p:cNvPr id="17" name="Shape 15"/>
          <p:cNvSpPr/>
          <p:nvPr/>
        </p:nvSpPr>
        <p:spPr>
          <a:xfrm>
            <a:off x="3264408" y="2249424"/>
            <a:ext cx="2743200" cy="2606040"/>
          </a:xfrm>
          <a:prstGeom prst="rect">
            <a:avLst/>
          </a:prstGeom>
          <a:solidFill>
            <a:srgbClr val="FFFFFF"/>
          </a:solidFill>
          <a:ln w="15240">
            <a:solidFill>
              <a:srgbClr val="F59E0B"/>
            </a:solidFill>
            <a:prstDash val="solid"/>
          </a:ln>
          <a:effectLst>
            <a:outerShdw blurRad="101600" dist="38100" dir="8100000" algn="bl" rotWithShape="0">
              <a:srgbClr val="000000">
                <a:alpha val="12000"/>
              </a:srgbClr>
            </a:outerShdw>
          </a:effectLst>
        </p:spPr>
        <p:txBody>
          <a:bodyPr/>
          <a:lstStyle/>
          <a:p>
            <a:endParaRPr lang="en-IN"/>
          </a:p>
        </p:txBody>
      </p:sp>
      <p:sp>
        <p:nvSpPr>
          <p:cNvPr id="18" name="Shape 16"/>
          <p:cNvSpPr/>
          <p:nvPr/>
        </p:nvSpPr>
        <p:spPr>
          <a:xfrm>
            <a:off x="3264408" y="2249424"/>
            <a:ext cx="50292" cy="2606040"/>
          </a:xfrm>
          <a:prstGeom prst="rect">
            <a:avLst/>
          </a:prstGeom>
          <a:solidFill>
            <a:srgbClr val="F59E0B"/>
          </a:solidFill>
          <a:ln w="12700">
            <a:solidFill>
              <a:srgbClr val="F59E0B"/>
            </a:solidFill>
            <a:prstDash val="solid"/>
          </a:ln>
        </p:spPr>
        <p:txBody>
          <a:bodyPr/>
          <a:lstStyle/>
          <a:p>
            <a:endParaRPr lang="en-IN"/>
          </a:p>
        </p:txBody>
      </p:sp>
      <p:sp>
        <p:nvSpPr>
          <p:cNvPr id="19" name="Text 17"/>
          <p:cNvSpPr/>
          <p:nvPr/>
        </p:nvSpPr>
        <p:spPr>
          <a:xfrm>
            <a:off x="3392424" y="2340864"/>
            <a:ext cx="2487168" cy="402336"/>
          </a:xfrm>
          <a:prstGeom prst="rect">
            <a:avLst/>
          </a:prstGeom>
          <a:noFill/>
          <a:ln/>
        </p:spPr>
        <p:txBody>
          <a:bodyPr wrap="square" lIns="0" tIns="0" rIns="0" bIns="0" rtlCol="0" anchor="ctr"/>
          <a:lstStyle/>
          <a:p>
            <a:pPr marL="0" indent="0">
              <a:buNone/>
            </a:pPr>
            <a:r>
              <a:rPr lang="en-US" sz="950" b="1" dirty="0">
                <a:solidFill>
                  <a:srgbClr val="F59E0B"/>
                </a:solidFill>
                <a:latin typeface="Calibri" pitchFamily="34" charset="0"/>
                <a:ea typeface="Calibri" pitchFamily="34" charset="-122"/>
                <a:cs typeface="Calibri" pitchFamily="34" charset="-120"/>
              </a:rPr>
              <a:t>THE INFORMATION ASYMMETRY</a:t>
            </a:r>
            <a:endParaRPr lang="en-US" sz="950" dirty="0"/>
          </a:p>
        </p:txBody>
      </p:sp>
      <p:sp>
        <p:nvSpPr>
          <p:cNvPr id="20" name="Text 18"/>
          <p:cNvSpPr/>
          <p:nvPr/>
        </p:nvSpPr>
        <p:spPr>
          <a:xfrm>
            <a:off x="3392424" y="2798064"/>
            <a:ext cx="2487168" cy="566928"/>
          </a:xfrm>
          <a:prstGeom prst="rect">
            <a:avLst/>
          </a:prstGeom>
          <a:noFill/>
          <a:ln/>
        </p:spPr>
        <p:txBody>
          <a:bodyPr wrap="square" lIns="0" tIns="0" rIns="0" bIns="0" rtlCol="0" anchor="ctr"/>
          <a:lstStyle/>
          <a:p>
            <a:pPr marL="127000" indent="-127000">
              <a:lnSpc>
                <a:spcPct val="118000"/>
              </a:lnSpc>
              <a:buSzPct val="100000"/>
              <a:buChar char="•"/>
            </a:pPr>
            <a:r>
              <a:rPr lang="en-US" sz="950" dirty="0">
                <a:solidFill>
                  <a:srgbClr val="4B5280"/>
                </a:solidFill>
                <a:latin typeface="Calibri" pitchFamily="34" charset="0"/>
                <a:ea typeface="Calibri" pitchFamily="34" charset="-122"/>
                <a:cs typeface="Calibri" pitchFamily="34" charset="-120"/>
              </a:rPr>
              <a:t>Institutional players leverage proprietary decision systems unavailable to retail</a:t>
            </a:r>
            <a:endParaRPr lang="en-US" sz="950" dirty="0"/>
          </a:p>
        </p:txBody>
      </p:sp>
      <p:sp>
        <p:nvSpPr>
          <p:cNvPr id="21" name="Text 19"/>
          <p:cNvSpPr/>
          <p:nvPr/>
        </p:nvSpPr>
        <p:spPr>
          <a:xfrm>
            <a:off x="3392424" y="3419856"/>
            <a:ext cx="2487168" cy="566928"/>
          </a:xfrm>
          <a:prstGeom prst="rect">
            <a:avLst/>
          </a:prstGeom>
          <a:noFill/>
          <a:ln/>
        </p:spPr>
        <p:txBody>
          <a:bodyPr wrap="square" lIns="0" tIns="0" rIns="0" bIns="0" rtlCol="0" anchor="ctr"/>
          <a:lstStyle/>
          <a:p>
            <a:pPr marL="127000" indent="-127000">
              <a:lnSpc>
                <a:spcPct val="118000"/>
              </a:lnSpc>
              <a:buSzPct val="100000"/>
              <a:buChar char="•"/>
            </a:pPr>
            <a:r>
              <a:rPr lang="en-US" sz="950" dirty="0">
                <a:solidFill>
                  <a:srgbClr val="4B5280"/>
                </a:solidFill>
                <a:latin typeface="Calibri" pitchFamily="34" charset="0"/>
                <a:ea typeface="Calibri" pitchFamily="34" charset="-122"/>
                <a:cs typeface="Calibri" pitchFamily="34" charset="-120"/>
              </a:rPr>
              <a:t>News cycles create artificial urgency that triggers poor timing decisions</a:t>
            </a:r>
            <a:endParaRPr lang="en-US" sz="950" dirty="0"/>
          </a:p>
        </p:txBody>
      </p:sp>
      <p:sp>
        <p:nvSpPr>
          <p:cNvPr id="22" name="Text 20"/>
          <p:cNvSpPr/>
          <p:nvPr/>
        </p:nvSpPr>
        <p:spPr>
          <a:xfrm>
            <a:off x="3392424" y="4041648"/>
            <a:ext cx="2487168" cy="566928"/>
          </a:xfrm>
          <a:prstGeom prst="rect">
            <a:avLst/>
          </a:prstGeom>
          <a:noFill/>
          <a:ln/>
        </p:spPr>
        <p:txBody>
          <a:bodyPr wrap="square" lIns="0" tIns="0" rIns="0" bIns="0" rtlCol="0" anchor="ctr"/>
          <a:lstStyle/>
          <a:p>
            <a:pPr marL="127000" indent="-127000">
              <a:lnSpc>
                <a:spcPct val="118000"/>
              </a:lnSpc>
              <a:buSzPct val="100000"/>
              <a:buChar char="•"/>
            </a:pPr>
            <a:r>
              <a:rPr lang="en-US" sz="950" dirty="0">
                <a:solidFill>
                  <a:srgbClr val="4B5280"/>
                </a:solidFill>
                <a:latin typeface="Calibri" pitchFamily="34" charset="0"/>
                <a:ea typeface="Calibri" pitchFamily="34" charset="-122"/>
                <a:cs typeface="Calibri" pitchFamily="34" charset="-120"/>
              </a:rPr>
              <a:t>Signal-to-noise ratio in financial data has deteriorated by 340% since 2018</a:t>
            </a:r>
            <a:endParaRPr lang="en-US" sz="950" dirty="0"/>
          </a:p>
        </p:txBody>
      </p:sp>
      <p:sp>
        <p:nvSpPr>
          <p:cNvPr id="23" name="Shape 21"/>
          <p:cNvSpPr/>
          <p:nvPr/>
        </p:nvSpPr>
        <p:spPr>
          <a:xfrm>
            <a:off x="6208776" y="2249424"/>
            <a:ext cx="2743200" cy="2606040"/>
          </a:xfrm>
          <a:prstGeom prst="rect">
            <a:avLst/>
          </a:prstGeom>
          <a:solidFill>
            <a:srgbClr val="FFFFFF"/>
          </a:solidFill>
          <a:ln w="15240">
            <a:solidFill>
              <a:srgbClr val="6B21C8"/>
            </a:solidFill>
            <a:prstDash val="solid"/>
          </a:ln>
          <a:effectLst>
            <a:outerShdw blurRad="101600" dist="38100" dir="8100000" algn="bl" rotWithShape="0">
              <a:srgbClr val="000000">
                <a:alpha val="12000"/>
              </a:srgbClr>
            </a:outerShdw>
          </a:effectLst>
        </p:spPr>
        <p:txBody>
          <a:bodyPr/>
          <a:lstStyle/>
          <a:p>
            <a:endParaRPr lang="en-IN"/>
          </a:p>
        </p:txBody>
      </p:sp>
      <p:sp>
        <p:nvSpPr>
          <p:cNvPr id="24" name="Shape 22"/>
          <p:cNvSpPr/>
          <p:nvPr/>
        </p:nvSpPr>
        <p:spPr>
          <a:xfrm>
            <a:off x="6208776" y="2249424"/>
            <a:ext cx="50292" cy="2606040"/>
          </a:xfrm>
          <a:prstGeom prst="rect">
            <a:avLst/>
          </a:prstGeom>
          <a:solidFill>
            <a:srgbClr val="6B21C8"/>
          </a:solidFill>
          <a:ln w="12700">
            <a:solidFill>
              <a:srgbClr val="6B21C8"/>
            </a:solidFill>
            <a:prstDash val="solid"/>
          </a:ln>
        </p:spPr>
        <p:txBody>
          <a:bodyPr/>
          <a:lstStyle/>
          <a:p>
            <a:endParaRPr lang="en-IN"/>
          </a:p>
        </p:txBody>
      </p:sp>
      <p:sp>
        <p:nvSpPr>
          <p:cNvPr id="25" name="Text 23"/>
          <p:cNvSpPr/>
          <p:nvPr/>
        </p:nvSpPr>
        <p:spPr>
          <a:xfrm>
            <a:off x="6336792" y="2340864"/>
            <a:ext cx="2487168" cy="402336"/>
          </a:xfrm>
          <a:prstGeom prst="rect">
            <a:avLst/>
          </a:prstGeom>
          <a:noFill/>
          <a:ln/>
        </p:spPr>
        <p:txBody>
          <a:bodyPr wrap="square" lIns="0" tIns="0" rIns="0" bIns="0" rtlCol="0" anchor="ctr"/>
          <a:lstStyle/>
          <a:p>
            <a:pPr marL="0" indent="0">
              <a:buNone/>
            </a:pPr>
            <a:r>
              <a:rPr lang="en-US" sz="950" b="1" dirty="0">
                <a:solidFill>
                  <a:srgbClr val="6B21C8"/>
                </a:solidFill>
                <a:latin typeface="Calibri" pitchFamily="34" charset="0"/>
                <a:ea typeface="Calibri" pitchFamily="34" charset="-122"/>
                <a:cs typeface="Calibri" pitchFamily="34" charset="-120"/>
              </a:rPr>
              <a:t>THE EXECUTION GAP</a:t>
            </a:r>
            <a:endParaRPr lang="en-US" sz="950" dirty="0"/>
          </a:p>
        </p:txBody>
      </p:sp>
      <p:sp>
        <p:nvSpPr>
          <p:cNvPr id="26" name="Text 24"/>
          <p:cNvSpPr/>
          <p:nvPr/>
        </p:nvSpPr>
        <p:spPr>
          <a:xfrm>
            <a:off x="6336792" y="2798064"/>
            <a:ext cx="2487168" cy="566928"/>
          </a:xfrm>
          <a:prstGeom prst="rect">
            <a:avLst/>
          </a:prstGeom>
          <a:noFill/>
          <a:ln/>
        </p:spPr>
        <p:txBody>
          <a:bodyPr wrap="square" lIns="0" tIns="0" rIns="0" bIns="0" rtlCol="0" anchor="ctr"/>
          <a:lstStyle/>
          <a:p>
            <a:pPr marL="127000" indent="-127000">
              <a:lnSpc>
                <a:spcPct val="118000"/>
              </a:lnSpc>
              <a:buSzPct val="100000"/>
              <a:buChar char="•"/>
            </a:pPr>
            <a:r>
              <a:rPr lang="en-US" sz="950" dirty="0">
                <a:solidFill>
                  <a:srgbClr val="4B5280"/>
                </a:solidFill>
                <a:latin typeface="Calibri" pitchFamily="34" charset="0"/>
                <a:ea typeface="Calibri" pitchFamily="34" charset="-122"/>
                <a:cs typeface="Calibri" pitchFamily="34" charset="-120"/>
              </a:rPr>
              <a:t>Cognitive overload at decision points causes systematic underperformance</a:t>
            </a:r>
            <a:endParaRPr lang="en-US" sz="950" dirty="0"/>
          </a:p>
        </p:txBody>
      </p:sp>
      <p:sp>
        <p:nvSpPr>
          <p:cNvPr id="27" name="Text 25"/>
          <p:cNvSpPr/>
          <p:nvPr/>
        </p:nvSpPr>
        <p:spPr>
          <a:xfrm>
            <a:off x="6336792" y="3419856"/>
            <a:ext cx="2487168" cy="566928"/>
          </a:xfrm>
          <a:prstGeom prst="rect">
            <a:avLst/>
          </a:prstGeom>
          <a:noFill/>
          <a:ln/>
        </p:spPr>
        <p:txBody>
          <a:bodyPr wrap="square" lIns="0" tIns="0" rIns="0" bIns="0" rtlCol="0" anchor="ctr"/>
          <a:lstStyle/>
          <a:p>
            <a:pPr marL="127000" indent="-127000">
              <a:lnSpc>
                <a:spcPct val="118000"/>
              </a:lnSpc>
              <a:buSzPct val="100000"/>
              <a:buChar char="•"/>
            </a:pPr>
            <a:r>
              <a:rPr lang="en-US" sz="950" dirty="0">
                <a:solidFill>
                  <a:srgbClr val="4B5280"/>
                </a:solidFill>
                <a:latin typeface="Calibri" pitchFamily="34" charset="0"/>
                <a:ea typeface="Calibri" pitchFamily="34" charset="-122"/>
                <a:cs typeface="Calibri" pitchFamily="34" charset="-120"/>
              </a:rPr>
              <a:t>Portfolio rebalancing delayed an average of 11 days beyond optimal windows</a:t>
            </a:r>
            <a:endParaRPr lang="en-US" sz="950" dirty="0"/>
          </a:p>
        </p:txBody>
      </p:sp>
      <p:sp>
        <p:nvSpPr>
          <p:cNvPr id="28" name="Text 26"/>
          <p:cNvSpPr/>
          <p:nvPr/>
        </p:nvSpPr>
        <p:spPr>
          <a:xfrm>
            <a:off x="6336792" y="4041648"/>
            <a:ext cx="2487168" cy="566928"/>
          </a:xfrm>
          <a:prstGeom prst="rect">
            <a:avLst/>
          </a:prstGeom>
          <a:noFill/>
          <a:ln/>
        </p:spPr>
        <p:txBody>
          <a:bodyPr wrap="square" lIns="0" tIns="0" rIns="0" bIns="0" rtlCol="0" anchor="ctr"/>
          <a:lstStyle/>
          <a:p>
            <a:pPr marL="127000" indent="-127000">
              <a:lnSpc>
                <a:spcPct val="118000"/>
              </a:lnSpc>
              <a:buSzPct val="100000"/>
              <a:buChar char="•"/>
            </a:pPr>
            <a:r>
              <a:rPr lang="en-US" sz="950" dirty="0">
                <a:solidFill>
                  <a:srgbClr val="4B5280"/>
                </a:solidFill>
                <a:latin typeface="Calibri" pitchFamily="34" charset="0"/>
                <a:ea typeface="Calibri" pitchFamily="34" charset="-122"/>
                <a:cs typeface="Calibri" pitchFamily="34" charset="-120"/>
              </a:rPr>
              <a:t>Risk-adjusted returns diminish when decision speed is misaligned with data quality</a:t>
            </a:r>
            <a:endParaRPr lang="en-US" sz="950" dirty="0"/>
          </a:p>
        </p:txBody>
      </p:sp>
      <p:sp>
        <p:nvSpPr>
          <p:cNvPr id="29" name="Shape 27"/>
          <p:cNvSpPr/>
          <p:nvPr/>
        </p:nvSpPr>
        <p:spPr>
          <a:xfrm>
            <a:off x="320040" y="4937760"/>
            <a:ext cx="8503920" cy="0"/>
          </a:xfrm>
          <a:prstGeom prst="rect">
            <a:avLst/>
          </a:prstGeom>
          <a:solidFill>
            <a:srgbClr val="0F1235"/>
          </a:solidFill>
          <a:ln w="15240">
            <a:solidFill>
              <a:srgbClr val="0F1235"/>
            </a:solidFill>
            <a:prstDash val="solid"/>
          </a:ln>
          <a:effectLst>
            <a:outerShdw blurRad="101600" dist="38100" dir="8100000" algn="bl" rotWithShape="0">
              <a:srgbClr val="000000">
                <a:alpha val="12000"/>
              </a:srgbClr>
            </a:outerShdw>
          </a:effectLst>
        </p:spPr>
        <p:txBody>
          <a:bodyPr/>
          <a:lstStyle/>
          <a:p>
            <a:endParaRPr lang="en-IN"/>
          </a:p>
        </p:txBody>
      </p:sp>
      <p:sp>
        <p:nvSpPr>
          <p:cNvPr id="30" name="Shape 28"/>
          <p:cNvSpPr/>
          <p:nvPr/>
        </p:nvSpPr>
        <p:spPr>
          <a:xfrm>
            <a:off x="320040" y="4937760"/>
            <a:ext cx="50292" cy="0"/>
          </a:xfrm>
          <a:prstGeom prst="rect">
            <a:avLst/>
          </a:prstGeom>
          <a:solidFill>
            <a:srgbClr val="0F1235"/>
          </a:solidFill>
          <a:ln w="12700">
            <a:solidFill>
              <a:srgbClr val="0F1235"/>
            </a:solidFill>
            <a:prstDash val="solid"/>
          </a:ln>
        </p:spPr>
        <p:txBody>
          <a:bodyPr/>
          <a:lstStyle/>
          <a:p>
            <a:endParaRPr lang="en-IN"/>
          </a:p>
        </p:txBody>
      </p:sp>
      <p:sp>
        <p:nvSpPr>
          <p:cNvPr id="31" name="Shape 29"/>
          <p:cNvSpPr/>
          <p:nvPr/>
        </p:nvSpPr>
        <p:spPr>
          <a:xfrm>
            <a:off x="320040" y="4919472"/>
            <a:ext cx="8503920" cy="54864"/>
          </a:xfrm>
          <a:prstGeom prst="rect">
            <a:avLst/>
          </a:prstGeom>
          <a:solidFill>
            <a:srgbClr val="6B21C8"/>
          </a:solidFill>
          <a:ln w="12700">
            <a:solidFill>
              <a:srgbClr val="6B21C8"/>
            </a:solidFill>
            <a:prstDash val="solid"/>
          </a:ln>
        </p:spPr>
        <p:txBody>
          <a:bodyPr/>
          <a:lstStyle/>
          <a:p>
            <a:endParaRPr lang="en-IN"/>
          </a:p>
        </p:txBody>
      </p:sp>
      <p:sp>
        <p:nvSpPr>
          <p:cNvPr id="32" name="Text 30"/>
          <p:cNvSpPr/>
          <p:nvPr/>
        </p:nvSpPr>
        <p:spPr>
          <a:xfrm>
            <a:off x="320040" y="4974336"/>
            <a:ext cx="8503920" cy="146304"/>
          </a:xfrm>
          <a:prstGeom prst="rect">
            <a:avLst/>
          </a:prstGeom>
          <a:noFill/>
          <a:ln/>
        </p:spPr>
        <p:txBody>
          <a:bodyPr wrap="square" lIns="0" tIns="0" rIns="0" bIns="0" rtlCol="0" anchor="ctr"/>
          <a:lstStyle/>
          <a:p>
            <a:pPr marL="0" indent="0" algn="ctr">
              <a:buNone/>
            </a:pPr>
            <a:r>
              <a:rPr lang="en-US" sz="1000" b="1" i="1" dirty="0">
                <a:solidFill>
                  <a:srgbClr val="AA88FF"/>
                </a:solidFill>
                <a:latin typeface="Calibri" pitchFamily="34" charset="0"/>
                <a:ea typeface="Calibri" pitchFamily="34" charset="-122"/>
                <a:cs typeface="Calibri" pitchFamily="34" charset="-120"/>
              </a:rPr>
              <a:t>Fnomo provides the Institutional Firewall — a pre-decision intelligence layer that eliminates the gap between information and action.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1F5E"/>
          </a:solidFill>
          <a:ln w="12700">
            <a:solidFill>
              <a:srgbClr val="1A1F5E"/>
            </a:solidFill>
            <a:prstDash val="solid"/>
          </a:ln>
        </p:spPr>
        <p:txBody>
          <a:bodyPr/>
          <a:lstStyle/>
          <a:p>
            <a:endParaRPr lang="en-IN"/>
          </a:p>
        </p:txBody>
      </p:sp>
      <p:sp>
        <p:nvSpPr>
          <p:cNvPr id="3" name="Shape 1"/>
          <p:cNvSpPr/>
          <p:nvPr/>
        </p:nvSpPr>
        <p:spPr>
          <a:xfrm>
            <a:off x="0" y="0"/>
            <a:ext cx="64008" cy="658368"/>
          </a:xfrm>
          <a:prstGeom prst="rect">
            <a:avLst/>
          </a:prstGeom>
          <a:solidFill>
            <a:srgbClr val="6B21C8"/>
          </a:solidFill>
          <a:ln w="12700">
            <a:solidFill>
              <a:srgbClr val="6B21C8"/>
            </a:solidFill>
            <a:prstDash val="solid"/>
          </a:ln>
        </p:spPr>
        <p:txBody>
          <a:bodyPr/>
          <a:lstStyle/>
          <a:p>
            <a:endParaRPr lang="en-IN"/>
          </a:p>
        </p:txBody>
      </p:sp>
      <p:sp>
        <p:nvSpPr>
          <p:cNvPr id="4" name="Text 2"/>
          <p:cNvSpPr/>
          <p:nvPr/>
        </p:nvSpPr>
        <p:spPr>
          <a:xfrm>
            <a:off x="164592" y="0"/>
            <a:ext cx="1371600" cy="65836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Fnomo</a:t>
            </a:r>
            <a:endParaRPr lang="en-US" sz="1300" dirty="0"/>
          </a:p>
        </p:txBody>
      </p:sp>
      <p:sp>
        <p:nvSpPr>
          <p:cNvPr id="5" name="Shape 3"/>
          <p:cNvSpPr/>
          <p:nvPr/>
        </p:nvSpPr>
        <p:spPr>
          <a:xfrm>
            <a:off x="1417320" y="219456"/>
            <a:ext cx="27432" cy="219456"/>
          </a:xfrm>
          <a:prstGeom prst="rect">
            <a:avLst/>
          </a:prstGeom>
          <a:solidFill>
            <a:srgbClr val="8888BB"/>
          </a:solidFill>
          <a:ln w="12700">
            <a:solidFill>
              <a:srgbClr val="8888BB"/>
            </a:solidFill>
            <a:prstDash val="solid"/>
          </a:ln>
        </p:spPr>
        <p:txBody>
          <a:bodyPr/>
          <a:lstStyle/>
          <a:p>
            <a:endParaRPr lang="en-IN"/>
          </a:p>
        </p:txBody>
      </p:sp>
      <p:sp>
        <p:nvSpPr>
          <p:cNvPr id="6" name="Text 4"/>
          <p:cNvSpPr/>
          <p:nvPr/>
        </p:nvSpPr>
        <p:spPr>
          <a:xfrm>
            <a:off x="1554480" y="0"/>
            <a:ext cx="5943600" cy="658368"/>
          </a:xfrm>
          <a:prstGeom prst="rect">
            <a:avLst/>
          </a:prstGeom>
          <a:noFill/>
          <a:ln/>
        </p:spPr>
        <p:txBody>
          <a:bodyPr wrap="square" lIns="0" tIns="0" rIns="0" bIns="0" rtlCol="0" anchor="ctr"/>
          <a:lstStyle/>
          <a:p>
            <a:pPr marL="0" indent="0">
              <a:buNone/>
            </a:pPr>
            <a:r>
              <a:rPr lang="en-US" sz="1100" b="1" kern="0" spc="200" dirty="0">
                <a:solidFill>
                  <a:srgbClr val="B0B8E8"/>
                </a:solidFill>
                <a:latin typeface="Calibri" pitchFamily="34" charset="0"/>
                <a:ea typeface="Calibri" pitchFamily="34" charset="-122"/>
                <a:cs typeface="Calibri" pitchFamily="34" charset="-120"/>
              </a:rPr>
              <a:t>THE SOLUTION</a:t>
            </a:r>
            <a:endParaRPr lang="en-US" sz="1100" dirty="0"/>
          </a:p>
        </p:txBody>
      </p:sp>
      <p:sp>
        <p:nvSpPr>
          <p:cNvPr id="7" name="Text 5"/>
          <p:cNvSpPr/>
          <p:nvPr/>
        </p:nvSpPr>
        <p:spPr>
          <a:xfrm>
            <a:off x="7680960" y="0"/>
            <a:ext cx="1417320" cy="658368"/>
          </a:xfrm>
          <a:prstGeom prst="rect">
            <a:avLst/>
          </a:prstGeom>
          <a:noFill/>
          <a:ln/>
        </p:spPr>
        <p:txBody>
          <a:bodyPr wrap="square" lIns="0" tIns="0" rIns="0" bIns="0" rtlCol="0" anchor="ctr"/>
          <a:lstStyle/>
          <a:p>
            <a:pPr marL="0" indent="0" algn="r">
              <a:buNone/>
            </a:pPr>
            <a:r>
              <a:rPr lang="en-US" sz="900" dirty="0">
                <a:solidFill>
                  <a:srgbClr val="8888BB"/>
                </a:solidFill>
                <a:latin typeface="Calibri" pitchFamily="34" charset="0"/>
                <a:ea typeface="Calibri" pitchFamily="34" charset="-122"/>
                <a:cs typeface="Calibri" pitchFamily="34" charset="-120"/>
              </a:rPr>
              <a:t>Slide 4 of 11</a:t>
            </a:r>
            <a:endParaRPr lang="en-US" sz="900" dirty="0"/>
          </a:p>
        </p:txBody>
      </p:sp>
      <p:sp>
        <p:nvSpPr>
          <p:cNvPr id="8" name="Text 6"/>
          <p:cNvSpPr/>
          <p:nvPr/>
        </p:nvSpPr>
        <p:spPr>
          <a:xfrm>
            <a:off x="365760" y="804672"/>
            <a:ext cx="4754880" cy="347472"/>
          </a:xfrm>
          <a:prstGeom prst="rect">
            <a:avLst/>
          </a:prstGeom>
          <a:noFill/>
          <a:ln/>
        </p:spPr>
        <p:txBody>
          <a:bodyPr wrap="square" lIns="0" tIns="0" rIns="0" bIns="0" rtlCol="0" anchor="ctr"/>
          <a:lstStyle/>
          <a:p>
            <a:pPr marL="0" indent="0">
              <a:buNone/>
            </a:pPr>
            <a:r>
              <a:rPr lang="en-US" sz="2200" b="1" dirty="0">
                <a:solidFill>
                  <a:srgbClr val="1A1F5E"/>
                </a:solidFill>
                <a:latin typeface="Calibri" pitchFamily="34" charset="0"/>
                <a:ea typeface="Calibri" pitchFamily="34" charset="-122"/>
                <a:cs typeface="Calibri" pitchFamily="34" charset="-120"/>
              </a:rPr>
              <a:t>SOLUTION:</a:t>
            </a:r>
            <a:endParaRPr lang="en-US" sz="2200" dirty="0"/>
          </a:p>
        </p:txBody>
      </p:sp>
      <p:sp>
        <p:nvSpPr>
          <p:cNvPr id="9" name="Text 7"/>
          <p:cNvSpPr/>
          <p:nvPr/>
        </p:nvSpPr>
        <p:spPr>
          <a:xfrm>
            <a:off x="365760" y="1133856"/>
            <a:ext cx="4754880" cy="347472"/>
          </a:xfrm>
          <a:prstGeom prst="rect">
            <a:avLst/>
          </a:prstGeom>
          <a:noFill/>
          <a:ln/>
        </p:spPr>
        <p:txBody>
          <a:bodyPr wrap="square" lIns="0" tIns="0" rIns="0" bIns="0" rtlCol="0" anchor="ctr"/>
          <a:lstStyle/>
          <a:p>
            <a:pPr marL="0" indent="0">
              <a:buNone/>
            </a:pPr>
            <a:r>
              <a:rPr lang="en-US" sz="2200" b="1" dirty="0">
                <a:solidFill>
                  <a:srgbClr val="6B21C8"/>
                </a:solidFill>
                <a:latin typeface="Calibri" pitchFamily="34" charset="0"/>
                <a:ea typeface="Calibri" pitchFamily="34" charset="-122"/>
                <a:cs typeface="Calibri" pitchFamily="34" charset="-120"/>
              </a:rPr>
              <a:t>THE INSTITUTIONAL FIREWALL</a:t>
            </a:r>
            <a:endParaRPr lang="en-US" sz="2200" dirty="0"/>
          </a:p>
        </p:txBody>
      </p:sp>
      <p:sp>
        <p:nvSpPr>
          <p:cNvPr id="10" name="Text 8"/>
          <p:cNvSpPr/>
          <p:nvPr/>
        </p:nvSpPr>
        <p:spPr>
          <a:xfrm>
            <a:off x="365760" y="1572768"/>
            <a:ext cx="4572000" cy="822960"/>
          </a:xfrm>
          <a:prstGeom prst="rect">
            <a:avLst/>
          </a:prstGeom>
          <a:noFill/>
          <a:ln/>
        </p:spPr>
        <p:txBody>
          <a:bodyPr wrap="square" lIns="0" tIns="0" rIns="0" bIns="0" rtlCol="0" anchor="ctr"/>
          <a:lstStyle/>
          <a:p>
            <a:pPr marL="0" indent="0">
              <a:lnSpc>
                <a:spcPct val="135000"/>
              </a:lnSpc>
              <a:buNone/>
            </a:pPr>
            <a:r>
              <a:rPr lang="en-US" sz="1050" dirty="0">
                <a:solidFill>
                  <a:srgbClr val="4B5280"/>
                </a:solidFill>
                <a:latin typeface="Calibri" pitchFamily="34" charset="0"/>
                <a:ea typeface="Calibri" pitchFamily="34" charset="-122"/>
                <a:cs typeface="Calibri" pitchFamily="34" charset="-120"/>
              </a:rPr>
              <a:t>The Institutional Firewall is a pre-decision intelligence framework that processes, validates, and structures market intelligence before it reaches the decision maker — eliminating noise and amplifying signal at the critical moment of action.</a:t>
            </a:r>
            <a:endParaRPr lang="en-US" sz="1050" dirty="0"/>
          </a:p>
        </p:txBody>
      </p:sp>
      <p:sp>
        <p:nvSpPr>
          <p:cNvPr id="11" name="Shape 9"/>
          <p:cNvSpPr/>
          <p:nvPr/>
        </p:nvSpPr>
        <p:spPr>
          <a:xfrm>
            <a:off x="365760" y="2514600"/>
            <a:ext cx="4389120" cy="2468880"/>
          </a:xfrm>
          <a:prstGeom prst="rect">
            <a:avLst/>
          </a:prstGeom>
          <a:solidFill>
            <a:srgbClr val="FFFFFF"/>
          </a:solidFill>
          <a:ln w="15240">
            <a:solidFill>
              <a:srgbClr val="6B21C8"/>
            </a:solidFill>
            <a:prstDash val="solid"/>
          </a:ln>
          <a:effectLst>
            <a:outerShdw blurRad="101600" dist="38100" dir="8100000" algn="bl" rotWithShape="0">
              <a:srgbClr val="000000">
                <a:alpha val="12000"/>
              </a:srgbClr>
            </a:outerShdw>
          </a:effectLst>
        </p:spPr>
        <p:txBody>
          <a:bodyPr/>
          <a:lstStyle/>
          <a:p>
            <a:endParaRPr lang="en-IN"/>
          </a:p>
        </p:txBody>
      </p:sp>
      <p:sp>
        <p:nvSpPr>
          <p:cNvPr id="12" name="Shape 10"/>
          <p:cNvSpPr/>
          <p:nvPr/>
        </p:nvSpPr>
        <p:spPr>
          <a:xfrm>
            <a:off x="365760" y="2514600"/>
            <a:ext cx="50292" cy="2468880"/>
          </a:xfrm>
          <a:prstGeom prst="rect">
            <a:avLst/>
          </a:prstGeom>
          <a:solidFill>
            <a:srgbClr val="6B21C8"/>
          </a:solidFill>
          <a:ln w="12700">
            <a:solidFill>
              <a:srgbClr val="6B21C8"/>
            </a:solidFill>
            <a:prstDash val="solid"/>
          </a:ln>
        </p:spPr>
        <p:txBody>
          <a:bodyPr/>
          <a:lstStyle/>
          <a:p>
            <a:endParaRPr lang="en-IN"/>
          </a:p>
        </p:txBody>
      </p:sp>
      <p:sp>
        <p:nvSpPr>
          <p:cNvPr id="13" name="Text 11"/>
          <p:cNvSpPr/>
          <p:nvPr/>
        </p:nvSpPr>
        <p:spPr>
          <a:xfrm>
            <a:off x="512064" y="2596896"/>
            <a:ext cx="4114800" cy="292608"/>
          </a:xfrm>
          <a:prstGeom prst="rect">
            <a:avLst/>
          </a:prstGeom>
          <a:noFill/>
          <a:ln/>
        </p:spPr>
        <p:txBody>
          <a:bodyPr wrap="square" lIns="0" tIns="0" rIns="0" bIns="0" rtlCol="0" anchor="ctr"/>
          <a:lstStyle/>
          <a:p>
            <a:pPr marL="0" indent="0">
              <a:buNone/>
            </a:pPr>
            <a:r>
              <a:rPr lang="en-US" sz="1000" b="1" dirty="0">
                <a:solidFill>
                  <a:srgbClr val="1A1F5E"/>
                </a:solidFill>
                <a:latin typeface="Calibri" pitchFamily="34" charset="0"/>
                <a:ea typeface="Calibri" pitchFamily="34" charset="-122"/>
                <a:cs typeface="Calibri" pitchFamily="34" charset="-120"/>
              </a:rPr>
              <a:t>IRS CATEGORIES</a:t>
            </a:r>
            <a:endParaRPr lang="en-US" sz="1000" dirty="0"/>
          </a:p>
        </p:txBody>
      </p:sp>
      <p:sp>
        <p:nvSpPr>
          <p:cNvPr id="14" name="Text 12"/>
          <p:cNvSpPr/>
          <p:nvPr/>
        </p:nvSpPr>
        <p:spPr>
          <a:xfrm>
            <a:off x="530352" y="2962656"/>
            <a:ext cx="4114800" cy="420624"/>
          </a:xfrm>
          <a:prstGeom prst="rect">
            <a:avLst/>
          </a:prstGeom>
          <a:noFill/>
          <a:ln/>
        </p:spPr>
        <p:txBody>
          <a:bodyPr wrap="square" lIns="0" tIns="0" rIns="0" bIns="0" rtlCol="0" anchor="ctr"/>
          <a:lstStyle/>
          <a:p>
            <a:pPr marL="127000" indent="-127000">
              <a:lnSpc>
                <a:spcPct val="118000"/>
              </a:lnSpc>
              <a:buSzPct val="100000"/>
              <a:buChar char="•"/>
            </a:pPr>
            <a:r>
              <a:rPr lang="en-US" sz="950" dirty="0">
                <a:solidFill>
                  <a:srgbClr val="4B5280"/>
                </a:solidFill>
                <a:latin typeface="Calibri" pitchFamily="34" charset="0"/>
                <a:ea typeface="Calibri" pitchFamily="34" charset="-122"/>
                <a:cs typeface="Calibri" pitchFamily="34" charset="-120"/>
              </a:rPr>
              <a:t>Sentiment validation across institutional and retail data streams</a:t>
            </a:r>
            <a:endParaRPr lang="en-US" sz="950" dirty="0"/>
          </a:p>
        </p:txBody>
      </p:sp>
      <p:sp>
        <p:nvSpPr>
          <p:cNvPr id="15" name="Text 13"/>
          <p:cNvSpPr/>
          <p:nvPr/>
        </p:nvSpPr>
        <p:spPr>
          <a:xfrm>
            <a:off x="530352" y="3438144"/>
            <a:ext cx="4114800" cy="420624"/>
          </a:xfrm>
          <a:prstGeom prst="rect">
            <a:avLst/>
          </a:prstGeom>
          <a:noFill/>
          <a:ln/>
        </p:spPr>
        <p:txBody>
          <a:bodyPr wrap="square" lIns="0" tIns="0" rIns="0" bIns="0" rtlCol="0" anchor="ctr"/>
          <a:lstStyle/>
          <a:p>
            <a:pPr marL="127000" indent="-127000">
              <a:lnSpc>
                <a:spcPct val="118000"/>
              </a:lnSpc>
              <a:buSzPct val="100000"/>
              <a:buChar char="•"/>
            </a:pPr>
            <a:r>
              <a:rPr lang="en-US" sz="950" dirty="0">
                <a:solidFill>
                  <a:srgbClr val="4B5280"/>
                </a:solidFill>
                <a:latin typeface="Calibri" pitchFamily="34" charset="0"/>
                <a:ea typeface="Calibri" pitchFamily="34" charset="-122"/>
                <a:cs typeface="Calibri" pitchFamily="34" charset="-120"/>
              </a:rPr>
              <a:t>Real-time anomaly detection in pricing, volume, and volatility</a:t>
            </a:r>
            <a:endParaRPr lang="en-US" sz="950" dirty="0"/>
          </a:p>
        </p:txBody>
      </p:sp>
      <p:sp>
        <p:nvSpPr>
          <p:cNvPr id="16" name="Text 14"/>
          <p:cNvSpPr/>
          <p:nvPr/>
        </p:nvSpPr>
        <p:spPr>
          <a:xfrm>
            <a:off x="530352" y="3913632"/>
            <a:ext cx="4114800" cy="420624"/>
          </a:xfrm>
          <a:prstGeom prst="rect">
            <a:avLst/>
          </a:prstGeom>
          <a:noFill/>
          <a:ln/>
        </p:spPr>
        <p:txBody>
          <a:bodyPr wrap="square" lIns="0" tIns="0" rIns="0" bIns="0" rtlCol="0" anchor="ctr"/>
          <a:lstStyle/>
          <a:p>
            <a:pPr marL="127000" indent="-127000">
              <a:lnSpc>
                <a:spcPct val="118000"/>
              </a:lnSpc>
              <a:buSzPct val="100000"/>
              <a:buChar char="•"/>
            </a:pPr>
            <a:r>
              <a:rPr lang="en-US" sz="950" dirty="0">
                <a:solidFill>
                  <a:srgbClr val="4B5280"/>
                </a:solidFill>
                <a:latin typeface="Calibri" pitchFamily="34" charset="0"/>
                <a:ea typeface="Calibri" pitchFamily="34" charset="-122"/>
                <a:cs typeface="Calibri" pitchFamily="34" charset="-120"/>
              </a:rPr>
              <a:t>Pattern recognition engines trained on 15 years of market cycle data</a:t>
            </a:r>
            <a:endParaRPr lang="en-US" sz="950" dirty="0"/>
          </a:p>
        </p:txBody>
      </p:sp>
      <p:sp>
        <p:nvSpPr>
          <p:cNvPr id="17" name="Text 15"/>
          <p:cNvSpPr/>
          <p:nvPr/>
        </p:nvSpPr>
        <p:spPr>
          <a:xfrm>
            <a:off x="530352" y="4389120"/>
            <a:ext cx="4114800" cy="420624"/>
          </a:xfrm>
          <a:prstGeom prst="rect">
            <a:avLst/>
          </a:prstGeom>
          <a:noFill/>
          <a:ln/>
        </p:spPr>
        <p:txBody>
          <a:bodyPr wrap="square" lIns="0" tIns="0" rIns="0" bIns="0" rtlCol="0" anchor="ctr"/>
          <a:lstStyle/>
          <a:p>
            <a:pPr marL="127000" indent="-127000">
              <a:lnSpc>
                <a:spcPct val="118000"/>
              </a:lnSpc>
              <a:buSzPct val="100000"/>
              <a:buChar char="•"/>
            </a:pPr>
            <a:r>
              <a:rPr lang="en-US" sz="950" dirty="0">
                <a:solidFill>
                  <a:srgbClr val="4B5280"/>
                </a:solidFill>
                <a:latin typeface="Calibri" pitchFamily="34" charset="0"/>
                <a:ea typeface="Calibri" pitchFamily="34" charset="-122"/>
                <a:cs typeface="Calibri" pitchFamily="34" charset="-120"/>
              </a:rPr>
              <a:t>Risk scoring for entry, exit, and portfolio rebalancing decisions</a:t>
            </a:r>
            <a:endParaRPr lang="en-US" sz="950" dirty="0"/>
          </a:p>
        </p:txBody>
      </p:sp>
      <p:sp>
        <p:nvSpPr>
          <p:cNvPr id="18" name="Shape 16"/>
          <p:cNvSpPr/>
          <p:nvPr/>
        </p:nvSpPr>
        <p:spPr>
          <a:xfrm>
            <a:off x="4892040" y="804672"/>
            <a:ext cx="3886200" cy="4178808"/>
          </a:xfrm>
          <a:prstGeom prst="rect">
            <a:avLst/>
          </a:prstGeom>
          <a:solidFill>
            <a:srgbClr val="1A1F5E"/>
          </a:solidFill>
          <a:ln w="15240">
            <a:solidFill>
              <a:srgbClr val="1A1F5E"/>
            </a:solidFill>
            <a:prstDash val="solid"/>
          </a:ln>
          <a:effectLst>
            <a:outerShdw blurRad="101600" dist="38100" dir="8100000" algn="bl" rotWithShape="0">
              <a:srgbClr val="000000">
                <a:alpha val="12000"/>
              </a:srgbClr>
            </a:outerShdw>
          </a:effectLst>
        </p:spPr>
        <p:txBody>
          <a:bodyPr/>
          <a:lstStyle/>
          <a:p>
            <a:endParaRPr lang="en-IN"/>
          </a:p>
        </p:txBody>
      </p:sp>
      <p:sp>
        <p:nvSpPr>
          <p:cNvPr id="19" name="Shape 17"/>
          <p:cNvSpPr/>
          <p:nvPr/>
        </p:nvSpPr>
        <p:spPr>
          <a:xfrm>
            <a:off x="4892040" y="804672"/>
            <a:ext cx="50292" cy="4178808"/>
          </a:xfrm>
          <a:prstGeom prst="rect">
            <a:avLst/>
          </a:prstGeom>
          <a:solidFill>
            <a:srgbClr val="1A1F5E"/>
          </a:solidFill>
          <a:ln w="12700">
            <a:solidFill>
              <a:srgbClr val="1A1F5E"/>
            </a:solidFill>
            <a:prstDash val="solid"/>
          </a:ln>
        </p:spPr>
        <p:txBody>
          <a:bodyPr/>
          <a:lstStyle/>
          <a:p>
            <a:endParaRPr lang="en-IN"/>
          </a:p>
        </p:txBody>
      </p:sp>
      <p:sp>
        <p:nvSpPr>
          <p:cNvPr id="20" name="Text 18"/>
          <p:cNvSpPr/>
          <p:nvPr/>
        </p:nvSpPr>
        <p:spPr>
          <a:xfrm>
            <a:off x="5029200" y="896112"/>
            <a:ext cx="3611880"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THE INSTITUTIONAL FIREWALL</a:t>
            </a:r>
            <a:endParaRPr lang="en-US" sz="950" dirty="0"/>
          </a:p>
        </p:txBody>
      </p:sp>
      <p:sp>
        <p:nvSpPr>
          <p:cNvPr id="21" name="Shape 19"/>
          <p:cNvSpPr/>
          <p:nvPr/>
        </p:nvSpPr>
        <p:spPr>
          <a:xfrm>
            <a:off x="6080760" y="1371600"/>
            <a:ext cx="1920240" cy="1920240"/>
          </a:xfrm>
          <a:prstGeom prst="ellipse">
            <a:avLst/>
          </a:prstGeom>
          <a:solidFill>
            <a:srgbClr val="6B21C8">
              <a:alpha val="30000"/>
            </a:srgbClr>
          </a:solidFill>
          <a:ln w="25400">
            <a:solidFill>
              <a:srgbClr val="9333EA"/>
            </a:solidFill>
            <a:prstDash val="solid"/>
          </a:ln>
        </p:spPr>
        <p:txBody>
          <a:bodyPr/>
          <a:lstStyle/>
          <a:p>
            <a:endParaRPr lang="en-IN"/>
          </a:p>
        </p:txBody>
      </p:sp>
      <p:sp>
        <p:nvSpPr>
          <p:cNvPr id="22" name="Shape 20"/>
          <p:cNvSpPr/>
          <p:nvPr/>
        </p:nvSpPr>
        <p:spPr>
          <a:xfrm>
            <a:off x="6400800" y="1682496"/>
            <a:ext cx="1280160" cy="1280160"/>
          </a:xfrm>
          <a:prstGeom prst="ellipse">
            <a:avLst/>
          </a:prstGeom>
          <a:solidFill>
            <a:srgbClr val="6B21C8">
              <a:alpha val="50000"/>
            </a:srgbClr>
          </a:solidFill>
          <a:ln w="19050">
            <a:solidFill>
              <a:srgbClr val="AA55FF"/>
            </a:solidFill>
            <a:prstDash val="solid"/>
          </a:ln>
        </p:spPr>
        <p:txBody>
          <a:bodyPr/>
          <a:lstStyle/>
          <a:p>
            <a:endParaRPr lang="en-IN"/>
          </a:p>
        </p:txBody>
      </p:sp>
      <p:sp>
        <p:nvSpPr>
          <p:cNvPr id="23" name="Text 21"/>
          <p:cNvSpPr/>
          <p:nvPr/>
        </p:nvSpPr>
        <p:spPr>
          <a:xfrm>
            <a:off x="6080760" y="1371600"/>
            <a:ext cx="1920240" cy="1920240"/>
          </a:xfrm>
          <a:prstGeom prst="rect">
            <a:avLst/>
          </a:prstGeom>
          <a:noFill/>
          <a:ln/>
        </p:spPr>
        <p:txBody>
          <a:bodyPr wrap="square" lIns="0" tIns="0" rIns="0" bIns="0" rtlCol="0" anchor="ctr"/>
          <a:lstStyle/>
          <a:p>
            <a:pPr marL="0" indent="0" algn="ctr">
              <a:lnSpc>
                <a:spcPct val="140000"/>
              </a:lnSpc>
              <a:buNone/>
            </a:pPr>
            <a:r>
              <a:rPr lang="en-US" sz="900" b="1" dirty="0">
                <a:solidFill>
                  <a:srgbClr val="FFFFFF"/>
                </a:solidFill>
                <a:latin typeface="Calibri" pitchFamily="34" charset="0"/>
                <a:ea typeface="Calibri" pitchFamily="34" charset="-122"/>
                <a:cs typeface="Calibri" pitchFamily="34" charset="-120"/>
              </a:rPr>
              <a:t>FIREWALL</a:t>
            </a:r>
            <a:endParaRPr lang="en-US" sz="900" dirty="0"/>
          </a:p>
          <a:p>
            <a:pPr marL="0" indent="0" algn="ctr">
              <a:lnSpc>
                <a:spcPct val="140000"/>
              </a:lnSpc>
              <a:buNone/>
            </a:pPr>
            <a:r>
              <a:rPr lang="en-US" sz="900" b="1" dirty="0">
                <a:solidFill>
                  <a:srgbClr val="FFFFFF"/>
                </a:solidFill>
                <a:latin typeface="Calibri" pitchFamily="34" charset="0"/>
                <a:ea typeface="Calibri" pitchFamily="34" charset="-122"/>
                <a:cs typeface="Calibri" pitchFamily="34" charset="-120"/>
              </a:rPr>
              <a:t>CORE</a:t>
            </a:r>
            <a:endParaRPr lang="en-US" sz="900" dirty="0"/>
          </a:p>
        </p:txBody>
      </p:sp>
      <p:sp>
        <p:nvSpPr>
          <p:cNvPr id="24" name="Shape 22"/>
          <p:cNvSpPr/>
          <p:nvPr/>
        </p:nvSpPr>
        <p:spPr>
          <a:xfrm>
            <a:off x="5029200" y="1325880"/>
            <a:ext cx="1280160" cy="411480"/>
          </a:xfrm>
          <a:prstGeom prst="roundRect">
            <a:avLst>
              <a:gd name="adj" fmla="val 11111"/>
            </a:avLst>
          </a:prstGeom>
          <a:solidFill>
            <a:srgbClr val="1E2860"/>
          </a:solidFill>
          <a:ln w="12700">
            <a:solidFill>
              <a:srgbClr val="2563EB"/>
            </a:solidFill>
            <a:prstDash val="solid"/>
          </a:ln>
        </p:spPr>
        <p:txBody>
          <a:bodyPr/>
          <a:lstStyle/>
          <a:p>
            <a:endParaRPr lang="en-IN"/>
          </a:p>
        </p:txBody>
      </p:sp>
      <p:sp>
        <p:nvSpPr>
          <p:cNvPr id="25" name="Text 23"/>
          <p:cNvSpPr/>
          <p:nvPr/>
        </p:nvSpPr>
        <p:spPr>
          <a:xfrm>
            <a:off x="5029200" y="1325880"/>
            <a:ext cx="1280160" cy="411480"/>
          </a:xfrm>
          <a:prstGeom prst="rect">
            <a:avLst/>
          </a:prstGeom>
          <a:noFill/>
          <a:ln/>
        </p:spPr>
        <p:txBody>
          <a:bodyPr wrap="square" lIns="0" tIns="0" rIns="0" bIns="0" rtlCol="0" anchor="ctr"/>
          <a:lstStyle/>
          <a:p>
            <a:pPr marL="0" indent="0" algn="ctr">
              <a:buNone/>
            </a:pPr>
            <a:r>
              <a:rPr lang="en-US" sz="750" b="1" dirty="0">
                <a:solidFill>
                  <a:srgbClr val="88BBFF"/>
                </a:solidFill>
                <a:latin typeface="Calibri" pitchFamily="34" charset="0"/>
                <a:ea typeface="Calibri" pitchFamily="34" charset="-122"/>
                <a:cs typeface="Calibri" pitchFamily="34" charset="-120"/>
              </a:rPr>
              <a:t>MARKET DATA</a:t>
            </a:r>
            <a:endParaRPr lang="en-US" sz="750" dirty="0"/>
          </a:p>
        </p:txBody>
      </p:sp>
      <p:sp>
        <p:nvSpPr>
          <p:cNvPr id="26" name="Shape 24"/>
          <p:cNvSpPr/>
          <p:nvPr/>
        </p:nvSpPr>
        <p:spPr>
          <a:xfrm>
            <a:off x="7406640" y="1325880"/>
            <a:ext cx="1280160" cy="411480"/>
          </a:xfrm>
          <a:prstGeom prst="roundRect">
            <a:avLst>
              <a:gd name="adj" fmla="val 11111"/>
            </a:avLst>
          </a:prstGeom>
          <a:solidFill>
            <a:srgbClr val="1E2860"/>
          </a:solidFill>
          <a:ln w="12700">
            <a:solidFill>
              <a:srgbClr val="2563EB"/>
            </a:solidFill>
            <a:prstDash val="solid"/>
          </a:ln>
        </p:spPr>
        <p:txBody>
          <a:bodyPr/>
          <a:lstStyle/>
          <a:p>
            <a:endParaRPr lang="en-IN"/>
          </a:p>
        </p:txBody>
      </p:sp>
      <p:sp>
        <p:nvSpPr>
          <p:cNvPr id="27" name="Text 25"/>
          <p:cNvSpPr/>
          <p:nvPr/>
        </p:nvSpPr>
        <p:spPr>
          <a:xfrm>
            <a:off x="7406640" y="1325880"/>
            <a:ext cx="1280160" cy="411480"/>
          </a:xfrm>
          <a:prstGeom prst="rect">
            <a:avLst/>
          </a:prstGeom>
          <a:noFill/>
          <a:ln/>
        </p:spPr>
        <p:txBody>
          <a:bodyPr wrap="square" lIns="0" tIns="0" rIns="0" bIns="0" rtlCol="0" anchor="ctr"/>
          <a:lstStyle/>
          <a:p>
            <a:pPr marL="0" indent="0" algn="ctr">
              <a:buNone/>
            </a:pPr>
            <a:r>
              <a:rPr lang="en-US" sz="750" b="1" dirty="0">
                <a:solidFill>
                  <a:srgbClr val="88BBFF"/>
                </a:solidFill>
                <a:latin typeface="Calibri" pitchFamily="34" charset="0"/>
                <a:ea typeface="Calibri" pitchFamily="34" charset="-122"/>
                <a:cs typeface="Calibri" pitchFamily="34" charset="-120"/>
              </a:rPr>
              <a:t>SENTIMENT</a:t>
            </a:r>
            <a:endParaRPr lang="en-US" sz="750" dirty="0"/>
          </a:p>
        </p:txBody>
      </p:sp>
      <p:sp>
        <p:nvSpPr>
          <p:cNvPr id="28" name="Shape 26"/>
          <p:cNvSpPr/>
          <p:nvPr/>
        </p:nvSpPr>
        <p:spPr>
          <a:xfrm>
            <a:off x="5029200" y="3063240"/>
            <a:ext cx="1280160" cy="411480"/>
          </a:xfrm>
          <a:prstGeom prst="roundRect">
            <a:avLst>
              <a:gd name="adj" fmla="val 11111"/>
            </a:avLst>
          </a:prstGeom>
          <a:solidFill>
            <a:srgbClr val="1E2860"/>
          </a:solidFill>
          <a:ln w="12700">
            <a:solidFill>
              <a:srgbClr val="2563EB"/>
            </a:solidFill>
            <a:prstDash val="solid"/>
          </a:ln>
        </p:spPr>
        <p:txBody>
          <a:bodyPr/>
          <a:lstStyle/>
          <a:p>
            <a:endParaRPr lang="en-IN"/>
          </a:p>
        </p:txBody>
      </p:sp>
      <p:sp>
        <p:nvSpPr>
          <p:cNvPr id="29" name="Text 27"/>
          <p:cNvSpPr/>
          <p:nvPr/>
        </p:nvSpPr>
        <p:spPr>
          <a:xfrm>
            <a:off x="5029200" y="3063240"/>
            <a:ext cx="1280160" cy="411480"/>
          </a:xfrm>
          <a:prstGeom prst="rect">
            <a:avLst/>
          </a:prstGeom>
          <a:noFill/>
          <a:ln/>
        </p:spPr>
        <p:txBody>
          <a:bodyPr wrap="square" lIns="0" tIns="0" rIns="0" bIns="0" rtlCol="0" anchor="ctr"/>
          <a:lstStyle/>
          <a:p>
            <a:pPr marL="0" indent="0" algn="ctr">
              <a:buNone/>
            </a:pPr>
            <a:r>
              <a:rPr lang="en-US" sz="750" b="1" dirty="0">
                <a:solidFill>
                  <a:srgbClr val="88BBFF"/>
                </a:solidFill>
                <a:latin typeface="Calibri" pitchFamily="34" charset="0"/>
                <a:ea typeface="Calibri" pitchFamily="34" charset="-122"/>
                <a:cs typeface="Calibri" pitchFamily="34" charset="-120"/>
              </a:rPr>
              <a:t>RISK MODEL</a:t>
            </a:r>
            <a:endParaRPr lang="en-US" sz="750" dirty="0"/>
          </a:p>
        </p:txBody>
      </p:sp>
      <p:sp>
        <p:nvSpPr>
          <p:cNvPr id="30" name="Shape 28"/>
          <p:cNvSpPr/>
          <p:nvPr/>
        </p:nvSpPr>
        <p:spPr>
          <a:xfrm>
            <a:off x="7406640" y="3063240"/>
            <a:ext cx="1280160" cy="411480"/>
          </a:xfrm>
          <a:prstGeom prst="roundRect">
            <a:avLst>
              <a:gd name="adj" fmla="val 11111"/>
            </a:avLst>
          </a:prstGeom>
          <a:solidFill>
            <a:srgbClr val="1E2860"/>
          </a:solidFill>
          <a:ln w="12700">
            <a:solidFill>
              <a:srgbClr val="2563EB"/>
            </a:solidFill>
            <a:prstDash val="solid"/>
          </a:ln>
        </p:spPr>
        <p:txBody>
          <a:bodyPr/>
          <a:lstStyle/>
          <a:p>
            <a:endParaRPr lang="en-IN"/>
          </a:p>
        </p:txBody>
      </p:sp>
      <p:sp>
        <p:nvSpPr>
          <p:cNvPr id="31" name="Text 29"/>
          <p:cNvSpPr/>
          <p:nvPr/>
        </p:nvSpPr>
        <p:spPr>
          <a:xfrm>
            <a:off x="7406640" y="3063240"/>
            <a:ext cx="1280160" cy="411480"/>
          </a:xfrm>
          <a:prstGeom prst="rect">
            <a:avLst/>
          </a:prstGeom>
          <a:noFill/>
          <a:ln/>
        </p:spPr>
        <p:txBody>
          <a:bodyPr wrap="square" lIns="0" tIns="0" rIns="0" bIns="0" rtlCol="0" anchor="ctr"/>
          <a:lstStyle/>
          <a:p>
            <a:pPr marL="0" indent="0" algn="ctr">
              <a:buNone/>
            </a:pPr>
            <a:r>
              <a:rPr lang="en-US" sz="750" b="1" dirty="0">
                <a:solidFill>
                  <a:srgbClr val="88BBFF"/>
                </a:solidFill>
                <a:latin typeface="Calibri" pitchFamily="34" charset="0"/>
                <a:ea typeface="Calibri" pitchFamily="34" charset="-122"/>
                <a:cs typeface="Calibri" pitchFamily="34" charset="-120"/>
              </a:rPr>
              <a:t>PATTERNS</a:t>
            </a:r>
            <a:endParaRPr lang="en-US" sz="750" dirty="0"/>
          </a:p>
        </p:txBody>
      </p:sp>
      <p:sp>
        <p:nvSpPr>
          <p:cNvPr id="32" name="Shape 30"/>
          <p:cNvSpPr/>
          <p:nvPr/>
        </p:nvSpPr>
        <p:spPr>
          <a:xfrm>
            <a:off x="5943600" y="3657600"/>
            <a:ext cx="2194560" cy="411480"/>
          </a:xfrm>
          <a:prstGeom prst="roundRect">
            <a:avLst>
              <a:gd name="adj" fmla="val 13333"/>
            </a:avLst>
          </a:prstGeom>
          <a:solidFill>
            <a:srgbClr val="10B981"/>
          </a:solidFill>
          <a:ln w="12700">
            <a:solidFill>
              <a:srgbClr val="10B981"/>
            </a:solidFill>
            <a:prstDash val="solid"/>
          </a:ln>
        </p:spPr>
        <p:txBody>
          <a:bodyPr/>
          <a:lstStyle/>
          <a:p>
            <a:endParaRPr lang="en-IN"/>
          </a:p>
        </p:txBody>
      </p:sp>
      <p:sp>
        <p:nvSpPr>
          <p:cNvPr id="33" name="Text 31"/>
          <p:cNvSpPr/>
          <p:nvPr/>
        </p:nvSpPr>
        <p:spPr>
          <a:xfrm>
            <a:off x="5943600" y="3657600"/>
            <a:ext cx="2194560" cy="41148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DECISION INTELLIGENCE OUTPUT</a:t>
            </a:r>
            <a:endParaRPr lang="en-US" sz="700" dirty="0"/>
          </a:p>
        </p:txBody>
      </p:sp>
      <p:sp>
        <p:nvSpPr>
          <p:cNvPr id="34" name="Shape 32"/>
          <p:cNvSpPr/>
          <p:nvPr/>
        </p:nvSpPr>
        <p:spPr>
          <a:xfrm>
            <a:off x="7040880" y="3291840"/>
            <a:ext cx="0" cy="365760"/>
          </a:xfrm>
          <a:prstGeom prst="line">
            <a:avLst/>
          </a:prstGeom>
          <a:noFill/>
          <a:ln w="19050">
            <a:solidFill>
              <a:srgbClr val="10B981"/>
            </a:solidFill>
            <a:prstDash val="solid"/>
          </a:ln>
        </p:spPr>
        <p:txBody>
          <a:bodyPr/>
          <a:lstStyle/>
          <a:p>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1F5E"/>
          </a:solidFill>
          <a:ln w="12700">
            <a:solidFill>
              <a:srgbClr val="1A1F5E"/>
            </a:solidFill>
            <a:prstDash val="solid"/>
          </a:ln>
        </p:spPr>
        <p:txBody>
          <a:bodyPr/>
          <a:lstStyle/>
          <a:p>
            <a:endParaRPr lang="en-IN"/>
          </a:p>
        </p:txBody>
      </p:sp>
      <p:sp>
        <p:nvSpPr>
          <p:cNvPr id="3" name="Shape 1"/>
          <p:cNvSpPr/>
          <p:nvPr/>
        </p:nvSpPr>
        <p:spPr>
          <a:xfrm>
            <a:off x="0" y="0"/>
            <a:ext cx="64008" cy="658368"/>
          </a:xfrm>
          <a:prstGeom prst="rect">
            <a:avLst/>
          </a:prstGeom>
          <a:solidFill>
            <a:srgbClr val="6B21C8"/>
          </a:solidFill>
          <a:ln w="12700">
            <a:solidFill>
              <a:srgbClr val="6B21C8"/>
            </a:solidFill>
            <a:prstDash val="solid"/>
          </a:ln>
        </p:spPr>
        <p:txBody>
          <a:bodyPr/>
          <a:lstStyle/>
          <a:p>
            <a:endParaRPr lang="en-IN"/>
          </a:p>
        </p:txBody>
      </p:sp>
      <p:sp>
        <p:nvSpPr>
          <p:cNvPr id="4" name="Text 2"/>
          <p:cNvSpPr/>
          <p:nvPr/>
        </p:nvSpPr>
        <p:spPr>
          <a:xfrm>
            <a:off x="164592" y="0"/>
            <a:ext cx="1371600" cy="65836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Fnomo</a:t>
            </a:r>
            <a:endParaRPr lang="en-US" sz="1300" dirty="0"/>
          </a:p>
        </p:txBody>
      </p:sp>
      <p:sp>
        <p:nvSpPr>
          <p:cNvPr id="5" name="Shape 3"/>
          <p:cNvSpPr/>
          <p:nvPr/>
        </p:nvSpPr>
        <p:spPr>
          <a:xfrm>
            <a:off x="1417320" y="219456"/>
            <a:ext cx="27432" cy="219456"/>
          </a:xfrm>
          <a:prstGeom prst="rect">
            <a:avLst/>
          </a:prstGeom>
          <a:solidFill>
            <a:srgbClr val="8888BB"/>
          </a:solidFill>
          <a:ln w="12700">
            <a:solidFill>
              <a:srgbClr val="8888BB"/>
            </a:solidFill>
            <a:prstDash val="solid"/>
          </a:ln>
        </p:spPr>
        <p:txBody>
          <a:bodyPr/>
          <a:lstStyle/>
          <a:p>
            <a:endParaRPr lang="en-IN"/>
          </a:p>
        </p:txBody>
      </p:sp>
      <p:sp>
        <p:nvSpPr>
          <p:cNvPr id="6" name="Text 4"/>
          <p:cNvSpPr/>
          <p:nvPr/>
        </p:nvSpPr>
        <p:spPr>
          <a:xfrm>
            <a:off x="1554480" y="0"/>
            <a:ext cx="5943600" cy="658368"/>
          </a:xfrm>
          <a:prstGeom prst="rect">
            <a:avLst/>
          </a:prstGeom>
          <a:noFill/>
          <a:ln/>
        </p:spPr>
        <p:txBody>
          <a:bodyPr wrap="square" lIns="0" tIns="0" rIns="0" bIns="0" rtlCol="0" anchor="ctr"/>
          <a:lstStyle/>
          <a:p>
            <a:pPr marL="0" indent="0">
              <a:buNone/>
            </a:pPr>
            <a:r>
              <a:rPr lang="en-US" sz="1100" b="1" kern="0" spc="200" dirty="0">
                <a:solidFill>
                  <a:srgbClr val="B0B8E8"/>
                </a:solidFill>
                <a:latin typeface="Calibri" pitchFamily="34" charset="0"/>
                <a:ea typeface="Calibri" pitchFamily="34" charset="-122"/>
                <a:cs typeface="Calibri" pitchFamily="34" charset="-120"/>
              </a:rPr>
              <a:t>FINANCE ECOSYSTEM</a:t>
            </a:r>
            <a:endParaRPr lang="en-US" sz="1100" dirty="0"/>
          </a:p>
        </p:txBody>
      </p:sp>
      <p:sp>
        <p:nvSpPr>
          <p:cNvPr id="7" name="Text 5"/>
          <p:cNvSpPr/>
          <p:nvPr/>
        </p:nvSpPr>
        <p:spPr>
          <a:xfrm>
            <a:off x="7680960" y="0"/>
            <a:ext cx="1417320" cy="658368"/>
          </a:xfrm>
          <a:prstGeom prst="rect">
            <a:avLst/>
          </a:prstGeom>
          <a:noFill/>
          <a:ln/>
        </p:spPr>
        <p:txBody>
          <a:bodyPr wrap="square" lIns="0" tIns="0" rIns="0" bIns="0" rtlCol="0" anchor="ctr"/>
          <a:lstStyle/>
          <a:p>
            <a:pPr marL="0" indent="0" algn="r">
              <a:buNone/>
            </a:pPr>
            <a:r>
              <a:rPr lang="en-US" sz="900" dirty="0">
                <a:solidFill>
                  <a:srgbClr val="8888BB"/>
                </a:solidFill>
                <a:latin typeface="Calibri" pitchFamily="34" charset="0"/>
                <a:ea typeface="Calibri" pitchFamily="34" charset="-122"/>
                <a:cs typeface="Calibri" pitchFamily="34" charset="-120"/>
              </a:rPr>
              <a:t>Slide 5 of 11</a:t>
            </a:r>
            <a:endParaRPr lang="en-US" sz="900" dirty="0"/>
          </a:p>
        </p:txBody>
      </p:sp>
      <p:sp>
        <p:nvSpPr>
          <p:cNvPr id="8" name="Text 6"/>
          <p:cNvSpPr/>
          <p:nvPr/>
        </p:nvSpPr>
        <p:spPr>
          <a:xfrm>
            <a:off x="365760" y="804672"/>
            <a:ext cx="8412480" cy="347472"/>
          </a:xfrm>
          <a:prstGeom prst="rect">
            <a:avLst/>
          </a:prstGeom>
          <a:noFill/>
          <a:ln/>
        </p:spPr>
        <p:txBody>
          <a:bodyPr wrap="square" lIns="0" tIns="0" rIns="0" bIns="0" rtlCol="0" anchor="ctr"/>
          <a:lstStyle/>
          <a:p>
            <a:pPr marL="0" indent="0">
              <a:buNone/>
            </a:pPr>
            <a:r>
              <a:rPr lang="en-US" sz="2200" b="1" dirty="0">
                <a:solidFill>
                  <a:srgbClr val="1A1F5E"/>
                </a:solidFill>
                <a:latin typeface="Calibri" pitchFamily="34" charset="0"/>
                <a:ea typeface="Calibri" pitchFamily="34" charset="-122"/>
                <a:cs typeface="Calibri" pitchFamily="34" charset="-120"/>
              </a:rPr>
              <a:t>FINANCE:</a:t>
            </a:r>
            <a:endParaRPr lang="en-US" sz="2200" dirty="0"/>
          </a:p>
        </p:txBody>
      </p:sp>
      <p:sp>
        <p:nvSpPr>
          <p:cNvPr id="9" name="Text 7"/>
          <p:cNvSpPr/>
          <p:nvPr/>
        </p:nvSpPr>
        <p:spPr>
          <a:xfrm>
            <a:off x="365760" y="1133856"/>
            <a:ext cx="8412480" cy="347472"/>
          </a:xfrm>
          <a:prstGeom prst="rect">
            <a:avLst/>
          </a:prstGeom>
          <a:noFill/>
          <a:ln/>
        </p:spPr>
        <p:txBody>
          <a:bodyPr wrap="square" lIns="0" tIns="0" rIns="0" bIns="0" rtlCol="0" anchor="ctr"/>
          <a:lstStyle/>
          <a:p>
            <a:pPr marL="0" indent="0">
              <a:buNone/>
            </a:pPr>
            <a:r>
              <a:rPr lang="en-US" sz="2200" b="1" dirty="0">
                <a:solidFill>
                  <a:srgbClr val="6B21C8"/>
                </a:solidFill>
                <a:latin typeface="Calibri" pitchFamily="34" charset="0"/>
                <a:ea typeface="Calibri" pitchFamily="34" charset="-122"/>
                <a:cs typeface="Calibri" pitchFamily="34" charset="-120"/>
              </a:rPr>
              <a:t>THE INSTITUTIONAL FIREWALL IN ACTION</a:t>
            </a:r>
            <a:endParaRPr lang="en-US" sz="2200" dirty="0"/>
          </a:p>
        </p:txBody>
      </p:sp>
      <p:sp>
        <p:nvSpPr>
          <p:cNvPr id="10" name="Text 8"/>
          <p:cNvSpPr/>
          <p:nvPr/>
        </p:nvSpPr>
        <p:spPr>
          <a:xfrm>
            <a:off x="365760" y="1572768"/>
            <a:ext cx="8412480" cy="493776"/>
          </a:xfrm>
          <a:prstGeom prst="rect">
            <a:avLst/>
          </a:prstGeom>
          <a:noFill/>
          <a:ln/>
        </p:spPr>
        <p:txBody>
          <a:bodyPr wrap="square" lIns="0" tIns="0" rIns="0" bIns="0" rtlCol="0" anchor="ctr"/>
          <a:lstStyle/>
          <a:p>
            <a:pPr marL="0" indent="0">
              <a:lnSpc>
                <a:spcPct val="130000"/>
              </a:lnSpc>
              <a:buNone/>
            </a:pPr>
            <a:r>
              <a:rPr lang="en-US" sz="1050" dirty="0">
                <a:solidFill>
                  <a:srgbClr val="4B5280"/>
                </a:solidFill>
                <a:latin typeface="Calibri" pitchFamily="34" charset="0"/>
                <a:ea typeface="Calibri" pitchFamily="34" charset="-122"/>
                <a:cs typeface="Calibri" pitchFamily="34" charset="-120"/>
              </a:rPr>
              <a:t>Fnomo sits at the apex of the decision architecture — processing inputs from every major category of financial intelligence and delivering structured, validated output before capital deployment.</a:t>
            </a:r>
            <a:endParaRPr lang="en-US" sz="1050" dirty="0"/>
          </a:p>
        </p:txBody>
      </p:sp>
      <p:sp>
        <p:nvSpPr>
          <p:cNvPr id="11" name="Shape 9"/>
          <p:cNvSpPr/>
          <p:nvPr/>
        </p:nvSpPr>
        <p:spPr>
          <a:xfrm>
            <a:off x="320040" y="2176272"/>
            <a:ext cx="1965960" cy="914400"/>
          </a:xfrm>
          <a:prstGeom prst="rect">
            <a:avLst/>
          </a:prstGeom>
          <a:solidFill>
            <a:srgbClr val="FFFFFF"/>
          </a:solidFill>
          <a:ln w="15240">
            <a:solidFill>
              <a:srgbClr val="6B21C8"/>
            </a:solidFill>
            <a:prstDash val="solid"/>
          </a:ln>
          <a:effectLst>
            <a:outerShdw blurRad="101600" dist="38100" dir="8100000" algn="bl" rotWithShape="0">
              <a:srgbClr val="000000">
                <a:alpha val="12000"/>
              </a:srgbClr>
            </a:outerShdw>
          </a:effectLst>
        </p:spPr>
        <p:txBody>
          <a:bodyPr/>
          <a:lstStyle/>
          <a:p>
            <a:endParaRPr lang="en-IN"/>
          </a:p>
        </p:txBody>
      </p:sp>
      <p:sp>
        <p:nvSpPr>
          <p:cNvPr id="12" name="Shape 10"/>
          <p:cNvSpPr/>
          <p:nvPr/>
        </p:nvSpPr>
        <p:spPr>
          <a:xfrm>
            <a:off x="320040" y="2176272"/>
            <a:ext cx="50292" cy="914400"/>
          </a:xfrm>
          <a:prstGeom prst="rect">
            <a:avLst/>
          </a:prstGeom>
          <a:solidFill>
            <a:srgbClr val="6B21C8"/>
          </a:solidFill>
          <a:ln w="12700">
            <a:solidFill>
              <a:srgbClr val="6B21C8"/>
            </a:solidFill>
            <a:prstDash val="solid"/>
          </a:ln>
        </p:spPr>
        <p:txBody>
          <a:bodyPr/>
          <a:lstStyle/>
          <a:p>
            <a:endParaRPr lang="en-IN"/>
          </a:p>
        </p:txBody>
      </p:sp>
      <p:sp>
        <p:nvSpPr>
          <p:cNvPr id="13" name="Text 11"/>
          <p:cNvSpPr/>
          <p:nvPr/>
        </p:nvSpPr>
        <p:spPr>
          <a:xfrm>
            <a:off x="411480" y="2286000"/>
            <a:ext cx="1783080" cy="274320"/>
          </a:xfrm>
          <a:prstGeom prst="rect">
            <a:avLst/>
          </a:prstGeom>
          <a:noFill/>
          <a:ln/>
        </p:spPr>
        <p:txBody>
          <a:bodyPr wrap="square" lIns="0" tIns="0" rIns="0" bIns="0" rtlCol="0" anchor="ctr"/>
          <a:lstStyle/>
          <a:p>
            <a:pPr marL="0" indent="0" algn="ctr">
              <a:buNone/>
            </a:pPr>
            <a:r>
              <a:rPr lang="en-US" sz="1100" b="1" dirty="0">
                <a:solidFill>
                  <a:srgbClr val="6B21C8"/>
                </a:solidFill>
                <a:latin typeface="Calibri" pitchFamily="34" charset="0"/>
                <a:ea typeface="Calibri" pitchFamily="34" charset="-122"/>
                <a:cs typeface="Calibri" pitchFamily="34" charset="-120"/>
              </a:rPr>
              <a:t>Fnomo</a:t>
            </a:r>
            <a:endParaRPr lang="en-US" sz="1100" dirty="0"/>
          </a:p>
        </p:txBody>
      </p:sp>
      <p:sp>
        <p:nvSpPr>
          <p:cNvPr id="14" name="Text 12"/>
          <p:cNvSpPr/>
          <p:nvPr/>
        </p:nvSpPr>
        <p:spPr>
          <a:xfrm>
            <a:off x="411480" y="2578608"/>
            <a:ext cx="1783080" cy="402336"/>
          </a:xfrm>
          <a:prstGeom prst="rect">
            <a:avLst/>
          </a:prstGeom>
          <a:noFill/>
          <a:ln/>
        </p:spPr>
        <p:txBody>
          <a:bodyPr wrap="square" lIns="0" tIns="0" rIns="0" bIns="0" rtlCol="0" anchor="ctr"/>
          <a:lstStyle/>
          <a:p>
            <a:pPr marL="0" indent="0" algn="ctr">
              <a:buNone/>
            </a:pPr>
            <a:r>
              <a:rPr lang="en-US" sz="850" dirty="0">
                <a:solidFill>
                  <a:srgbClr val="4B5280"/>
                </a:solidFill>
                <a:latin typeface="Calibri" pitchFamily="34" charset="0"/>
                <a:ea typeface="Calibri" pitchFamily="34" charset="-122"/>
                <a:cs typeface="Calibri" pitchFamily="34" charset="-120"/>
              </a:rPr>
              <a:t>Decision Engine Core</a:t>
            </a:r>
            <a:endParaRPr lang="en-US" sz="850" dirty="0"/>
          </a:p>
        </p:txBody>
      </p:sp>
      <p:sp>
        <p:nvSpPr>
          <p:cNvPr id="15" name="Shape 13"/>
          <p:cNvSpPr/>
          <p:nvPr/>
        </p:nvSpPr>
        <p:spPr>
          <a:xfrm>
            <a:off x="2441448" y="2176272"/>
            <a:ext cx="1965960" cy="914400"/>
          </a:xfrm>
          <a:prstGeom prst="rect">
            <a:avLst/>
          </a:prstGeom>
          <a:solidFill>
            <a:srgbClr val="FFFFFF"/>
          </a:solidFill>
          <a:ln w="15240">
            <a:solidFill>
              <a:srgbClr val="1A1F5E"/>
            </a:solidFill>
            <a:prstDash val="solid"/>
          </a:ln>
          <a:effectLst>
            <a:outerShdw blurRad="101600" dist="38100" dir="8100000" algn="bl" rotWithShape="0">
              <a:srgbClr val="000000">
                <a:alpha val="12000"/>
              </a:srgbClr>
            </a:outerShdw>
          </a:effectLst>
        </p:spPr>
        <p:txBody>
          <a:bodyPr/>
          <a:lstStyle/>
          <a:p>
            <a:endParaRPr lang="en-IN"/>
          </a:p>
        </p:txBody>
      </p:sp>
      <p:sp>
        <p:nvSpPr>
          <p:cNvPr id="16" name="Shape 14"/>
          <p:cNvSpPr/>
          <p:nvPr/>
        </p:nvSpPr>
        <p:spPr>
          <a:xfrm>
            <a:off x="2441448" y="2176272"/>
            <a:ext cx="50292" cy="914400"/>
          </a:xfrm>
          <a:prstGeom prst="rect">
            <a:avLst/>
          </a:prstGeom>
          <a:solidFill>
            <a:srgbClr val="1A1F5E"/>
          </a:solidFill>
          <a:ln w="12700">
            <a:solidFill>
              <a:srgbClr val="1A1F5E"/>
            </a:solidFill>
            <a:prstDash val="solid"/>
          </a:ln>
        </p:spPr>
        <p:txBody>
          <a:bodyPr/>
          <a:lstStyle/>
          <a:p>
            <a:endParaRPr lang="en-IN"/>
          </a:p>
        </p:txBody>
      </p:sp>
      <p:sp>
        <p:nvSpPr>
          <p:cNvPr id="17" name="Text 15"/>
          <p:cNvSpPr/>
          <p:nvPr/>
        </p:nvSpPr>
        <p:spPr>
          <a:xfrm>
            <a:off x="2532888" y="2286000"/>
            <a:ext cx="1783080" cy="274320"/>
          </a:xfrm>
          <a:prstGeom prst="rect">
            <a:avLst/>
          </a:prstGeom>
          <a:noFill/>
          <a:ln/>
        </p:spPr>
        <p:txBody>
          <a:bodyPr wrap="square" lIns="0" tIns="0" rIns="0" bIns="0" rtlCol="0" anchor="ctr"/>
          <a:lstStyle/>
          <a:p>
            <a:pPr marL="0" indent="0" algn="ctr">
              <a:buNone/>
            </a:pPr>
            <a:r>
              <a:rPr lang="en-US" sz="1100" b="1" dirty="0">
                <a:solidFill>
                  <a:srgbClr val="1A1F5E"/>
                </a:solidFill>
                <a:latin typeface="Calibri" pitchFamily="34" charset="0"/>
                <a:ea typeface="Calibri" pitchFamily="34" charset="-122"/>
                <a:cs typeface="Calibri" pitchFamily="34" charset="-120"/>
              </a:rPr>
              <a:t>STRATIC</a:t>
            </a:r>
            <a:endParaRPr lang="en-US" sz="1100" dirty="0"/>
          </a:p>
        </p:txBody>
      </p:sp>
      <p:sp>
        <p:nvSpPr>
          <p:cNvPr id="18" name="Text 16"/>
          <p:cNvSpPr/>
          <p:nvPr/>
        </p:nvSpPr>
        <p:spPr>
          <a:xfrm>
            <a:off x="2532888" y="2578608"/>
            <a:ext cx="1783080" cy="402336"/>
          </a:xfrm>
          <a:prstGeom prst="rect">
            <a:avLst/>
          </a:prstGeom>
          <a:noFill/>
          <a:ln/>
        </p:spPr>
        <p:txBody>
          <a:bodyPr wrap="square" lIns="0" tIns="0" rIns="0" bIns="0" rtlCol="0" anchor="ctr"/>
          <a:lstStyle/>
          <a:p>
            <a:pPr marL="0" indent="0" algn="ctr">
              <a:buNone/>
            </a:pPr>
            <a:r>
              <a:rPr lang="en-US" sz="850" dirty="0">
                <a:solidFill>
                  <a:srgbClr val="4B5280"/>
                </a:solidFill>
                <a:latin typeface="Calibri" pitchFamily="34" charset="0"/>
                <a:ea typeface="Calibri" pitchFamily="34" charset="-122"/>
                <a:cs typeface="Calibri" pitchFamily="34" charset="-120"/>
              </a:rPr>
              <a:t>Macro Intelligence</a:t>
            </a:r>
            <a:endParaRPr lang="en-US" sz="850" dirty="0"/>
          </a:p>
        </p:txBody>
      </p:sp>
      <p:sp>
        <p:nvSpPr>
          <p:cNvPr id="19" name="Shape 17"/>
          <p:cNvSpPr/>
          <p:nvPr/>
        </p:nvSpPr>
        <p:spPr>
          <a:xfrm>
            <a:off x="4562856" y="2176272"/>
            <a:ext cx="1965960" cy="914400"/>
          </a:xfrm>
          <a:prstGeom prst="rect">
            <a:avLst/>
          </a:prstGeom>
          <a:solidFill>
            <a:srgbClr val="FFFFFF"/>
          </a:solidFill>
          <a:ln w="15240">
            <a:solidFill>
              <a:srgbClr val="2563EB"/>
            </a:solidFill>
            <a:prstDash val="solid"/>
          </a:ln>
          <a:effectLst>
            <a:outerShdw blurRad="101600" dist="38100" dir="8100000" algn="bl" rotWithShape="0">
              <a:srgbClr val="000000">
                <a:alpha val="12000"/>
              </a:srgbClr>
            </a:outerShdw>
          </a:effectLst>
        </p:spPr>
        <p:txBody>
          <a:bodyPr/>
          <a:lstStyle/>
          <a:p>
            <a:endParaRPr lang="en-IN"/>
          </a:p>
        </p:txBody>
      </p:sp>
      <p:sp>
        <p:nvSpPr>
          <p:cNvPr id="20" name="Shape 18"/>
          <p:cNvSpPr/>
          <p:nvPr/>
        </p:nvSpPr>
        <p:spPr>
          <a:xfrm>
            <a:off x="4562856" y="2176272"/>
            <a:ext cx="50292" cy="914400"/>
          </a:xfrm>
          <a:prstGeom prst="rect">
            <a:avLst/>
          </a:prstGeom>
          <a:solidFill>
            <a:srgbClr val="2563EB"/>
          </a:solidFill>
          <a:ln w="12700">
            <a:solidFill>
              <a:srgbClr val="2563EB"/>
            </a:solidFill>
            <a:prstDash val="solid"/>
          </a:ln>
        </p:spPr>
        <p:txBody>
          <a:bodyPr/>
          <a:lstStyle/>
          <a:p>
            <a:endParaRPr lang="en-IN"/>
          </a:p>
        </p:txBody>
      </p:sp>
      <p:sp>
        <p:nvSpPr>
          <p:cNvPr id="21" name="Text 19"/>
          <p:cNvSpPr/>
          <p:nvPr/>
        </p:nvSpPr>
        <p:spPr>
          <a:xfrm>
            <a:off x="4654296" y="2286000"/>
            <a:ext cx="1783080" cy="274320"/>
          </a:xfrm>
          <a:prstGeom prst="rect">
            <a:avLst/>
          </a:prstGeom>
          <a:noFill/>
          <a:ln/>
        </p:spPr>
        <p:txBody>
          <a:bodyPr wrap="square" lIns="0" tIns="0" rIns="0" bIns="0" rtlCol="0" anchor="ctr"/>
          <a:lstStyle/>
          <a:p>
            <a:pPr marL="0" indent="0" algn="ctr">
              <a:buNone/>
            </a:pPr>
            <a:r>
              <a:rPr lang="en-US" sz="1100" b="1" dirty="0">
                <a:solidFill>
                  <a:srgbClr val="2563EB"/>
                </a:solidFill>
                <a:latin typeface="Calibri" pitchFamily="34" charset="0"/>
                <a:ea typeface="Calibri" pitchFamily="34" charset="-122"/>
                <a:cs typeface="Calibri" pitchFamily="34" charset="-120"/>
              </a:rPr>
              <a:t>SEI</a:t>
            </a:r>
            <a:endParaRPr lang="en-US" sz="1100" dirty="0"/>
          </a:p>
        </p:txBody>
      </p:sp>
      <p:sp>
        <p:nvSpPr>
          <p:cNvPr id="22" name="Text 20"/>
          <p:cNvSpPr/>
          <p:nvPr/>
        </p:nvSpPr>
        <p:spPr>
          <a:xfrm>
            <a:off x="4654296" y="2578608"/>
            <a:ext cx="1783080" cy="402336"/>
          </a:xfrm>
          <a:prstGeom prst="rect">
            <a:avLst/>
          </a:prstGeom>
          <a:noFill/>
          <a:ln/>
        </p:spPr>
        <p:txBody>
          <a:bodyPr wrap="square" lIns="0" tIns="0" rIns="0" bIns="0" rtlCol="0" anchor="ctr"/>
          <a:lstStyle/>
          <a:p>
            <a:pPr marL="0" indent="0" algn="ctr">
              <a:buNone/>
            </a:pPr>
            <a:r>
              <a:rPr lang="en-US" sz="850" dirty="0">
                <a:solidFill>
                  <a:srgbClr val="4B5280"/>
                </a:solidFill>
                <a:latin typeface="Calibri" pitchFamily="34" charset="0"/>
                <a:ea typeface="Calibri" pitchFamily="34" charset="-122"/>
                <a:cs typeface="Calibri" pitchFamily="34" charset="-120"/>
              </a:rPr>
              <a:t>Portfolio Analytics</a:t>
            </a:r>
            <a:endParaRPr lang="en-US" sz="850" dirty="0"/>
          </a:p>
        </p:txBody>
      </p:sp>
      <p:sp>
        <p:nvSpPr>
          <p:cNvPr id="23" name="Shape 21"/>
          <p:cNvSpPr/>
          <p:nvPr/>
        </p:nvSpPr>
        <p:spPr>
          <a:xfrm>
            <a:off x="6684264" y="2176272"/>
            <a:ext cx="1965960" cy="914400"/>
          </a:xfrm>
          <a:prstGeom prst="rect">
            <a:avLst/>
          </a:prstGeom>
          <a:solidFill>
            <a:srgbClr val="FFFFFF"/>
          </a:solidFill>
          <a:ln w="15240">
            <a:solidFill>
              <a:srgbClr val="F59E0B"/>
            </a:solidFill>
            <a:prstDash val="solid"/>
          </a:ln>
          <a:effectLst>
            <a:outerShdw blurRad="101600" dist="38100" dir="8100000" algn="bl" rotWithShape="0">
              <a:srgbClr val="000000">
                <a:alpha val="12000"/>
              </a:srgbClr>
            </a:outerShdw>
          </a:effectLst>
        </p:spPr>
        <p:txBody>
          <a:bodyPr/>
          <a:lstStyle/>
          <a:p>
            <a:endParaRPr lang="en-IN"/>
          </a:p>
        </p:txBody>
      </p:sp>
      <p:sp>
        <p:nvSpPr>
          <p:cNvPr id="24" name="Shape 22"/>
          <p:cNvSpPr/>
          <p:nvPr/>
        </p:nvSpPr>
        <p:spPr>
          <a:xfrm>
            <a:off x="6684264" y="2176272"/>
            <a:ext cx="50292" cy="914400"/>
          </a:xfrm>
          <a:prstGeom prst="rect">
            <a:avLst/>
          </a:prstGeom>
          <a:solidFill>
            <a:srgbClr val="F59E0B"/>
          </a:solidFill>
          <a:ln w="12700">
            <a:solidFill>
              <a:srgbClr val="F59E0B"/>
            </a:solidFill>
            <a:prstDash val="solid"/>
          </a:ln>
        </p:spPr>
        <p:txBody>
          <a:bodyPr/>
          <a:lstStyle/>
          <a:p>
            <a:endParaRPr lang="en-IN"/>
          </a:p>
        </p:txBody>
      </p:sp>
      <p:sp>
        <p:nvSpPr>
          <p:cNvPr id="25" name="Text 23"/>
          <p:cNvSpPr/>
          <p:nvPr/>
        </p:nvSpPr>
        <p:spPr>
          <a:xfrm>
            <a:off x="6775704" y="2286000"/>
            <a:ext cx="1783080" cy="274320"/>
          </a:xfrm>
          <a:prstGeom prst="rect">
            <a:avLst/>
          </a:prstGeom>
          <a:noFill/>
          <a:ln/>
        </p:spPr>
        <p:txBody>
          <a:bodyPr wrap="square" lIns="0" tIns="0" rIns="0" bIns="0" rtlCol="0" anchor="ctr"/>
          <a:lstStyle/>
          <a:p>
            <a:pPr marL="0" indent="0" algn="ctr">
              <a:buNone/>
            </a:pPr>
            <a:r>
              <a:rPr lang="en-US" sz="1100" b="1" dirty="0">
                <a:solidFill>
                  <a:srgbClr val="F59E0B"/>
                </a:solidFill>
                <a:latin typeface="Calibri" pitchFamily="34" charset="0"/>
                <a:ea typeface="Calibri" pitchFamily="34" charset="-122"/>
                <a:cs typeface="Calibri" pitchFamily="34" charset="-120"/>
              </a:rPr>
              <a:t>Bloomberg</a:t>
            </a:r>
            <a:endParaRPr lang="en-US" sz="1100" dirty="0"/>
          </a:p>
        </p:txBody>
      </p:sp>
      <p:sp>
        <p:nvSpPr>
          <p:cNvPr id="26" name="Text 24"/>
          <p:cNvSpPr/>
          <p:nvPr/>
        </p:nvSpPr>
        <p:spPr>
          <a:xfrm>
            <a:off x="6775704" y="2578608"/>
            <a:ext cx="1783080" cy="402336"/>
          </a:xfrm>
          <a:prstGeom prst="rect">
            <a:avLst/>
          </a:prstGeom>
          <a:noFill/>
          <a:ln/>
        </p:spPr>
        <p:txBody>
          <a:bodyPr wrap="square" lIns="0" tIns="0" rIns="0" bIns="0" rtlCol="0" anchor="ctr"/>
          <a:lstStyle/>
          <a:p>
            <a:pPr marL="0" indent="0" algn="ctr">
              <a:buNone/>
            </a:pPr>
            <a:r>
              <a:rPr lang="en-US" sz="850" dirty="0">
                <a:solidFill>
                  <a:srgbClr val="4B5280"/>
                </a:solidFill>
                <a:latin typeface="Calibri" pitchFamily="34" charset="0"/>
                <a:ea typeface="Calibri" pitchFamily="34" charset="-122"/>
                <a:cs typeface="Calibri" pitchFamily="34" charset="-120"/>
              </a:rPr>
              <a:t>Data Infrastructure</a:t>
            </a:r>
            <a:endParaRPr lang="en-US" sz="850" dirty="0"/>
          </a:p>
        </p:txBody>
      </p:sp>
      <p:sp>
        <p:nvSpPr>
          <p:cNvPr id="27" name="Shape 25"/>
          <p:cNvSpPr/>
          <p:nvPr/>
        </p:nvSpPr>
        <p:spPr>
          <a:xfrm>
            <a:off x="320040" y="3218688"/>
            <a:ext cx="1965960" cy="914400"/>
          </a:xfrm>
          <a:prstGeom prst="rect">
            <a:avLst/>
          </a:prstGeom>
          <a:solidFill>
            <a:srgbClr val="FFFFFF"/>
          </a:solidFill>
          <a:ln w="15240">
            <a:solidFill>
              <a:srgbClr val="10B981"/>
            </a:solidFill>
            <a:prstDash val="solid"/>
          </a:ln>
          <a:effectLst>
            <a:outerShdw blurRad="101600" dist="38100" dir="8100000" algn="bl" rotWithShape="0">
              <a:srgbClr val="000000">
                <a:alpha val="12000"/>
              </a:srgbClr>
            </a:outerShdw>
          </a:effectLst>
        </p:spPr>
        <p:txBody>
          <a:bodyPr/>
          <a:lstStyle/>
          <a:p>
            <a:endParaRPr lang="en-IN"/>
          </a:p>
        </p:txBody>
      </p:sp>
      <p:sp>
        <p:nvSpPr>
          <p:cNvPr id="28" name="Shape 26"/>
          <p:cNvSpPr/>
          <p:nvPr/>
        </p:nvSpPr>
        <p:spPr>
          <a:xfrm>
            <a:off x="320040" y="3218688"/>
            <a:ext cx="50292" cy="914400"/>
          </a:xfrm>
          <a:prstGeom prst="rect">
            <a:avLst/>
          </a:prstGeom>
          <a:solidFill>
            <a:srgbClr val="10B981"/>
          </a:solidFill>
          <a:ln w="12700">
            <a:solidFill>
              <a:srgbClr val="10B981"/>
            </a:solidFill>
            <a:prstDash val="solid"/>
          </a:ln>
        </p:spPr>
        <p:txBody>
          <a:bodyPr/>
          <a:lstStyle/>
          <a:p>
            <a:endParaRPr lang="en-IN"/>
          </a:p>
        </p:txBody>
      </p:sp>
      <p:sp>
        <p:nvSpPr>
          <p:cNvPr id="29" name="Text 27"/>
          <p:cNvSpPr/>
          <p:nvPr/>
        </p:nvSpPr>
        <p:spPr>
          <a:xfrm>
            <a:off x="411480" y="3328416"/>
            <a:ext cx="1783080" cy="274320"/>
          </a:xfrm>
          <a:prstGeom prst="rect">
            <a:avLst/>
          </a:prstGeom>
          <a:noFill/>
          <a:ln/>
        </p:spPr>
        <p:txBody>
          <a:bodyPr wrap="square" lIns="0" tIns="0" rIns="0" bIns="0" rtlCol="0" anchor="ctr"/>
          <a:lstStyle/>
          <a:p>
            <a:pPr marL="0" indent="0" algn="ctr">
              <a:buNone/>
            </a:pPr>
            <a:r>
              <a:rPr lang="en-US" sz="1100" b="1" dirty="0">
                <a:solidFill>
                  <a:srgbClr val="10B981"/>
                </a:solidFill>
                <a:latin typeface="Calibri" pitchFamily="34" charset="0"/>
                <a:ea typeface="Calibri" pitchFamily="34" charset="-122"/>
                <a:cs typeface="Calibri" pitchFamily="34" charset="-120"/>
              </a:rPr>
              <a:t>Refinitiv</a:t>
            </a:r>
            <a:endParaRPr lang="en-US" sz="1100" dirty="0"/>
          </a:p>
        </p:txBody>
      </p:sp>
      <p:sp>
        <p:nvSpPr>
          <p:cNvPr id="30" name="Text 28"/>
          <p:cNvSpPr/>
          <p:nvPr/>
        </p:nvSpPr>
        <p:spPr>
          <a:xfrm>
            <a:off x="411480" y="3621024"/>
            <a:ext cx="1783080" cy="402336"/>
          </a:xfrm>
          <a:prstGeom prst="rect">
            <a:avLst/>
          </a:prstGeom>
          <a:noFill/>
          <a:ln/>
        </p:spPr>
        <p:txBody>
          <a:bodyPr wrap="square" lIns="0" tIns="0" rIns="0" bIns="0" rtlCol="0" anchor="ctr"/>
          <a:lstStyle/>
          <a:p>
            <a:pPr marL="0" indent="0" algn="ctr">
              <a:buNone/>
            </a:pPr>
            <a:r>
              <a:rPr lang="en-US" sz="850" dirty="0">
                <a:solidFill>
                  <a:srgbClr val="4B5280"/>
                </a:solidFill>
                <a:latin typeface="Calibri" pitchFamily="34" charset="0"/>
                <a:ea typeface="Calibri" pitchFamily="34" charset="-122"/>
                <a:cs typeface="Calibri" pitchFamily="34" charset="-120"/>
              </a:rPr>
              <a:t>News &amp; Sentiment</a:t>
            </a:r>
            <a:endParaRPr lang="en-US" sz="850" dirty="0"/>
          </a:p>
        </p:txBody>
      </p:sp>
      <p:sp>
        <p:nvSpPr>
          <p:cNvPr id="31" name="Shape 29"/>
          <p:cNvSpPr/>
          <p:nvPr/>
        </p:nvSpPr>
        <p:spPr>
          <a:xfrm>
            <a:off x="2441448" y="3218688"/>
            <a:ext cx="1965960" cy="914400"/>
          </a:xfrm>
          <a:prstGeom prst="rect">
            <a:avLst/>
          </a:prstGeom>
          <a:solidFill>
            <a:srgbClr val="FFFFFF"/>
          </a:solidFill>
          <a:ln w="15240">
            <a:solidFill>
              <a:srgbClr val="2563EB"/>
            </a:solidFill>
            <a:prstDash val="solid"/>
          </a:ln>
          <a:effectLst>
            <a:outerShdw blurRad="101600" dist="38100" dir="8100000" algn="bl" rotWithShape="0">
              <a:srgbClr val="000000">
                <a:alpha val="12000"/>
              </a:srgbClr>
            </a:outerShdw>
          </a:effectLst>
        </p:spPr>
        <p:txBody>
          <a:bodyPr/>
          <a:lstStyle/>
          <a:p>
            <a:endParaRPr lang="en-IN"/>
          </a:p>
        </p:txBody>
      </p:sp>
      <p:sp>
        <p:nvSpPr>
          <p:cNvPr id="32" name="Shape 30"/>
          <p:cNvSpPr/>
          <p:nvPr/>
        </p:nvSpPr>
        <p:spPr>
          <a:xfrm>
            <a:off x="2441448" y="3218688"/>
            <a:ext cx="50292" cy="914400"/>
          </a:xfrm>
          <a:prstGeom prst="rect">
            <a:avLst/>
          </a:prstGeom>
          <a:solidFill>
            <a:srgbClr val="2563EB"/>
          </a:solidFill>
          <a:ln w="12700">
            <a:solidFill>
              <a:srgbClr val="2563EB"/>
            </a:solidFill>
            <a:prstDash val="solid"/>
          </a:ln>
        </p:spPr>
        <p:txBody>
          <a:bodyPr/>
          <a:lstStyle/>
          <a:p>
            <a:endParaRPr lang="en-IN"/>
          </a:p>
        </p:txBody>
      </p:sp>
      <p:sp>
        <p:nvSpPr>
          <p:cNvPr id="33" name="Text 31"/>
          <p:cNvSpPr/>
          <p:nvPr/>
        </p:nvSpPr>
        <p:spPr>
          <a:xfrm>
            <a:off x="2532888" y="3328416"/>
            <a:ext cx="1783080" cy="274320"/>
          </a:xfrm>
          <a:prstGeom prst="rect">
            <a:avLst/>
          </a:prstGeom>
          <a:noFill/>
          <a:ln/>
        </p:spPr>
        <p:txBody>
          <a:bodyPr wrap="square" lIns="0" tIns="0" rIns="0" bIns="0" rtlCol="0" anchor="ctr"/>
          <a:lstStyle/>
          <a:p>
            <a:pPr marL="0" indent="0" algn="ctr">
              <a:buNone/>
            </a:pPr>
            <a:r>
              <a:rPr lang="en-US" sz="1100" b="1" dirty="0">
                <a:solidFill>
                  <a:srgbClr val="2563EB"/>
                </a:solidFill>
                <a:latin typeface="Calibri" pitchFamily="34" charset="0"/>
                <a:ea typeface="Calibri" pitchFamily="34" charset="-122"/>
                <a:cs typeface="Calibri" pitchFamily="34" charset="-120"/>
              </a:rPr>
              <a:t>Technology</a:t>
            </a:r>
            <a:endParaRPr lang="en-US" sz="1100" dirty="0"/>
          </a:p>
        </p:txBody>
      </p:sp>
      <p:sp>
        <p:nvSpPr>
          <p:cNvPr id="34" name="Text 32"/>
          <p:cNvSpPr/>
          <p:nvPr/>
        </p:nvSpPr>
        <p:spPr>
          <a:xfrm>
            <a:off x="2532888" y="3621024"/>
            <a:ext cx="1783080" cy="402336"/>
          </a:xfrm>
          <a:prstGeom prst="rect">
            <a:avLst/>
          </a:prstGeom>
          <a:noFill/>
          <a:ln/>
        </p:spPr>
        <p:txBody>
          <a:bodyPr wrap="square" lIns="0" tIns="0" rIns="0" bIns="0" rtlCol="0" anchor="ctr"/>
          <a:lstStyle/>
          <a:p>
            <a:pPr marL="0" indent="0" algn="ctr">
              <a:buNone/>
            </a:pPr>
            <a:r>
              <a:rPr lang="en-US" sz="850" dirty="0">
                <a:solidFill>
                  <a:srgbClr val="4B5280"/>
                </a:solidFill>
                <a:latin typeface="Calibri" pitchFamily="34" charset="0"/>
                <a:ea typeface="Calibri" pitchFamily="34" charset="-122"/>
                <a:cs typeface="Calibri" pitchFamily="34" charset="-120"/>
              </a:rPr>
              <a:t>Platform Integration</a:t>
            </a:r>
            <a:endParaRPr lang="en-US" sz="850" dirty="0"/>
          </a:p>
        </p:txBody>
      </p:sp>
      <p:sp>
        <p:nvSpPr>
          <p:cNvPr id="35" name="Shape 33"/>
          <p:cNvSpPr/>
          <p:nvPr/>
        </p:nvSpPr>
        <p:spPr>
          <a:xfrm>
            <a:off x="4562856" y="3218688"/>
            <a:ext cx="1965960" cy="914400"/>
          </a:xfrm>
          <a:prstGeom prst="rect">
            <a:avLst/>
          </a:prstGeom>
          <a:solidFill>
            <a:srgbClr val="FFFFFF"/>
          </a:solidFill>
          <a:ln w="15240">
            <a:solidFill>
              <a:srgbClr val="EF4444"/>
            </a:solidFill>
            <a:prstDash val="solid"/>
          </a:ln>
          <a:effectLst>
            <a:outerShdw blurRad="101600" dist="38100" dir="8100000" algn="bl" rotWithShape="0">
              <a:srgbClr val="000000">
                <a:alpha val="12000"/>
              </a:srgbClr>
            </a:outerShdw>
          </a:effectLst>
        </p:spPr>
        <p:txBody>
          <a:bodyPr/>
          <a:lstStyle/>
          <a:p>
            <a:endParaRPr lang="en-IN"/>
          </a:p>
        </p:txBody>
      </p:sp>
      <p:sp>
        <p:nvSpPr>
          <p:cNvPr id="36" name="Shape 34"/>
          <p:cNvSpPr/>
          <p:nvPr/>
        </p:nvSpPr>
        <p:spPr>
          <a:xfrm>
            <a:off x="4562856" y="3218688"/>
            <a:ext cx="50292" cy="914400"/>
          </a:xfrm>
          <a:prstGeom prst="rect">
            <a:avLst/>
          </a:prstGeom>
          <a:solidFill>
            <a:srgbClr val="EF4444"/>
          </a:solidFill>
          <a:ln w="12700">
            <a:solidFill>
              <a:srgbClr val="EF4444"/>
            </a:solidFill>
            <a:prstDash val="solid"/>
          </a:ln>
        </p:spPr>
        <p:txBody>
          <a:bodyPr/>
          <a:lstStyle/>
          <a:p>
            <a:endParaRPr lang="en-IN"/>
          </a:p>
        </p:txBody>
      </p:sp>
      <p:sp>
        <p:nvSpPr>
          <p:cNvPr id="37" name="Text 35"/>
          <p:cNvSpPr/>
          <p:nvPr/>
        </p:nvSpPr>
        <p:spPr>
          <a:xfrm>
            <a:off x="4654296" y="3328416"/>
            <a:ext cx="1783080" cy="274320"/>
          </a:xfrm>
          <a:prstGeom prst="rect">
            <a:avLst/>
          </a:prstGeom>
          <a:noFill/>
          <a:ln/>
        </p:spPr>
        <p:txBody>
          <a:bodyPr wrap="square" lIns="0" tIns="0" rIns="0" bIns="0" rtlCol="0" anchor="ctr"/>
          <a:lstStyle/>
          <a:p>
            <a:pPr marL="0" indent="0" algn="ctr">
              <a:buNone/>
            </a:pPr>
            <a:r>
              <a:rPr lang="en-US" sz="1100" b="1" dirty="0">
                <a:solidFill>
                  <a:srgbClr val="EF4444"/>
                </a:solidFill>
                <a:latin typeface="Calibri" pitchFamily="34" charset="0"/>
                <a:ea typeface="Calibri" pitchFamily="34" charset="-122"/>
                <a:cs typeface="Calibri" pitchFamily="34" charset="-120"/>
              </a:rPr>
              <a:t>Kapisko</a:t>
            </a:r>
            <a:endParaRPr lang="en-US" sz="1100" dirty="0"/>
          </a:p>
        </p:txBody>
      </p:sp>
      <p:sp>
        <p:nvSpPr>
          <p:cNvPr id="38" name="Text 36"/>
          <p:cNvSpPr/>
          <p:nvPr/>
        </p:nvSpPr>
        <p:spPr>
          <a:xfrm>
            <a:off x="4654296" y="3621024"/>
            <a:ext cx="1783080" cy="402336"/>
          </a:xfrm>
          <a:prstGeom prst="rect">
            <a:avLst/>
          </a:prstGeom>
          <a:noFill/>
          <a:ln/>
        </p:spPr>
        <p:txBody>
          <a:bodyPr wrap="square" lIns="0" tIns="0" rIns="0" bIns="0" rtlCol="0" anchor="ctr"/>
          <a:lstStyle/>
          <a:p>
            <a:pPr marL="0" indent="0" algn="ctr">
              <a:buNone/>
            </a:pPr>
            <a:r>
              <a:rPr lang="en-US" sz="850" dirty="0">
                <a:solidFill>
                  <a:srgbClr val="4B5280"/>
                </a:solidFill>
                <a:latin typeface="Calibri" pitchFamily="34" charset="0"/>
                <a:ea typeface="Calibri" pitchFamily="34" charset="-122"/>
                <a:cs typeface="Calibri" pitchFamily="34" charset="-120"/>
              </a:rPr>
              <a:t>Risk Infrastructure</a:t>
            </a:r>
            <a:endParaRPr lang="en-US" sz="850" dirty="0"/>
          </a:p>
        </p:txBody>
      </p:sp>
      <p:sp>
        <p:nvSpPr>
          <p:cNvPr id="39" name="Shape 37"/>
          <p:cNvSpPr/>
          <p:nvPr/>
        </p:nvSpPr>
        <p:spPr>
          <a:xfrm>
            <a:off x="6684264" y="3218688"/>
            <a:ext cx="1965960" cy="914400"/>
          </a:xfrm>
          <a:prstGeom prst="rect">
            <a:avLst/>
          </a:prstGeom>
          <a:solidFill>
            <a:srgbClr val="FFFFFF"/>
          </a:solidFill>
          <a:ln w="15240">
            <a:solidFill>
              <a:srgbClr val="F59E0B"/>
            </a:solidFill>
            <a:prstDash val="solid"/>
          </a:ln>
          <a:effectLst>
            <a:outerShdw blurRad="101600" dist="38100" dir="8100000" algn="bl" rotWithShape="0">
              <a:srgbClr val="000000">
                <a:alpha val="12000"/>
              </a:srgbClr>
            </a:outerShdw>
          </a:effectLst>
        </p:spPr>
        <p:txBody>
          <a:bodyPr/>
          <a:lstStyle/>
          <a:p>
            <a:endParaRPr lang="en-IN"/>
          </a:p>
        </p:txBody>
      </p:sp>
      <p:sp>
        <p:nvSpPr>
          <p:cNvPr id="40" name="Shape 38"/>
          <p:cNvSpPr/>
          <p:nvPr/>
        </p:nvSpPr>
        <p:spPr>
          <a:xfrm>
            <a:off x="6684264" y="3218688"/>
            <a:ext cx="50292" cy="914400"/>
          </a:xfrm>
          <a:prstGeom prst="rect">
            <a:avLst/>
          </a:prstGeom>
          <a:solidFill>
            <a:srgbClr val="F59E0B"/>
          </a:solidFill>
          <a:ln w="12700">
            <a:solidFill>
              <a:srgbClr val="F59E0B"/>
            </a:solidFill>
            <a:prstDash val="solid"/>
          </a:ln>
        </p:spPr>
        <p:txBody>
          <a:bodyPr/>
          <a:lstStyle/>
          <a:p>
            <a:endParaRPr lang="en-IN"/>
          </a:p>
        </p:txBody>
      </p:sp>
      <p:sp>
        <p:nvSpPr>
          <p:cNvPr id="41" name="Text 39"/>
          <p:cNvSpPr/>
          <p:nvPr/>
        </p:nvSpPr>
        <p:spPr>
          <a:xfrm>
            <a:off x="6775704" y="3328416"/>
            <a:ext cx="1783080" cy="274320"/>
          </a:xfrm>
          <a:prstGeom prst="rect">
            <a:avLst/>
          </a:prstGeom>
          <a:noFill/>
          <a:ln/>
        </p:spPr>
        <p:txBody>
          <a:bodyPr wrap="square" lIns="0" tIns="0" rIns="0" bIns="0" rtlCol="0" anchor="ctr"/>
          <a:lstStyle/>
          <a:p>
            <a:pPr marL="0" indent="0" algn="ctr">
              <a:buNone/>
            </a:pPr>
            <a:r>
              <a:rPr lang="en-US" sz="1100" b="1" dirty="0">
                <a:solidFill>
                  <a:srgbClr val="F59E0B"/>
                </a:solidFill>
                <a:latin typeface="Calibri" pitchFamily="34" charset="0"/>
                <a:ea typeface="Calibri" pitchFamily="34" charset="-122"/>
                <a:cs typeface="Calibri" pitchFamily="34" charset="-120"/>
              </a:rPr>
              <a:t>FactSet</a:t>
            </a:r>
            <a:endParaRPr lang="en-US" sz="1100" dirty="0"/>
          </a:p>
        </p:txBody>
      </p:sp>
      <p:sp>
        <p:nvSpPr>
          <p:cNvPr id="42" name="Text 40"/>
          <p:cNvSpPr/>
          <p:nvPr/>
        </p:nvSpPr>
        <p:spPr>
          <a:xfrm>
            <a:off x="6775704" y="3621024"/>
            <a:ext cx="1783080" cy="402336"/>
          </a:xfrm>
          <a:prstGeom prst="rect">
            <a:avLst/>
          </a:prstGeom>
          <a:noFill/>
          <a:ln/>
        </p:spPr>
        <p:txBody>
          <a:bodyPr wrap="square" lIns="0" tIns="0" rIns="0" bIns="0" rtlCol="0" anchor="ctr"/>
          <a:lstStyle/>
          <a:p>
            <a:pPr marL="0" indent="0" algn="ctr">
              <a:buNone/>
            </a:pPr>
            <a:r>
              <a:rPr lang="en-US" sz="850" dirty="0">
                <a:solidFill>
                  <a:srgbClr val="4B5280"/>
                </a:solidFill>
                <a:latin typeface="Calibri" pitchFamily="34" charset="0"/>
                <a:ea typeface="Calibri" pitchFamily="34" charset="-122"/>
                <a:cs typeface="Calibri" pitchFamily="34" charset="-120"/>
              </a:rPr>
              <a:t>Fundamental Data</a:t>
            </a:r>
            <a:endParaRPr lang="en-US" sz="850" dirty="0"/>
          </a:p>
        </p:txBody>
      </p:sp>
      <p:sp>
        <p:nvSpPr>
          <p:cNvPr id="43" name="Shape 41"/>
          <p:cNvSpPr/>
          <p:nvPr/>
        </p:nvSpPr>
        <p:spPr>
          <a:xfrm>
            <a:off x="320040" y="4206240"/>
            <a:ext cx="8503920" cy="18288"/>
          </a:xfrm>
          <a:prstGeom prst="rect">
            <a:avLst/>
          </a:prstGeom>
          <a:solidFill>
            <a:srgbClr val="E8EAF4"/>
          </a:solidFill>
          <a:ln w="12700">
            <a:solidFill>
              <a:srgbClr val="E8EAF4"/>
            </a:solidFill>
            <a:prstDash val="solid"/>
          </a:ln>
        </p:spPr>
        <p:txBody>
          <a:bodyPr/>
          <a:lstStyle/>
          <a:p>
            <a:endParaRPr lang="en-IN"/>
          </a:p>
        </p:txBody>
      </p:sp>
      <p:sp>
        <p:nvSpPr>
          <p:cNvPr id="44" name="Text 42"/>
          <p:cNvSpPr/>
          <p:nvPr/>
        </p:nvSpPr>
        <p:spPr>
          <a:xfrm>
            <a:off x="365760" y="4297680"/>
            <a:ext cx="8412480" cy="493776"/>
          </a:xfrm>
          <a:prstGeom prst="rect">
            <a:avLst/>
          </a:prstGeom>
          <a:noFill/>
          <a:ln/>
        </p:spPr>
        <p:txBody>
          <a:bodyPr wrap="square" lIns="0" tIns="0" rIns="0" bIns="0" rtlCol="0" anchor="ctr"/>
          <a:lstStyle/>
          <a:p>
            <a:pPr marL="0" indent="0" algn="ctr">
              <a:lnSpc>
                <a:spcPct val="130000"/>
              </a:lnSpc>
              <a:buNone/>
            </a:pPr>
            <a:r>
              <a:rPr lang="en-US" sz="1000" i="1" dirty="0">
                <a:solidFill>
                  <a:srgbClr val="4B5280"/>
                </a:solidFill>
                <a:latin typeface="Calibri" pitchFamily="34" charset="0"/>
                <a:ea typeface="Calibri" pitchFamily="34" charset="-122"/>
                <a:cs typeface="Calibri" pitchFamily="34" charset="-120"/>
              </a:rPr>
              <a:t>All partner integrations route through the Fnomo Institutional Firewall for pre-decision validation and risk scoring before output is delivered to the end decision maker.</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1F5E"/>
          </a:solidFill>
          <a:ln w="12700">
            <a:solidFill>
              <a:srgbClr val="1A1F5E"/>
            </a:solidFill>
            <a:prstDash val="solid"/>
          </a:ln>
        </p:spPr>
        <p:txBody>
          <a:bodyPr/>
          <a:lstStyle/>
          <a:p>
            <a:endParaRPr lang="en-IN"/>
          </a:p>
        </p:txBody>
      </p:sp>
      <p:sp>
        <p:nvSpPr>
          <p:cNvPr id="3" name="Shape 1"/>
          <p:cNvSpPr/>
          <p:nvPr/>
        </p:nvSpPr>
        <p:spPr>
          <a:xfrm>
            <a:off x="0" y="0"/>
            <a:ext cx="64008" cy="658368"/>
          </a:xfrm>
          <a:prstGeom prst="rect">
            <a:avLst/>
          </a:prstGeom>
          <a:solidFill>
            <a:srgbClr val="6B21C8"/>
          </a:solidFill>
          <a:ln w="12700">
            <a:solidFill>
              <a:srgbClr val="6B21C8"/>
            </a:solidFill>
            <a:prstDash val="solid"/>
          </a:ln>
        </p:spPr>
        <p:txBody>
          <a:bodyPr/>
          <a:lstStyle/>
          <a:p>
            <a:endParaRPr lang="en-IN"/>
          </a:p>
        </p:txBody>
      </p:sp>
      <p:sp>
        <p:nvSpPr>
          <p:cNvPr id="4" name="Text 2"/>
          <p:cNvSpPr/>
          <p:nvPr/>
        </p:nvSpPr>
        <p:spPr>
          <a:xfrm>
            <a:off x="164592" y="0"/>
            <a:ext cx="1371600" cy="65836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Fnomo</a:t>
            </a:r>
            <a:endParaRPr lang="en-US" sz="1300" dirty="0"/>
          </a:p>
        </p:txBody>
      </p:sp>
      <p:sp>
        <p:nvSpPr>
          <p:cNvPr id="5" name="Shape 3"/>
          <p:cNvSpPr/>
          <p:nvPr/>
        </p:nvSpPr>
        <p:spPr>
          <a:xfrm>
            <a:off x="1417320" y="219456"/>
            <a:ext cx="27432" cy="219456"/>
          </a:xfrm>
          <a:prstGeom prst="rect">
            <a:avLst/>
          </a:prstGeom>
          <a:solidFill>
            <a:srgbClr val="8888BB"/>
          </a:solidFill>
          <a:ln w="12700">
            <a:solidFill>
              <a:srgbClr val="8888BB"/>
            </a:solidFill>
            <a:prstDash val="solid"/>
          </a:ln>
        </p:spPr>
        <p:txBody>
          <a:bodyPr/>
          <a:lstStyle/>
          <a:p>
            <a:endParaRPr lang="en-IN"/>
          </a:p>
        </p:txBody>
      </p:sp>
      <p:sp>
        <p:nvSpPr>
          <p:cNvPr id="6" name="Text 4"/>
          <p:cNvSpPr/>
          <p:nvPr/>
        </p:nvSpPr>
        <p:spPr>
          <a:xfrm>
            <a:off x="1554480" y="0"/>
            <a:ext cx="5943600" cy="658368"/>
          </a:xfrm>
          <a:prstGeom prst="rect">
            <a:avLst/>
          </a:prstGeom>
          <a:noFill/>
          <a:ln/>
        </p:spPr>
        <p:txBody>
          <a:bodyPr wrap="square" lIns="0" tIns="0" rIns="0" bIns="0" rtlCol="0" anchor="ctr"/>
          <a:lstStyle/>
          <a:p>
            <a:pPr marL="0" indent="0">
              <a:buNone/>
            </a:pPr>
            <a:r>
              <a:rPr lang="en-US" sz="1100" b="1" kern="0" spc="200" dirty="0">
                <a:solidFill>
                  <a:srgbClr val="B0B8E8"/>
                </a:solidFill>
                <a:latin typeface="Calibri" pitchFamily="34" charset="0"/>
                <a:ea typeface="Calibri" pitchFamily="34" charset="-122"/>
                <a:cs typeface="Calibri" pitchFamily="34" charset="-120"/>
              </a:rPr>
              <a:t>CORE CAPABILITIES</a:t>
            </a:r>
            <a:endParaRPr lang="en-US" sz="1100" dirty="0"/>
          </a:p>
        </p:txBody>
      </p:sp>
      <p:sp>
        <p:nvSpPr>
          <p:cNvPr id="7" name="Text 5"/>
          <p:cNvSpPr/>
          <p:nvPr/>
        </p:nvSpPr>
        <p:spPr>
          <a:xfrm>
            <a:off x="7680960" y="0"/>
            <a:ext cx="1417320" cy="658368"/>
          </a:xfrm>
          <a:prstGeom prst="rect">
            <a:avLst/>
          </a:prstGeom>
          <a:noFill/>
          <a:ln/>
        </p:spPr>
        <p:txBody>
          <a:bodyPr wrap="square" lIns="0" tIns="0" rIns="0" bIns="0" rtlCol="0" anchor="ctr"/>
          <a:lstStyle/>
          <a:p>
            <a:pPr marL="0" indent="0" algn="r">
              <a:buNone/>
            </a:pPr>
            <a:r>
              <a:rPr lang="en-US" sz="900" dirty="0">
                <a:solidFill>
                  <a:srgbClr val="8888BB"/>
                </a:solidFill>
                <a:latin typeface="Calibri" pitchFamily="34" charset="0"/>
                <a:ea typeface="Calibri" pitchFamily="34" charset="-122"/>
                <a:cs typeface="Calibri" pitchFamily="34" charset="-120"/>
              </a:rPr>
              <a:t>Slide 6 of 11</a:t>
            </a:r>
            <a:endParaRPr lang="en-US" sz="900" dirty="0"/>
          </a:p>
        </p:txBody>
      </p:sp>
      <p:sp>
        <p:nvSpPr>
          <p:cNvPr id="8" name="Text 6"/>
          <p:cNvSpPr/>
          <p:nvPr/>
        </p:nvSpPr>
        <p:spPr>
          <a:xfrm>
            <a:off x="365760" y="804672"/>
            <a:ext cx="8412480" cy="384048"/>
          </a:xfrm>
          <a:prstGeom prst="rect">
            <a:avLst/>
          </a:prstGeom>
          <a:noFill/>
          <a:ln/>
        </p:spPr>
        <p:txBody>
          <a:bodyPr wrap="square" lIns="0" tIns="0" rIns="0" bIns="0" rtlCol="0" anchor="ctr"/>
          <a:lstStyle/>
          <a:p>
            <a:pPr marL="0" indent="0">
              <a:buNone/>
            </a:pPr>
            <a:r>
              <a:rPr lang="en-US" sz="2400" b="1" dirty="0">
                <a:solidFill>
                  <a:srgbClr val="1A1F5E"/>
                </a:solidFill>
                <a:latin typeface="Calibri" pitchFamily="34" charset="0"/>
                <a:ea typeface="Calibri" pitchFamily="34" charset="-122"/>
                <a:cs typeface="Calibri" pitchFamily="34" charset="-120"/>
              </a:rPr>
              <a:t>CORE CAPABILITIES</a:t>
            </a:r>
            <a:endParaRPr lang="en-US" sz="2400" dirty="0"/>
          </a:p>
        </p:txBody>
      </p:sp>
      <p:sp>
        <p:nvSpPr>
          <p:cNvPr id="9" name="Text 7"/>
          <p:cNvSpPr/>
          <p:nvPr/>
        </p:nvSpPr>
        <p:spPr>
          <a:xfrm>
            <a:off x="365760" y="1207008"/>
            <a:ext cx="8412480" cy="347472"/>
          </a:xfrm>
          <a:prstGeom prst="rect">
            <a:avLst/>
          </a:prstGeom>
          <a:noFill/>
          <a:ln/>
        </p:spPr>
        <p:txBody>
          <a:bodyPr wrap="square" lIns="0" tIns="0" rIns="0" bIns="0" rtlCol="0" anchor="ctr"/>
          <a:lstStyle/>
          <a:p>
            <a:pPr marL="0" indent="0">
              <a:buNone/>
            </a:pPr>
            <a:r>
              <a:rPr lang="en-US" sz="1100" i="1" dirty="0">
                <a:solidFill>
                  <a:srgbClr val="4B5280"/>
                </a:solidFill>
                <a:latin typeface="Calibri" pitchFamily="34" charset="0"/>
                <a:ea typeface="Calibri" pitchFamily="34" charset="-122"/>
                <a:cs typeface="Calibri" pitchFamily="34" charset="-120"/>
              </a:rPr>
              <a:t>Professional-grade decision infrastructure, built for precision and delivered at institutional scale.</a:t>
            </a:r>
            <a:endParaRPr lang="en-US" sz="1100" dirty="0"/>
          </a:p>
        </p:txBody>
      </p:sp>
      <p:sp>
        <p:nvSpPr>
          <p:cNvPr id="10" name="Shape 8"/>
          <p:cNvSpPr/>
          <p:nvPr/>
        </p:nvSpPr>
        <p:spPr>
          <a:xfrm>
            <a:off x="347472" y="1737360"/>
            <a:ext cx="4114800" cy="1444752"/>
          </a:xfrm>
          <a:prstGeom prst="rect">
            <a:avLst/>
          </a:prstGeom>
          <a:solidFill>
            <a:srgbClr val="FFFFFF"/>
          </a:solidFill>
          <a:ln w="15240">
            <a:solidFill>
              <a:srgbClr val="6B21C8"/>
            </a:solidFill>
            <a:prstDash val="solid"/>
          </a:ln>
          <a:effectLst>
            <a:outerShdw blurRad="101600" dist="38100" dir="8100000" algn="bl" rotWithShape="0">
              <a:srgbClr val="000000">
                <a:alpha val="12000"/>
              </a:srgbClr>
            </a:outerShdw>
          </a:effectLst>
        </p:spPr>
        <p:txBody>
          <a:bodyPr/>
          <a:lstStyle/>
          <a:p>
            <a:endParaRPr lang="en-IN"/>
          </a:p>
        </p:txBody>
      </p:sp>
      <p:sp>
        <p:nvSpPr>
          <p:cNvPr id="11" name="Shape 9"/>
          <p:cNvSpPr/>
          <p:nvPr/>
        </p:nvSpPr>
        <p:spPr>
          <a:xfrm>
            <a:off x="347472" y="1737360"/>
            <a:ext cx="50292" cy="1444752"/>
          </a:xfrm>
          <a:prstGeom prst="rect">
            <a:avLst/>
          </a:prstGeom>
          <a:solidFill>
            <a:srgbClr val="6B21C8"/>
          </a:solidFill>
          <a:ln w="12700">
            <a:solidFill>
              <a:srgbClr val="6B21C8"/>
            </a:solidFill>
            <a:prstDash val="solid"/>
          </a:ln>
        </p:spPr>
        <p:txBody>
          <a:bodyPr/>
          <a:lstStyle/>
          <a:p>
            <a:endParaRPr lang="en-IN"/>
          </a:p>
        </p:txBody>
      </p:sp>
      <p:sp>
        <p:nvSpPr>
          <p:cNvPr id="12" name="Shape 10"/>
          <p:cNvSpPr/>
          <p:nvPr/>
        </p:nvSpPr>
        <p:spPr>
          <a:xfrm>
            <a:off x="457200" y="1993392"/>
            <a:ext cx="502920" cy="502920"/>
          </a:xfrm>
          <a:prstGeom prst="ellipse">
            <a:avLst/>
          </a:prstGeom>
          <a:solidFill>
            <a:srgbClr val="6B21C8"/>
          </a:solidFill>
          <a:ln w="12700">
            <a:solidFill>
              <a:srgbClr val="6B21C8"/>
            </a:solidFill>
            <a:prstDash val="solid"/>
          </a:ln>
        </p:spPr>
        <p:txBody>
          <a:bodyPr/>
          <a:lstStyle/>
          <a:p>
            <a:endParaRPr lang="en-IN"/>
          </a:p>
        </p:txBody>
      </p:sp>
      <p:sp>
        <p:nvSpPr>
          <p:cNvPr id="13" name="Text 11"/>
          <p:cNvSpPr/>
          <p:nvPr/>
        </p:nvSpPr>
        <p:spPr>
          <a:xfrm>
            <a:off x="457200" y="1993392"/>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S</a:t>
            </a:r>
            <a:endParaRPr lang="en-US" sz="1600" dirty="0"/>
          </a:p>
        </p:txBody>
      </p:sp>
      <p:sp>
        <p:nvSpPr>
          <p:cNvPr id="14" name="Text 12"/>
          <p:cNvSpPr/>
          <p:nvPr/>
        </p:nvSpPr>
        <p:spPr>
          <a:xfrm>
            <a:off x="1060704" y="1920240"/>
            <a:ext cx="3273552" cy="347472"/>
          </a:xfrm>
          <a:prstGeom prst="rect">
            <a:avLst/>
          </a:prstGeom>
          <a:noFill/>
          <a:ln/>
        </p:spPr>
        <p:txBody>
          <a:bodyPr wrap="square" lIns="0" tIns="0" rIns="0" bIns="0" rtlCol="0" anchor="ctr"/>
          <a:lstStyle/>
          <a:p>
            <a:pPr marL="0" indent="0">
              <a:buNone/>
            </a:pPr>
            <a:r>
              <a:rPr lang="en-US" sz="1000" b="1" dirty="0">
                <a:solidFill>
                  <a:srgbClr val="6B21C8"/>
                </a:solidFill>
                <a:latin typeface="Calibri" pitchFamily="34" charset="0"/>
                <a:ea typeface="Calibri" pitchFamily="34" charset="-122"/>
                <a:cs typeface="Calibri" pitchFamily="34" charset="-120"/>
              </a:rPr>
              <a:t>SENTIMENT ANALYSIS</a:t>
            </a:r>
            <a:endParaRPr lang="en-US" sz="1000" dirty="0"/>
          </a:p>
        </p:txBody>
      </p:sp>
      <p:sp>
        <p:nvSpPr>
          <p:cNvPr id="15" name="Text 13"/>
          <p:cNvSpPr/>
          <p:nvPr/>
        </p:nvSpPr>
        <p:spPr>
          <a:xfrm>
            <a:off x="1060704" y="2249424"/>
            <a:ext cx="3273552" cy="822960"/>
          </a:xfrm>
          <a:prstGeom prst="rect">
            <a:avLst/>
          </a:prstGeom>
          <a:noFill/>
          <a:ln/>
        </p:spPr>
        <p:txBody>
          <a:bodyPr wrap="square" lIns="0" tIns="0" rIns="0" bIns="0" rtlCol="0" anchor="ctr"/>
          <a:lstStyle/>
          <a:p>
            <a:pPr marL="0" indent="0">
              <a:lnSpc>
                <a:spcPct val="122000"/>
              </a:lnSpc>
              <a:buNone/>
            </a:pPr>
            <a:r>
              <a:rPr lang="en-US" sz="950" dirty="0">
                <a:solidFill>
                  <a:srgbClr val="4B5280"/>
                </a:solidFill>
                <a:latin typeface="Calibri" pitchFamily="34" charset="0"/>
                <a:ea typeface="Calibri" pitchFamily="34" charset="-122"/>
                <a:cs typeface="Calibri" pitchFamily="34" charset="-120"/>
              </a:rPr>
              <a:t>Multi-layer sentiment processing across news, social, institutional filings, and earnings transcripts. Delivers a real-time sentiment score calibrated against historical decision outcomes.</a:t>
            </a:r>
            <a:endParaRPr lang="en-US" sz="950" dirty="0"/>
          </a:p>
        </p:txBody>
      </p:sp>
      <p:sp>
        <p:nvSpPr>
          <p:cNvPr id="16" name="Shape 14"/>
          <p:cNvSpPr/>
          <p:nvPr/>
        </p:nvSpPr>
        <p:spPr>
          <a:xfrm>
            <a:off x="4663440" y="1737360"/>
            <a:ext cx="4114800" cy="1444752"/>
          </a:xfrm>
          <a:prstGeom prst="rect">
            <a:avLst/>
          </a:prstGeom>
          <a:solidFill>
            <a:srgbClr val="FFFFFF"/>
          </a:solidFill>
          <a:ln w="15240">
            <a:solidFill>
              <a:srgbClr val="2563EB"/>
            </a:solidFill>
            <a:prstDash val="solid"/>
          </a:ln>
          <a:effectLst>
            <a:outerShdw blurRad="101600" dist="38100" dir="8100000" algn="bl" rotWithShape="0">
              <a:srgbClr val="000000">
                <a:alpha val="12000"/>
              </a:srgbClr>
            </a:outerShdw>
          </a:effectLst>
        </p:spPr>
        <p:txBody>
          <a:bodyPr/>
          <a:lstStyle/>
          <a:p>
            <a:endParaRPr lang="en-IN"/>
          </a:p>
        </p:txBody>
      </p:sp>
      <p:sp>
        <p:nvSpPr>
          <p:cNvPr id="17" name="Shape 15"/>
          <p:cNvSpPr/>
          <p:nvPr/>
        </p:nvSpPr>
        <p:spPr>
          <a:xfrm>
            <a:off x="4663440" y="1737360"/>
            <a:ext cx="50292" cy="1444752"/>
          </a:xfrm>
          <a:prstGeom prst="rect">
            <a:avLst/>
          </a:prstGeom>
          <a:solidFill>
            <a:srgbClr val="2563EB"/>
          </a:solidFill>
          <a:ln w="12700">
            <a:solidFill>
              <a:srgbClr val="2563EB"/>
            </a:solidFill>
            <a:prstDash val="solid"/>
          </a:ln>
        </p:spPr>
        <p:txBody>
          <a:bodyPr/>
          <a:lstStyle/>
          <a:p>
            <a:endParaRPr lang="en-IN"/>
          </a:p>
        </p:txBody>
      </p:sp>
      <p:sp>
        <p:nvSpPr>
          <p:cNvPr id="18" name="Shape 16"/>
          <p:cNvSpPr/>
          <p:nvPr/>
        </p:nvSpPr>
        <p:spPr>
          <a:xfrm>
            <a:off x="4773168" y="1993392"/>
            <a:ext cx="502920" cy="502920"/>
          </a:xfrm>
          <a:prstGeom prst="ellipse">
            <a:avLst/>
          </a:prstGeom>
          <a:solidFill>
            <a:srgbClr val="2563EB"/>
          </a:solidFill>
          <a:ln w="12700">
            <a:solidFill>
              <a:srgbClr val="2563EB"/>
            </a:solidFill>
            <a:prstDash val="solid"/>
          </a:ln>
        </p:spPr>
        <p:txBody>
          <a:bodyPr/>
          <a:lstStyle/>
          <a:p>
            <a:endParaRPr lang="en-IN"/>
          </a:p>
        </p:txBody>
      </p:sp>
      <p:sp>
        <p:nvSpPr>
          <p:cNvPr id="19" name="Text 17"/>
          <p:cNvSpPr/>
          <p:nvPr/>
        </p:nvSpPr>
        <p:spPr>
          <a:xfrm>
            <a:off x="4773168" y="1993392"/>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R</a:t>
            </a:r>
            <a:endParaRPr lang="en-US" sz="1600" dirty="0"/>
          </a:p>
        </p:txBody>
      </p:sp>
      <p:sp>
        <p:nvSpPr>
          <p:cNvPr id="20" name="Text 18"/>
          <p:cNvSpPr/>
          <p:nvPr/>
        </p:nvSpPr>
        <p:spPr>
          <a:xfrm>
            <a:off x="5376672" y="1920240"/>
            <a:ext cx="3273552" cy="347472"/>
          </a:xfrm>
          <a:prstGeom prst="rect">
            <a:avLst/>
          </a:prstGeom>
          <a:noFill/>
          <a:ln/>
        </p:spPr>
        <p:txBody>
          <a:bodyPr wrap="square" lIns="0" tIns="0" rIns="0" bIns="0" rtlCol="0" anchor="ctr"/>
          <a:lstStyle/>
          <a:p>
            <a:pPr marL="0" indent="0">
              <a:buNone/>
            </a:pPr>
            <a:r>
              <a:rPr lang="en-US" sz="1000" b="1" dirty="0">
                <a:solidFill>
                  <a:srgbClr val="2563EB"/>
                </a:solidFill>
                <a:latin typeface="Calibri" pitchFamily="34" charset="0"/>
                <a:ea typeface="Calibri" pitchFamily="34" charset="-122"/>
                <a:cs typeface="Calibri" pitchFamily="34" charset="-120"/>
              </a:rPr>
              <a:t>REAL-TIME DATA PROCESSING</a:t>
            </a:r>
            <a:endParaRPr lang="en-US" sz="1000" dirty="0"/>
          </a:p>
        </p:txBody>
      </p:sp>
      <p:sp>
        <p:nvSpPr>
          <p:cNvPr id="21" name="Text 19"/>
          <p:cNvSpPr/>
          <p:nvPr/>
        </p:nvSpPr>
        <p:spPr>
          <a:xfrm>
            <a:off x="5376672" y="2249424"/>
            <a:ext cx="3273552" cy="822960"/>
          </a:xfrm>
          <a:prstGeom prst="rect">
            <a:avLst/>
          </a:prstGeom>
          <a:noFill/>
          <a:ln/>
        </p:spPr>
        <p:txBody>
          <a:bodyPr wrap="square" lIns="0" tIns="0" rIns="0" bIns="0" rtlCol="0" anchor="ctr"/>
          <a:lstStyle/>
          <a:p>
            <a:pPr marL="0" indent="0">
              <a:lnSpc>
                <a:spcPct val="122000"/>
              </a:lnSpc>
              <a:buNone/>
            </a:pPr>
            <a:r>
              <a:rPr lang="en-US" sz="950" dirty="0">
                <a:solidFill>
                  <a:srgbClr val="4B5280"/>
                </a:solidFill>
                <a:latin typeface="Calibri" pitchFamily="34" charset="0"/>
                <a:ea typeface="Calibri" pitchFamily="34" charset="-122"/>
                <a:cs typeface="Calibri" pitchFamily="34" charset="-120"/>
              </a:rPr>
              <a:t>Sub-second latency data pipeline processing over 2.4M market signals daily. Filters, weights, and delivers only decision-relevant intelligence to reduce cognitive load.</a:t>
            </a:r>
            <a:endParaRPr lang="en-US" sz="950" dirty="0"/>
          </a:p>
        </p:txBody>
      </p:sp>
      <p:sp>
        <p:nvSpPr>
          <p:cNvPr id="22" name="Shape 20"/>
          <p:cNvSpPr/>
          <p:nvPr/>
        </p:nvSpPr>
        <p:spPr>
          <a:xfrm>
            <a:off x="347472" y="3310128"/>
            <a:ext cx="4114800" cy="1444752"/>
          </a:xfrm>
          <a:prstGeom prst="rect">
            <a:avLst/>
          </a:prstGeom>
          <a:solidFill>
            <a:srgbClr val="FFFFFF"/>
          </a:solidFill>
          <a:ln w="15240">
            <a:solidFill>
              <a:srgbClr val="10B981"/>
            </a:solidFill>
            <a:prstDash val="solid"/>
          </a:ln>
          <a:effectLst>
            <a:outerShdw blurRad="101600" dist="38100" dir="8100000" algn="bl" rotWithShape="0">
              <a:srgbClr val="000000">
                <a:alpha val="12000"/>
              </a:srgbClr>
            </a:outerShdw>
          </a:effectLst>
        </p:spPr>
        <p:txBody>
          <a:bodyPr/>
          <a:lstStyle/>
          <a:p>
            <a:endParaRPr lang="en-IN"/>
          </a:p>
        </p:txBody>
      </p:sp>
      <p:sp>
        <p:nvSpPr>
          <p:cNvPr id="23" name="Shape 21"/>
          <p:cNvSpPr/>
          <p:nvPr/>
        </p:nvSpPr>
        <p:spPr>
          <a:xfrm>
            <a:off x="347472" y="3310128"/>
            <a:ext cx="50292" cy="1444752"/>
          </a:xfrm>
          <a:prstGeom prst="rect">
            <a:avLst/>
          </a:prstGeom>
          <a:solidFill>
            <a:srgbClr val="10B981"/>
          </a:solidFill>
          <a:ln w="12700">
            <a:solidFill>
              <a:srgbClr val="10B981"/>
            </a:solidFill>
            <a:prstDash val="solid"/>
          </a:ln>
        </p:spPr>
        <p:txBody>
          <a:bodyPr/>
          <a:lstStyle/>
          <a:p>
            <a:endParaRPr lang="en-IN"/>
          </a:p>
        </p:txBody>
      </p:sp>
      <p:sp>
        <p:nvSpPr>
          <p:cNvPr id="24" name="Shape 22"/>
          <p:cNvSpPr/>
          <p:nvPr/>
        </p:nvSpPr>
        <p:spPr>
          <a:xfrm>
            <a:off x="457200" y="3566160"/>
            <a:ext cx="502920" cy="502920"/>
          </a:xfrm>
          <a:prstGeom prst="ellipse">
            <a:avLst/>
          </a:prstGeom>
          <a:solidFill>
            <a:srgbClr val="10B981"/>
          </a:solidFill>
          <a:ln w="12700">
            <a:solidFill>
              <a:srgbClr val="10B981"/>
            </a:solidFill>
            <a:prstDash val="solid"/>
          </a:ln>
        </p:spPr>
        <p:txBody>
          <a:bodyPr/>
          <a:lstStyle/>
          <a:p>
            <a:endParaRPr lang="en-IN"/>
          </a:p>
        </p:txBody>
      </p:sp>
      <p:sp>
        <p:nvSpPr>
          <p:cNvPr id="25" name="Text 23"/>
          <p:cNvSpPr/>
          <p:nvPr/>
        </p:nvSpPr>
        <p:spPr>
          <a:xfrm>
            <a:off x="457200" y="356616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a:t>
            </a:r>
            <a:endParaRPr lang="en-US" sz="1600" dirty="0"/>
          </a:p>
        </p:txBody>
      </p:sp>
      <p:sp>
        <p:nvSpPr>
          <p:cNvPr id="26" name="Text 24"/>
          <p:cNvSpPr/>
          <p:nvPr/>
        </p:nvSpPr>
        <p:spPr>
          <a:xfrm>
            <a:off x="1060704" y="3493008"/>
            <a:ext cx="3273552" cy="347472"/>
          </a:xfrm>
          <a:prstGeom prst="rect">
            <a:avLst/>
          </a:prstGeom>
          <a:noFill/>
          <a:ln/>
        </p:spPr>
        <p:txBody>
          <a:bodyPr wrap="square" lIns="0" tIns="0" rIns="0" bIns="0" rtlCol="0" anchor="ctr"/>
          <a:lstStyle/>
          <a:p>
            <a:pPr marL="0" indent="0">
              <a:buNone/>
            </a:pPr>
            <a:r>
              <a:rPr lang="en-US" sz="1000" b="1" dirty="0">
                <a:solidFill>
                  <a:srgbClr val="10B981"/>
                </a:solidFill>
                <a:latin typeface="Calibri" pitchFamily="34" charset="0"/>
                <a:ea typeface="Calibri" pitchFamily="34" charset="-122"/>
                <a:cs typeface="Calibri" pitchFamily="34" charset="-120"/>
              </a:rPr>
              <a:t>PATTERN RECOGNITION</a:t>
            </a:r>
            <a:endParaRPr lang="en-US" sz="1000" dirty="0"/>
          </a:p>
        </p:txBody>
      </p:sp>
      <p:sp>
        <p:nvSpPr>
          <p:cNvPr id="27" name="Text 25"/>
          <p:cNvSpPr/>
          <p:nvPr/>
        </p:nvSpPr>
        <p:spPr>
          <a:xfrm>
            <a:off x="1060704" y="3822192"/>
            <a:ext cx="3273552" cy="822960"/>
          </a:xfrm>
          <a:prstGeom prst="rect">
            <a:avLst/>
          </a:prstGeom>
          <a:noFill/>
          <a:ln/>
        </p:spPr>
        <p:txBody>
          <a:bodyPr wrap="square" lIns="0" tIns="0" rIns="0" bIns="0" rtlCol="0" anchor="ctr"/>
          <a:lstStyle/>
          <a:p>
            <a:pPr marL="0" indent="0">
              <a:lnSpc>
                <a:spcPct val="122000"/>
              </a:lnSpc>
              <a:buNone/>
            </a:pPr>
            <a:r>
              <a:rPr lang="en-US" sz="950" dirty="0">
                <a:solidFill>
                  <a:srgbClr val="4B5280"/>
                </a:solidFill>
                <a:latin typeface="Calibri" pitchFamily="34" charset="0"/>
                <a:ea typeface="Calibri" pitchFamily="34" charset="-122"/>
                <a:cs typeface="Calibri" pitchFamily="34" charset="-120"/>
              </a:rPr>
              <a:t>Machine-learning pattern engine trained on 15 years of market cycles, sector rotations, and institutional flow data. Identifies high-probability decision windows before consensus forms.</a:t>
            </a:r>
            <a:endParaRPr lang="en-US" sz="950" dirty="0"/>
          </a:p>
        </p:txBody>
      </p:sp>
      <p:sp>
        <p:nvSpPr>
          <p:cNvPr id="28" name="Shape 26"/>
          <p:cNvSpPr/>
          <p:nvPr/>
        </p:nvSpPr>
        <p:spPr>
          <a:xfrm>
            <a:off x="4663440" y="3310128"/>
            <a:ext cx="4114800" cy="1444752"/>
          </a:xfrm>
          <a:prstGeom prst="rect">
            <a:avLst/>
          </a:prstGeom>
          <a:solidFill>
            <a:srgbClr val="FFFFFF"/>
          </a:solidFill>
          <a:ln w="15240">
            <a:solidFill>
              <a:srgbClr val="F59E0B"/>
            </a:solidFill>
            <a:prstDash val="solid"/>
          </a:ln>
          <a:effectLst>
            <a:outerShdw blurRad="101600" dist="38100" dir="8100000" algn="bl" rotWithShape="0">
              <a:srgbClr val="000000">
                <a:alpha val="12000"/>
              </a:srgbClr>
            </a:outerShdw>
          </a:effectLst>
        </p:spPr>
        <p:txBody>
          <a:bodyPr/>
          <a:lstStyle/>
          <a:p>
            <a:endParaRPr lang="en-IN"/>
          </a:p>
        </p:txBody>
      </p:sp>
      <p:sp>
        <p:nvSpPr>
          <p:cNvPr id="29" name="Shape 27"/>
          <p:cNvSpPr/>
          <p:nvPr/>
        </p:nvSpPr>
        <p:spPr>
          <a:xfrm>
            <a:off x="4663440" y="3310128"/>
            <a:ext cx="50292" cy="1444752"/>
          </a:xfrm>
          <a:prstGeom prst="rect">
            <a:avLst/>
          </a:prstGeom>
          <a:solidFill>
            <a:srgbClr val="F59E0B"/>
          </a:solidFill>
          <a:ln w="12700">
            <a:solidFill>
              <a:srgbClr val="F59E0B"/>
            </a:solidFill>
            <a:prstDash val="solid"/>
          </a:ln>
        </p:spPr>
        <p:txBody>
          <a:bodyPr/>
          <a:lstStyle/>
          <a:p>
            <a:endParaRPr lang="en-IN"/>
          </a:p>
        </p:txBody>
      </p:sp>
      <p:sp>
        <p:nvSpPr>
          <p:cNvPr id="30" name="Shape 28"/>
          <p:cNvSpPr/>
          <p:nvPr/>
        </p:nvSpPr>
        <p:spPr>
          <a:xfrm>
            <a:off x="4773168" y="3566160"/>
            <a:ext cx="502920" cy="502920"/>
          </a:xfrm>
          <a:prstGeom prst="ellipse">
            <a:avLst/>
          </a:prstGeom>
          <a:solidFill>
            <a:srgbClr val="F59E0B"/>
          </a:solidFill>
          <a:ln w="12700">
            <a:solidFill>
              <a:srgbClr val="F59E0B"/>
            </a:solidFill>
            <a:prstDash val="solid"/>
          </a:ln>
        </p:spPr>
        <p:txBody>
          <a:bodyPr/>
          <a:lstStyle/>
          <a:p>
            <a:endParaRPr lang="en-IN"/>
          </a:p>
        </p:txBody>
      </p:sp>
      <p:sp>
        <p:nvSpPr>
          <p:cNvPr id="31" name="Text 29"/>
          <p:cNvSpPr/>
          <p:nvPr/>
        </p:nvSpPr>
        <p:spPr>
          <a:xfrm>
            <a:off x="4773168" y="356616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32" name="Text 30"/>
          <p:cNvSpPr/>
          <p:nvPr/>
        </p:nvSpPr>
        <p:spPr>
          <a:xfrm>
            <a:off x="5376672" y="3493008"/>
            <a:ext cx="3273552" cy="347472"/>
          </a:xfrm>
          <a:prstGeom prst="rect">
            <a:avLst/>
          </a:prstGeom>
          <a:noFill/>
          <a:ln/>
        </p:spPr>
        <p:txBody>
          <a:bodyPr wrap="square" lIns="0" tIns="0" rIns="0" bIns="0" rtlCol="0" anchor="ctr"/>
          <a:lstStyle/>
          <a:p>
            <a:pPr marL="0" indent="0">
              <a:buNone/>
            </a:pPr>
            <a:r>
              <a:rPr lang="en-US" sz="1000" b="1" dirty="0">
                <a:solidFill>
                  <a:srgbClr val="F59E0B"/>
                </a:solidFill>
                <a:latin typeface="Calibri" pitchFamily="34" charset="0"/>
                <a:ea typeface="Calibri" pitchFamily="34" charset="-122"/>
                <a:cs typeface="Calibri" pitchFamily="34" charset="-120"/>
              </a:rPr>
              <a:t>ANOMALY DETECTION</a:t>
            </a:r>
            <a:endParaRPr lang="en-US" sz="1000" dirty="0"/>
          </a:p>
        </p:txBody>
      </p:sp>
      <p:sp>
        <p:nvSpPr>
          <p:cNvPr id="33" name="Text 31"/>
          <p:cNvSpPr/>
          <p:nvPr/>
        </p:nvSpPr>
        <p:spPr>
          <a:xfrm>
            <a:off x="5376672" y="3822192"/>
            <a:ext cx="3273552" cy="822960"/>
          </a:xfrm>
          <a:prstGeom prst="rect">
            <a:avLst/>
          </a:prstGeom>
          <a:noFill/>
          <a:ln/>
        </p:spPr>
        <p:txBody>
          <a:bodyPr wrap="square" lIns="0" tIns="0" rIns="0" bIns="0" rtlCol="0" anchor="ctr"/>
          <a:lstStyle/>
          <a:p>
            <a:pPr marL="0" indent="0">
              <a:lnSpc>
                <a:spcPct val="122000"/>
              </a:lnSpc>
              <a:buNone/>
            </a:pPr>
            <a:r>
              <a:rPr lang="en-US" sz="950" dirty="0">
                <a:solidFill>
                  <a:srgbClr val="4B5280"/>
                </a:solidFill>
                <a:latin typeface="Calibri" pitchFamily="34" charset="0"/>
                <a:ea typeface="Calibri" pitchFamily="34" charset="-122"/>
                <a:cs typeface="Calibri" pitchFamily="34" charset="-120"/>
              </a:rPr>
              <a:t>Proactive deviation monitoring across price action, volume, options flow, and insider activity. Flags material anomalies before they propagate into portfolio loss events.</a:t>
            </a:r>
            <a:endParaRPr lang="en-US" sz="950" dirty="0"/>
          </a:p>
        </p:txBody>
      </p:sp>
      <p:sp>
        <p:nvSpPr>
          <p:cNvPr id="34" name="Shape 32"/>
          <p:cNvSpPr/>
          <p:nvPr/>
        </p:nvSpPr>
        <p:spPr>
          <a:xfrm>
            <a:off x="347472" y="4892040"/>
            <a:ext cx="8449056" cy="0"/>
          </a:xfrm>
          <a:prstGeom prst="rect">
            <a:avLst/>
          </a:prstGeom>
          <a:solidFill>
            <a:srgbClr val="0F1235"/>
          </a:solidFill>
          <a:ln w="15240">
            <a:solidFill>
              <a:srgbClr val="0F1235"/>
            </a:solidFill>
            <a:prstDash val="solid"/>
          </a:ln>
          <a:effectLst>
            <a:outerShdw blurRad="101600" dist="38100" dir="8100000" algn="bl" rotWithShape="0">
              <a:srgbClr val="000000">
                <a:alpha val="12000"/>
              </a:srgbClr>
            </a:outerShdw>
          </a:effectLst>
        </p:spPr>
        <p:txBody>
          <a:bodyPr/>
          <a:lstStyle/>
          <a:p>
            <a:endParaRPr lang="en-IN"/>
          </a:p>
        </p:txBody>
      </p:sp>
      <p:sp>
        <p:nvSpPr>
          <p:cNvPr id="35" name="Shape 33"/>
          <p:cNvSpPr/>
          <p:nvPr/>
        </p:nvSpPr>
        <p:spPr>
          <a:xfrm>
            <a:off x="347472" y="4892040"/>
            <a:ext cx="50292" cy="0"/>
          </a:xfrm>
          <a:prstGeom prst="rect">
            <a:avLst/>
          </a:prstGeom>
          <a:solidFill>
            <a:srgbClr val="0F1235"/>
          </a:solidFill>
          <a:ln w="12700">
            <a:solidFill>
              <a:srgbClr val="0F1235"/>
            </a:solidFill>
            <a:prstDash val="solid"/>
          </a:ln>
        </p:spPr>
        <p:txBody>
          <a:bodyPr/>
          <a:lstStyle/>
          <a:p>
            <a:endParaRPr lang="en-IN"/>
          </a:p>
        </p:txBody>
      </p:sp>
      <p:sp>
        <p:nvSpPr>
          <p:cNvPr id="36" name="Shape 34"/>
          <p:cNvSpPr/>
          <p:nvPr/>
        </p:nvSpPr>
        <p:spPr>
          <a:xfrm>
            <a:off x="347472" y="4892040"/>
            <a:ext cx="8449056" cy="164592"/>
          </a:xfrm>
          <a:prstGeom prst="rect">
            <a:avLst/>
          </a:prstGeom>
          <a:solidFill>
            <a:srgbClr val="1A1F5E"/>
          </a:solidFill>
          <a:ln w="12700">
            <a:solidFill>
              <a:srgbClr val="1A1F5E"/>
            </a:solidFill>
            <a:prstDash val="solid"/>
          </a:ln>
        </p:spPr>
        <p:txBody>
          <a:bodyPr/>
          <a:lstStyle/>
          <a:p>
            <a:endParaRPr lang="en-IN"/>
          </a:p>
        </p:txBody>
      </p:sp>
      <p:sp>
        <p:nvSpPr>
          <p:cNvPr id="37" name="Text 35"/>
          <p:cNvSpPr/>
          <p:nvPr/>
        </p:nvSpPr>
        <p:spPr>
          <a:xfrm>
            <a:off x="347472" y="4892040"/>
            <a:ext cx="8449056" cy="164592"/>
          </a:xfrm>
          <a:prstGeom prst="rect">
            <a:avLst/>
          </a:prstGeom>
          <a:noFill/>
          <a:ln/>
        </p:spPr>
        <p:txBody>
          <a:bodyPr wrap="square" lIns="0" tIns="0" rIns="0" bIns="0" rtlCol="0" anchor="ctr"/>
          <a:lstStyle/>
          <a:p>
            <a:pPr marL="0" indent="0" algn="ctr">
              <a:buNone/>
            </a:pPr>
            <a:r>
              <a:rPr lang="en-US" sz="850" b="1" dirty="0">
                <a:solidFill>
                  <a:srgbClr val="99AADD"/>
                </a:solidFill>
                <a:latin typeface="Calibri" pitchFamily="34" charset="0"/>
                <a:ea typeface="Calibri" pitchFamily="34" charset="-122"/>
                <a:cs typeface="Calibri" pitchFamily="34" charset="-120"/>
              </a:rPr>
              <a:t>ZERO-COST DECISION SUPPORT  ·  Fnomo reduces decision errors by providing pre-validated, scored intelligence before capital commitment.</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1F5E"/>
          </a:solidFill>
          <a:ln w="12700">
            <a:solidFill>
              <a:srgbClr val="1A1F5E"/>
            </a:solidFill>
            <a:prstDash val="solid"/>
          </a:ln>
        </p:spPr>
        <p:txBody>
          <a:bodyPr/>
          <a:lstStyle/>
          <a:p>
            <a:endParaRPr lang="en-IN"/>
          </a:p>
        </p:txBody>
      </p:sp>
      <p:sp>
        <p:nvSpPr>
          <p:cNvPr id="3" name="Shape 1"/>
          <p:cNvSpPr/>
          <p:nvPr/>
        </p:nvSpPr>
        <p:spPr>
          <a:xfrm>
            <a:off x="0" y="0"/>
            <a:ext cx="64008" cy="658368"/>
          </a:xfrm>
          <a:prstGeom prst="rect">
            <a:avLst/>
          </a:prstGeom>
          <a:solidFill>
            <a:srgbClr val="6B21C8"/>
          </a:solidFill>
          <a:ln w="12700">
            <a:solidFill>
              <a:srgbClr val="6B21C8"/>
            </a:solidFill>
            <a:prstDash val="solid"/>
          </a:ln>
        </p:spPr>
        <p:txBody>
          <a:bodyPr/>
          <a:lstStyle/>
          <a:p>
            <a:endParaRPr lang="en-IN"/>
          </a:p>
        </p:txBody>
      </p:sp>
      <p:sp>
        <p:nvSpPr>
          <p:cNvPr id="4" name="Text 2"/>
          <p:cNvSpPr/>
          <p:nvPr/>
        </p:nvSpPr>
        <p:spPr>
          <a:xfrm>
            <a:off x="164592" y="0"/>
            <a:ext cx="1371600" cy="65836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Fnomo</a:t>
            </a:r>
            <a:endParaRPr lang="en-US" sz="1300" dirty="0"/>
          </a:p>
        </p:txBody>
      </p:sp>
      <p:sp>
        <p:nvSpPr>
          <p:cNvPr id="5" name="Shape 3"/>
          <p:cNvSpPr/>
          <p:nvPr/>
        </p:nvSpPr>
        <p:spPr>
          <a:xfrm>
            <a:off x="1417320" y="219456"/>
            <a:ext cx="27432" cy="219456"/>
          </a:xfrm>
          <a:prstGeom prst="rect">
            <a:avLst/>
          </a:prstGeom>
          <a:solidFill>
            <a:srgbClr val="8888BB"/>
          </a:solidFill>
          <a:ln w="12700">
            <a:solidFill>
              <a:srgbClr val="8888BB"/>
            </a:solidFill>
            <a:prstDash val="solid"/>
          </a:ln>
        </p:spPr>
        <p:txBody>
          <a:bodyPr/>
          <a:lstStyle/>
          <a:p>
            <a:endParaRPr lang="en-IN"/>
          </a:p>
        </p:txBody>
      </p:sp>
      <p:sp>
        <p:nvSpPr>
          <p:cNvPr id="6" name="Text 4"/>
          <p:cNvSpPr/>
          <p:nvPr/>
        </p:nvSpPr>
        <p:spPr>
          <a:xfrm>
            <a:off x="1554480" y="0"/>
            <a:ext cx="5943600" cy="658368"/>
          </a:xfrm>
          <a:prstGeom prst="rect">
            <a:avLst/>
          </a:prstGeom>
          <a:noFill/>
          <a:ln/>
        </p:spPr>
        <p:txBody>
          <a:bodyPr wrap="square" lIns="0" tIns="0" rIns="0" bIns="0" rtlCol="0" anchor="ctr"/>
          <a:lstStyle/>
          <a:p>
            <a:pPr marL="0" indent="0">
              <a:buNone/>
            </a:pPr>
            <a:r>
              <a:rPr lang="en-US" sz="1100" b="1" kern="0" spc="200" dirty="0">
                <a:solidFill>
                  <a:srgbClr val="B0B8E8"/>
                </a:solidFill>
                <a:latin typeface="Calibri" pitchFamily="34" charset="0"/>
                <a:ea typeface="Calibri" pitchFamily="34" charset="-122"/>
                <a:cs typeface="Calibri" pitchFamily="34" charset="-120"/>
              </a:rPr>
              <a:t>STRATEGIC ANCHOR PROGRAM</a:t>
            </a:r>
            <a:endParaRPr lang="en-US" sz="1100" dirty="0"/>
          </a:p>
        </p:txBody>
      </p:sp>
      <p:sp>
        <p:nvSpPr>
          <p:cNvPr id="7" name="Text 5"/>
          <p:cNvSpPr/>
          <p:nvPr/>
        </p:nvSpPr>
        <p:spPr>
          <a:xfrm>
            <a:off x="7680960" y="0"/>
            <a:ext cx="1417320" cy="658368"/>
          </a:xfrm>
          <a:prstGeom prst="rect">
            <a:avLst/>
          </a:prstGeom>
          <a:noFill/>
          <a:ln/>
        </p:spPr>
        <p:txBody>
          <a:bodyPr wrap="square" lIns="0" tIns="0" rIns="0" bIns="0" rtlCol="0" anchor="ctr"/>
          <a:lstStyle/>
          <a:p>
            <a:pPr marL="0" indent="0" algn="r">
              <a:buNone/>
            </a:pPr>
            <a:r>
              <a:rPr lang="en-US" sz="900" dirty="0">
                <a:solidFill>
                  <a:srgbClr val="8888BB"/>
                </a:solidFill>
                <a:latin typeface="Calibri" pitchFamily="34" charset="0"/>
                <a:ea typeface="Calibri" pitchFamily="34" charset="-122"/>
                <a:cs typeface="Calibri" pitchFamily="34" charset="-120"/>
              </a:rPr>
              <a:t>Slide 7 of 11</a:t>
            </a:r>
            <a:endParaRPr lang="en-US" sz="900" dirty="0"/>
          </a:p>
        </p:txBody>
      </p:sp>
      <p:sp>
        <p:nvSpPr>
          <p:cNvPr id="8" name="Text 6"/>
          <p:cNvSpPr/>
          <p:nvPr/>
        </p:nvSpPr>
        <p:spPr>
          <a:xfrm>
            <a:off x="365760" y="804672"/>
            <a:ext cx="8412480" cy="384048"/>
          </a:xfrm>
          <a:prstGeom prst="rect">
            <a:avLst/>
          </a:prstGeom>
          <a:noFill/>
          <a:ln/>
        </p:spPr>
        <p:txBody>
          <a:bodyPr wrap="square" lIns="0" tIns="0" rIns="0" bIns="0" rtlCol="0" anchor="ctr"/>
          <a:lstStyle/>
          <a:p>
            <a:pPr marL="0" indent="0">
              <a:buNone/>
            </a:pPr>
            <a:r>
              <a:rPr lang="en-US" sz="2400" b="1" dirty="0">
                <a:solidFill>
                  <a:srgbClr val="1A1F5E"/>
                </a:solidFill>
                <a:latin typeface="Calibri" pitchFamily="34" charset="0"/>
                <a:ea typeface="Calibri" pitchFamily="34" charset="-122"/>
                <a:cs typeface="Calibri" pitchFamily="34" charset="-120"/>
              </a:rPr>
              <a:t>THE STRATEGIC ANCHOR PROGRAM</a:t>
            </a:r>
            <a:endParaRPr lang="en-US" sz="2400" dirty="0"/>
          </a:p>
        </p:txBody>
      </p:sp>
      <p:sp>
        <p:nvSpPr>
          <p:cNvPr id="9" name="Text 7"/>
          <p:cNvSpPr/>
          <p:nvPr/>
        </p:nvSpPr>
        <p:spPr>
          <a:xfrm>
            <a:off x="365760" y="1207008"/>
            <a:ext cx="8412480" cy="347472"/>
          </a:xfrm>
          <a:prstGeom prst="rect">
            <a:avLst/>
          </a:prstGeom>
          <a:noFill/>
          <a:ln/>
        </p:spPr>
        <p:txBody>
          <a:bodyPr wrap="square" lIns="0" tIns="0" rIns="0" bIns="0" rtlCol="0" anchor="ctr"/>
          <a:lstStyle/>
          <a:p>
            <a:pPr marL="0" indent="0">
              <a:buNone/>
            </a:pPr>
            <a:r>
              <a:rPr lang="en-US" sz="1100" i="1" dirty="0">
                <a:solidFill>
                  <a:srgbClr val="4B5280"/>
                </a:solidFill>
                <a:latin typeface="Calibri" pitchFamily="34" charset="0"/>
                <a:ea typeface="Calibri" pitchFamily="34" charset="-122"/>
                <a:cs typeface="Calibri" pitchFamily="34" charset="-120"/>
              </a:rPr>
              <a:t>Fnomo takes a new approach to institutional partnership — contextual dialogue drives commercial understanding.</a:t>
            </a:r>
            <a:endParaRPr lang="en-US" sz="1100" dirty="0"/>
          </a:p>
        </p:txBody>
      </p:sp>
      <p:sp>
        <p:nvSpPr>
          <p:cNvPr id="10" name="Text 8"/>
          <p:cNvSpPr/>
          <p:nvPr/>
        </p:nvSpPr>
        <p:spPr>
          <a:xfrm>
            <a:off x="365760" y="1691640"/>
            <a:ext cx="4663440" cy="256032"/>
          </a:xfrm>
          <a:prstGeom prst="rect">
            <a:avLst/>
          </a:prstGeom>
          <a:noFill/>
          <a:ln/>
        </p:spPr>
        <p:txBody>
          <a:bodyPr wrap="square" lIns="0" tIns="0" rIns="0" bIns="0" rtlCol="0" anchor="ctr"/>
          <a:lstStyle/>
          <a:p>
            <a:pPr marL="0" indent="0">
              <a:buNone/>
            </a:pPr>
            <a:r>
              <a:rPr lang="en-US" sz="1000" b="1" dirty="0">
                <a:solidFill>
                  <a:srgbClr val="6B21C8"/>
                </a:solidFill>
                <a:latin typeface="Calibri" pitchFamily="34" charset="0"/>
                <a:ea typeface="Calibri" pitchFamily="34" charset="-122"/>
                <a:cs typeface="Calibri" pitchFamily="34" charset="-120"/>
              </a:rPr>
              <a:t>STRATEGIC ANCHOR PROGRAM</a:t>
            </a:r>
            <a:endParaRPr lang="en-US" sz="1000" dirty="0"/>
          </a:p>
        </p:txBody>
      </p:sp>
      <p:sp>
        <p:nvSpPr>
          <p:cNvPr id="11" name="Shape 9"/>
          <p:cNvSpPr/>
          <p:nvPr/>
        </p:nvSpPr>
        <p:spPr>
          <a:xfrm>
            <a:off x="365760" y="1993392"/>
            <a:ext cx="4663440" cy="731520"/>
          </a:xfrm>
          <a:prstGeom prst="rect">
            <a:avLst/>
          </a:prstGeom>
          <a:solidFill>
            <a:srgbClr val="FFFFFF"/>
          </a:solidFill>
          <a:ln w="15240">
            <a:solidFill>
              <a:srgbClr val="6B21C8"/>
            </a:solidFill>
            <a:prstDash val="solid"/>
          </a:ln>
          <a:effectLst>
            <a:outerShdw blurRad="101600" dist="38100" dir="8100000" algn="bl" rotWithShape="0">
              <a:srgbClr val="000000">
                <a:alpha val="12000"/>
              </a:srgbClr>
            </a:outerShdw>
          </a:effectLst>
        </p:spPr>
        <p:txBody>
          <a:bodyPr/>
          <a:lstStyle/>
          <a:p>
            <a:endParaRPr lang="en-IN"/>
          </a:p>
        </p:txBody>
      </p:sp>
      <p:sp>
        <p:nvSpPr>
          <p:cNvPr id="12" name="Shape 10"/>
          <p:cNvSpPr/>
          <p:nvPr/>
        </p:nvSpPr>
        <p:spPr>
          <a:xfrm>
            <a:off x="365760" y="1993392"/>
            <a:ext cx="50292" cy="731520"/>
          </a:xfrm>
          <a:prstGeom prst="rect">
            <a:avLst/>
          </a:prstGeom>
          <a:solidFill>
            <a:srgbClr val="6B21C8"/>
          </a:solidFill>
          <a:ln w="12700">
            <a:solidFill>
              <a:srgbClr val="6B21C8"/>
            </a:solidFill>
            <a:prstDash val="solid"/>
          </a:ln>
        </p:spPr>
        <p:txBody>
          <a:bodyPr/>
          <a:lstStyle/>
          <a:p>
            <a:endParaRPr lang="en-IN"/>
          </a:p>
        </p:txBody>
      </p:sp>
      <p:sp>
        <p:nvSpPr>
          <p:cNvPr id="13" name="Text 11"/>
          <p:cNvSpPr/>
          <p:nvPr/>
        </p:nvSpPr>
        <p:spPr>
          <a:xfrm>
            <a:off x="512064" y="2057400"/>
            <a:ext cx="4407408" cy="594360"/>
          </a:xfrm>
          <a:prstGeom prst="rect">
            <a:avLst/>
          </a:prstGeom>
          <a:noFill/>
          <a:ln/>
        </p:spPr>
        <p:txBody>
          <a:bodyPr wrap="square" lIns="0" tIns="0" rIns="0" bIns="0" rtlCol="0" anchor="ctr"/>
          <a:lstStyle/>
          <a:p>
            <a:pPr marL="0" indent="0">
              <a:lnSpc>
                <a:spcPct val="122000"/>
              </a:lnSpc>
              <a:buNone/>
            </a:pPr>
            <a:r>
              <a:rPr lang="en-US" sz="950" dirty="0">
                <a:solidFill>
                  <a:srgbClr val="4B5280"/>
                </a:solidFill>
                <a:latin typeface="Calibri" pitchFamily="34" charset="0"/>
                <a:ea typeface="Calibri" pitchFamily="34" charset="-122"/>
                <a:cs typeface="Calibri" pitchFamily="34" charset="-120"/>
              </a:rPr>
              <a:t>Select anchor partners are embedded at the infrastructure level — not as vendors, but as co-architects of the decision intelligence layer.</a:t>
            </a:r>
            <a:endParaRPr lang="en-US" sz="950" dirty="0"/>
          </a:p>
        </p:txBody>
      </p:sp>
      <p:sp>
        <p:nvSpPr>
          <p:cNvPr id="14" name="Shape 12"/>
          <p:cNvSpPr/>
          <p:nvPr/>
        </p:nvSpPr>
        <p:spPr>
          <a:xfrm>
            <a:off x="365760" y="2816352"/>
            <a:ext cx="4663440" cy="731520"/>
          </a:xfrm>
          <a:prstGeom prst="rect">
            <a:avLst/>
          </a:prstGeom>
          <a:solidFill>
            <a:srgbClr val="FFFFFF"/>
          </a:solidFill>
          <a:ln w="15240">
            <a:solidFill>
              <a:srgbClr val="6B21C8"/>
            </a:solidFill>
            <a:prstDash val="solid"/>
          </a:ln>
          <a:effectLst>
            <a:outerShdw blurRad="101600" dist="38100" dir="8100000" algn="bl" rotWithShape="0">
              <a:srgbClr val="000000">
                <a:alpha val="12000"/>
              </a:srgbClr>
            </a:outerShdw>
          </a:effectLst>
        </p:spPr>
        <p:txBody>
          <a:bodyPr/>
          <a:lstStyle/>
          <a:p>
            <a:endParaRPr lang="en-IN"/>
          </a:p>
        </p:txBody>
      </p:sp>
      <p:sp>
        <p:nvSpPr>
          <p:cNvPr id="15" name="Shape 13"/>
          <p:cNvSpPr/>
          <p:nvPr/>
        </p:nvSpPr>
        <p:spPr>
          <a:xfrm>
            <a:off x="365760" y="2816352"/>
            <a:ext cx="50292" cy="731520"/>
          </a:xfrm>
          <a:prstGeom prst="rect">
            <a:avLst/>
          </a:prstGeom>
          <a:solidFill>
            <a:srgbClr val="6B21C8"/>
          </a:solidFill>
          <a:ln w="12700">
            <a:solidFill>
              <a:srgbClr val="6B21C8"/>
            </a:solidFill>
            <a:prstDash val="solid"/>
          </a:ln>
        </p:spPr>
        <p:txBody>
          <a:bodyPr/>
          <a:lstStyle/>
          <a:p>
            <a:endParaRPr lang="en-IN"/>
          </a:p>
        </p:txBody>
      </p:sp>
      <p:sp>
        <p:nvSpPr>
          <p:cNvPr id="16" name="Text 14"/>
          <p:cNvSpPr/>
          <p:nvPr/>
        </p:nvSpPr>
        <p:spPr>
          <a:xfrm>
            <a:off x="512064" y="2880360"/>
            <a:ext cx="4407408" cy="594360"/>
          </a:xfrm>
          <a:prstGeom prst="rect">
            <a:avLst/>
          </a:prstGeom>
          <a:noFill/>
          <a:ln/>
        </p:spPr>
        <p:txBody>
          <a:bodyPr wrap="square" lIns="0" tIns="0" rIns="0" bIns="0" rtlCol="0" anchor="ctr"/>
          <a:lstStyle/>
          <a:p>
            <a:pPr marL="0" indent="0">
              <a:lnSpc>
                <a:spcPct val="122000"/>
              </a:lnSpc>
              <a:buNone/>
            </a:pPr>
            <a:r>
              <a:rPr lang="en-US" sz="950" dirty="0">
                <a:solidFill>
                  <a:srgbClr val="4B5280"/>
                </a:solidFill>
                <a:latin typeface="Calibri" pitchFamily="34" charset="0"/>
                <a:ea typeface="Calibri" pitchFamily="34" charset="-122"/>
                <a:cs typeface="Calibri" pitchFamily="34" charset="-120"/>
              </a:rPr>
              <a:t>Anchor partners receive exclusive data integration rights, co-branded product placement within the Fnomo platform, and revenue participation structured around platform growth.</a:t>
            </a:r>
            <a:endParaRPr lang="en-US" sz="950" dirty="0"/>
          </a:p>
        </p:txBody>
      </p:sp>
      <p:sp>
        <p:nvSpPr>
          <p:cNvPr id="17" name="Shape 15"/>
          <p:cNvSpPr/>
          <p:nvPr/>
        </p:nvSpPr>
        <p:spPr>
          <a:xfrm>
            <a:off x="365760" y="3639312"/>
            <a:ext cx="4663440" cy="731520"/>
          </a:xfrm>
          <a:prstGeom prst="rect">
            <a:avLst/>
          </a:prstGeom>
          <a:solidFill>
            <a:srgbClr val="FFFFFF"/>
          </a:solidFill>
          <a:ln w="15240">
            <a:solidFill>
              <a:srgbClr val="6B21C8"/>
            </a:solidFill>
            <a:prstDash val="solid"/>
          </a:ln>
          <a:effectLst>
            <a:outerShdw blurRad="101600" dist="38100" dir="8100000" algn="bl" rotWithShape="0">
              <a:srgbClr val="000000">
                <a:alpha val="12000"/>
              </a:srgbClr>
            </a:outerShdw>
          </a:effectLst>
        </p:spPr>
        <p:txBody>
          <a:bodyPr/>
          <a:lstStyle/>
          <a:p>
            <a:endParaRPr lang="en-IN"/>
          </a:p>
        </p:txBody>
      </p:sp>
      <p:sp>
        <p:nvSpPr>
          <p:cNvPr id="18" name="Shape 16"/>
          <p:cNvSpPr/>
          <p:nvPr/>
        </p:nvSpPr>
        <p:spPr>
          <a:xfrm>
            <a:off x="365760" y="3639312"/>
            <a:ext cx="50292" cy="731520"/>
          </a:xfrm>
          <a:prstGeom prst="rect">
            <a:avLst/>
          </a:prstGeom>
          <a:solidFill>
            <a:srgbClr val="6B21C8"/>
          </a:solidFill>
          <a:ln w="12700">
            <a:solidFill>
              <a:srgbClr val="6B21C8"/>
            </a:solidFill>
            <a:prstDash val="solid"/>
          </a:ln>
        </p:spPr>
        <p:txBody>
          <a:bodyPr/>
          <a:lstStyle/>
          <a:p>
            <a:endParaRPr lang="en-IN"/>
          </a:p>
        </p:txBody>
      </p:sp>
      <p:sp>
        <p:nvSpPr>
          <p:cNvPr id="19" name="Text 17"/>
          <p:cNvSpPr/>
          <p:nvPr/>
        </p:nvSpPr>
        <p:spPr>
          <a:xfrm>
            <a:off x="512064" y="3703320"/>
            <a:ext cx="4407408" cy="594360"/>
          </a:xfrm>
          <a:prstGeom prst="rect">
            <a:avLst/>
          </a:prstGeom>
          <a:noFill/>
          <a:ln/>
        </p:spPr>
        <p:txBody>
          <a:bodyPr wrap="square" lIns="0" tIns="0" rIns="0" bIns="0" rtlCol="0" anchor="ctr"/>
          <a:lstStyle/>
          <a:p>
            <a:pPr marL="0" indent="0">
              <a:lnSpc>
                <a:spcPct val="122000"/>
              </a:lnSpc>
              <a:buNone/>
            </a:pPr>
            <a:r>
              <a:rPr lang="en-US" sz="950" dirty="0">
                <a:solidFill>
                  <a:srgbClr val="4B5280"/>
                </a:solidFill>
                <a:latin typeface="Calibri" pitchFamily="34" charset="0"/>
                <a:ea typeface="Calibri" pitchFamily="34" charset="-122"/>
                <a:cs typeface="Calibri" pitchFamily="34" charset="-120"/>
              </a:rPr>
              <a:t>The Strategic Anchor Program operates on a closed-invitation basis with a maximum of 12 anchor positions globally, ensuring competitive exclusivity and preferential commercial terms.</a:t>
            </a:r>
            <a:endParaRPr lang="en-US" sz="950" dirty="0"/>
          </a:p>
        </p:txBody>
      </p:sp>
      <p:sp>
        <p:nvSpPr>
          <p:cNvPr id="20" name="Shape 18"/>
          <p:cNvSpPr/>
          <p:nvPr/>
        </p:nvSpPr>
        <p:spPr>
          <a:xfrm>
            <a:off x="365760" y="4480560"/>
            <a:ext cx="1481328" cy="566928"/>
          </a:xfrm>
          <a:prstGeom prst="rect">
            <a:avLst/>
          </a:prstGeom>
          <a:solidFill>
            <a:srgbClr val="FFFFFF"/>
          </a:solidFill>
          <a:ln w="12700">
            <a:solidFill>
              <a:srgbClr val="E8EAF4"/>
            </a:solidFill>
            <a:prstDash val="solid"/>
          </a:ln>
          <a:effectLst>
            <a:outerShdw blurRad="101600" dist="38100" dir="8100000" algn="bl" rotWithShape="0">
              <a:srgbClr val="000000">
                <a:alpha val="12000"/>
              </a:srgbClr>
            </a:outerShdw>
          </a:effectLst>
        </p:spPr>
        <p:txBody>
          <a:bodyPr/>
          <a:lstStyle/>
          <a:p>
            <a:endParaRPr lang="en-IN"/>
          </a:p>
        </p:txBody>
      </p:sp>
      <p:sp>
        <p:nvSpPr>
          <p:cNvPr id="21" name="Shape 19"/>
          <p:cNvSpPr/>
          <p:nvPr/>
        </p:nvSpPr>
        <p:spPr>
          <a:xfrm>
            <a:off x="365760" y="4480560"/>
            <a:ext cx="1481328" cy="45720"/>
          </a:xfrm>
          <a:prstGeom prst="rect">
            <a:avLst/>
          </a:prstGeom>
          <a:solidFill>
            <a:srgbClr val="6B21C8"/>
          </a:solidFill>
          <a:ln w="12700">
            <a:solidFill>
              <a:srgbClr val="6B21C8"/>
            </a:solidFill>
            <a:prstDash val="solid"/>
          </a:ln>
        </p:spPr>
        <p:txBody>
          <a:bodyPr/>
          <a:lstStyle/>
          <a:p>
            <a:endParaRPr lang="en-IN"/>
          </a:p>
        </p:txBody>
      </p:sp>
      <p:sp>
        <p:nvSpPr>
          <p:cNvPr id="22" name="Text 20"/>
          <p:cNvSpPr/>
          <p:nvPr/>
        </p:nvSpPr>
        <p:spPr>
          <a:xfrm>
            <a:off x="365760" y="4535424"/>
            <a:ext cx="1481328" cy="274320"/>
          </a:xfrm>
          <a:prstGeom prst="rect">
            <a:avLst/>
          </a:prstGeom>
          <a:noFill/>
          <a:ln/>
        </p:spPr>
        <p:txBody>
          <a:bodyPr wrap="square" lIns="0" tIns="0" rIns="0" bIns="0" rtlCol="0" anchor="ctr"/>
          <a:lstStyle/>
          <a:p>
            <a:pPr marL="0" indent="0" algn="ctr">
              <a:buNone/>
            </a:pPr>
            <a:r>
              <a:rPr lang="en-US" sz="1600" b="1" dirty="0">
                <a:solidFill>
                  <a:srgbClr val="6B21C8"/>
                </a:solidFill>
                <a:latin typeface="Calibri" pitchFamily="34" charset="0"/>
                <a:ea typeface="Calibri" pitchFamily="34" charset="-122"/>
                <a:cs typeface="Calibri" pitchFamily="34" charset="-120"/>
              </a:rPr>
              <a:t>12</a:t>
            </a:r>
            <a:endParaRPr lang="en-US" sz="1600" dirty="0"/>
          </a:p>
        </p:txBody>
      </p:sp>
      <p:sp>
        <p:nvSpPr>
          <p:cNvPr id="23" name="Text 21"/>
          <p:cNvSpPr/>
          <p:nvPr/>
        </p:nvSpPr>
        <p:spPr>
          <a:xfrm>
            <a:off x="365760" y="4809744"/>
            <a:ext cx="1481328" cy="219456"/>
          </a:xfrm>
          <a:prstGeom prst="rect">
            <a:avLst/>
          </a:prstGeom>
          <a:noFill/>
          <a:ln/>
        </p:spPr>
        <p:txBody>
          <a:bodyPr wrap="square" lIns="0" tIns="0" rIns="0" bIns="0" rtlCol="0" anchor="ctr"/>
          <a:lstStyle/>
          <a:p>
            <a:pPr marL="0" indent="0" algn="ctr">
              <a:buNone/>
            </a:pPr>
            <a:r>
              <a:rPr lang="en-US" sz="750" dirty="0">
                <a:solidFill>
                  <a:srgbClr val="4B5280"/>
                </a:solidFill>
                <a:latin typeface="Calibri" pitchFamily="34" charset="0"/>
                <a:ea typeface="Calibri" pitchFamily="34" charset="-122"/>
                <a:cs typeface="Calibri" pitchFamily="34" charset="-120"/>
              </a:rPr>
              <a:t>Max anchor positions globally</a:t>
            </a:r>
            <a:endParaRPr lang="en-US" sz="750" dirty="0"/>
          </a:p>
        </p:txBody>
      </p:sp>
      <p:sp>
        <p:nvSpPr>
          <p:cNvPr id="24" name="Shape 22"/>
          <p:cNvSpPr/>
          <p:nvPr/>
        </p:nvSpPr>
        <p:spPr>
          <a:xfrm>
            <a:off x="1938528" y="4480560"/>
            <a:ext cx="1481328" cy="566928"/>
          </a:xfrm>
          <a:prstGeom prst="rect">
            <a:avLst/>
          </a:prstGeom>
          <a:solidFill>
            <a:srgbClr val="FFFFFF"/>
          </a:solidFill>
          <a:ln w="12700">
            <a:solidFill>
              <a:srgbClr val="E8EAF4"/>
            </a:solidFill>
            <a:prstDash val="solid"/>
          </a:ln>
          <a:effectLst>
            <a:outerShdw blurRad="101600" dist="38100" dir="8100000" algn="bl" rotWithShape="0">
              <a:srgbClr val="000000">
                <a:alpha val="12000"/>
              </a:srgbClr>
            </a:outerShdw>
          </a:effectLst>
        </p:spPr>
        <p:txBody>
          <a:bodyPr/>
          <a:lstStyle/>
          <a:p>
            <a:endParaRPr lang="en-IN"/>
          </a:p>
        </p:txBody>
      </p:sp>
      <p:sp>
        <p:nvSpPr>
          <p:cNvPr id="25" name="Shape 23"/>
          <p:cNvSpPr/>
          <p:nvPr/>
        </p:nvSpPr>
        <p:spPr>
          <a:xfrm>
            <a:off x="1938528" y="4480560"/>
            <a:ext cx="1481328" cy="45720"/>
          </a:xfrm>
          <a:prstGeom prst="rect">
            <a:avLst/>
          </a:prstGeom>
          <a:solidFill>
            <a:srgbClr val="2563EB"/>
          </a:solidFill>
          <a:ln w="12700">
            <a:solidFill>
              <a:srgbClr val="2563EB"/>
            </a:solidFill>
            <a:prstDash val="solid"/>
          </a:ln>
        </p:spPr>
        <p:txBody>
          <a:bodyPr/>
          <a:lstStyle/>
          <a:p>
            <a:endParaRPr lang="en-IN"/>
          </a:p>
        </p:txBody>
      </p:sp>
      <p:sp>
        <p:nvSpPr>
          <p:cNvPr id="26" name="Text 24"/>
          <p:cNvSpPr/>
          <p:nvPr/>
        </p:nvSpPr>
        <p:spPr>
          <a:xfrm>
            <a:off x="1938528" y="4535424"/>
            <a:ext cx="1481328" cy="274320"/>
          </a:xfrm>
          <a:prstGeom prst="rect">
            <a:avLst/>
          </a:prstGeom>
          <a:noFill/>
          <a:ln/>
        </p:spPr>
        <p:txBody>
          <a:bodyPr wrap="square" lIns="0" tIns="0" rIns="0" bIns="0" rtlCol="0" anchor="ctr"/>
          <a:lstStyle/>
          <a:p>
            <a:pPr marL="0" indent="0" algn="ctr">
              <a:buNone/>
            </a:pPr>
            <a:r>
              <a:rPr lang="en-US" sz="1600" b="1" dirty="0">
                <a:solidFill>
                  <a:srgbClr val="2563EB"/>
                </a:solidFill>
                <a:latin typeface="Calibri" pitchFamily="34" charset="0"/>
                <a:ea typeface="Calibri" pitchFamily="34" charset="-122"/>
                <a:cs typeface="Calibri" pitchFamily="34" charset="-120"/>
              </a:rPr>
              <a:t>Closed</a:t>
            </a:r>
            <a:endParaRPr lang="en-US" sz="1600" dirty="0"/>
          </a:p>
        </p:txBody>
      </p:sp>
      <p:sp>
        <p:nvSpPr>
          <p:cNvPr id="27" name="Text 25"/>
          <p:cNvSpPr/>
          <p:nvPr/>
        </p:nvSpPr>
        <p:spPr>
          <a:xfrm>
            <a:off x="1938528" y="4809744"/>
            <a:ext cx="1481328" cy="219456"/>
          </a:xfrm>
          <a:prstGeom prst="rect">
            <a:avLst/>
          </a:prstGeom>
          <a:noFill/>
          <a:ln/>
        </p:spPr>
        <p:txBody>
          <a:bodyPr wrap="square" lIns="0" tIns="0" rIns="0" bIns="0" rtlCol="0" anchor="ctr"/>
          <a:lstStyle/>
          <a:p>
            <a:pPr marL="0" indent="0" algn="ctr">
              <a:buNone/>
            </a:pPr>
            <a:r>
              <a:rPr lang="en-US" sz="750" dirty="0">
                <a:solidFill>
                  <a:srgbClr val="4B5280"/>
                </a:solidFill>
                <a:latin typeface="Calibri" pitchFamily="34" charset="0"/>
                <a:ea typeface="Calibri" pitchFamily="34" charset="-122"/>
                <a:cs typeface="Calibri" pitchFamily="34" charset="-120"/>
              </a:rPr>
              <a:t>Invitation-only program</a:t>
            </a:r>
            <a:endParaRPr lang="en-US" sz="750" dirty="0"/>
          </a:p>
        </p:txBody>
      </p:sp>
      <p:sp>
        <p:nvSpPr>
          <p:cNvPr id="28" name="Shape 26"/>
          <p:cNvSpPr/>
          <p:nvPr/>
        </p:nvSpPr>
        <p:spPr>
          <a:xfrm>
            <a:off x="3511296" y="4480560"/>
            <a:ext cx="1481328" cy="566928"/>
          </a:xfrm>
          <a:prstGeom prst="rect">
            <a:avLst/>
          </a:prstGeom>
          <a:solidFill>
            <a:srgbClr val="FFFFFF"/>
          </a:solidFill>
          <a:ln w="12700">
            <a:solidFill>
              <a:srgbClr val="E8EAF4"/>
            </a:solidFill>
            <a:prstDash val="solid"/>
          </a:ln>
          <a:effectLst>
            <a:outerShdw blurRad="101600" dist="38100" dir="8100000" algn="bl" rotWithShape="0">
              <a:srgbClr val="000000">
                <a:alpha val="12000"/>
              </a:srgbClr>
            </a:outerShdw>
          </a:effectLst>
        </p:spPr>
        <p:txBody>
          <a:bodyPr/>
          <a:lstStyle/>
          <a:p>
            <a:endParaRPr lang="en-IN"/>
          </a:p>
        </p:txBody>
      </p:sp>
      <p:sp>
        <p:nvSpPr>
          <p:cNvPr id="29" name="Shape 27"/>
          <p:cNvSpPr/>
          <p:nvPr/>
        </p:nvSpPr>
        <p:spPr>
          <a:xfrm>
            <a:off x="3511296" y="4480560"/>
            <a:ext cx="1481328" cy="45720"/>
          </a:xfrm>
          <a:prstGeom prst="rect">
            <a:avLst/>
          </a:prstGeom>
          <a:solidFill>
            <a:srgbClr val="10B981"/>
          </a:solidFill>
          <a:ln w="12700">
            <a:solidFill>
              <a:srgbClr val="10B981"/>
            </a:solidFill>
            <a:prstDash val="solid"/>
          </a:ln>
        </p:spPr>
        <p:txBody>
          <a:bodyPr/>
          <a:lstStyle/>
          <a:p>
            <a:endParaRPr lang="en-IN"/>
          </a:p>
        </p:txBody>
      </p:sp>
      <p:sp>
        <p:nvSpPr>
          <p:cNvPr id="30" name="Text 28"/>
          <p:cNvSpPr/>
          <p:nvPr/>
        </p:nvSpPr>
        <p:spPr>
          <a:xfrm>
            <a:off x="3511296" y="4535424"/>
            <a:ext cx="1481328" cy="274320"/>
          </a:xfrm>
          <a:prstGeom prst="rect">
            <a:avLst/>
          </a:prstGeom>
          <a:noFill/>
          <a:ln/>
        </p:spPr>
        <p:txBody>
          <a:bodyPr wrap="square" lIns="0" tIns="0" rIns="0" bIns="0" rtlCol="0" anchor="ctr"/>
          <a:lstStyle/>
          <a:p>
            <a:pPr marL="0" indent="0" algn="ctr">
              <a:buNone/>
            </a:pPr>
            <a:r>
              <a:rPr lang="en-US" sz="1600" b="1" dirty="0">
                <a:solidFill>
                  <a:srgbClr val="10B981"/>
                </a:solidFill>
                <a:latin typeface="Calibri" pitchFamily="34" charset="0"/>
                <a:ea typeface="Calibri" pitchFamily="34" charset="-122"/>
                <a:cs typeface="Calibri" pitchFamily="34" charset="-120"/>
              </a:rPr>
              <a:t>Rev-Share</a:t>
            </a:r>
            <a:endParaRPr lang="en-US" sz="1600" dirty="0"/>
          </a:p>
        </p:txBody>
      </p:sp>
      <p:sp>
        <p:nvSpPr>
          <p:cNvPr id="31" name="Text 29"/>
          <p:cNvSpPr/>
          <p:nvPr/>
        </p:nvSpPr>
        <p:spPr>
          <a:xfrm>
            <a:off x="3511296" y="4809744"/>
            <a:ext cx="1481328" cy="219456"/>
          </a:xfrm>
          <a:prstGeom prst="rect">
            <a:avLst/>
          </a:prstGeom>
          <a:noFill/>
          <a:ln/>
        </p:spPr>
        <p:txBody>
          <a:bodyPr wrap="square" lIns="0" tIns="0" rIns="0" bIns="0" rtlCol="0" anchor="ctr"/>
          <a:lstStyle/>
          <a:p>
            <a:pPr marL="0" indent="0" algn="ctr">
              <a:buNone/>
            </a:pPr>
            <a:r>
              <a:rPr lang="en-US" sz="750" dirty="0">
                <a:solidFill>
                  <a:srgbClr val="4B5280"/>
                </a:solidFill>
                <a:latin typeface="Calibri" pitchFamily="34" charset="0"/>
                <a:ea typeface="Calibri" pitchFamily="34" charset="-122"/>
                <a:cs typeface="Calibri" pitchFamily="34" charset="-120"/>
              </a:rPr>
              <a:t>Revenue participation</a:t>
            </a:r>
            <a:endParaRPr lang="en-US" sz="750" dirty="0"/>
          </a:p>
        </p:txBody>
      </p:sp>
      <p:sp>
        <p:nvSpPr>
          <p:cNvPr id="32" name="Shape 30"/>
          <p:cNvSpPr/>
          <p:nvPr/>
        </p:nvSpPr>
        <p:spPr>
          <a:xfrm>
            <a:off x="5166360" y="1691640"/>
            <a:ext cx="3657600" cy="3337560"/>
          </a:xfrm>
          <a:prstGeom prst="rect">
            <a:avLst/>
          </a:prstGeom>
          <a:solidFill>
            <a:srgbClr val="1A1F5E"/>
          </a:solidFill>
          <a:ln w="15240">
            <a:solidFill>
              <a:srgbClr val="1A1F5E"/>
            </a:solidFill>
            <a:prstDash val="solid"/>
          </a:ln>
          <a:effectLst>
            <a:outerShdw blurRad="101600" dist="38100" dir="8100000" algn="bl" rotWithShape="0">
              <a:srgbClr val="000000">
                <a:alpha val="12000"/>
              </a:srgbClr>
            </a:outerShdw>
          </a:effectLst>
        </p:spPr>
        <p:txBody>
          <a:bodyPr/>
          <a:lstStyle/>
          <a:p>
            <a:endParaRPr lang="en-IN"/>
          </a:p>
        </p:txBody>
      </p:sp>
      <p:sp>
        <p:nvSpPr>
          <p:cNvPr id="33" name="Shape 31"/>
          <p:cNvSpPr/>
          <p:nvPr/>
        </p:nvSpPr>
        <p:spPr>
          <a:xfrm>
            <a:off x="5166360" y="1691640"/>
            <a:ext cx="50292" cy="3337560"/>
          </a:xfrm>
          <a:prstGeom prst="rect">
            <a:avLst/>
          </a:prstGeom>
          <a:solidFill>
            <a:srgbClr val="1A1F5E"/>
          </a:solidFill>
          <a:ln w="12700">
            <a:solidFill>
              <a:srgbClr val="1A1F5E"/>
            </a:solidFill>
            <a:prstDash val="solid"/>
          </a:ln>
        </p:spPr>
        <p:txBody>
          <a:bodyPr/>
          <a:lstStyle/>
          <a:p>
            <a:endParaRPr lang="en-IN"/>
          </a:p>
        </p:txBody>
      </p:sp>
      <p:sp>
        <p:nvSpPr>
          <p:cNvPr id="34" name="Text 32"/>
          <p:cNvSpPr/>
          <p:nvPr/>
        </p:nvSpPr>
        <p:spPr>
          <a:xfrm>
            <a:off x="5303520" y="1810512"/>
            <a:ext cx="33832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ANCHOR INTEGRATION FLOW</a:t>
            </a:r>
            <a:endParaRPr lang="en-US" sz="900" dirty="0"/>
          </a:p>
        </p:txBody>
      </p:sp>
      <p:sp>
        <p:nvSpPr>
          <p:cNvPr id="35" name="Shape 33"/>
          <p:cNvSpPr/>
          <p:nvPr/>
        </p:nvSpPr>
        <p:spPr>
          <a:xfrm>
            <a:off x="5486400" y="2212848"/>
            <a:ext cx="3017520" cy="420624"/>
          </a:xfrm>
          <a:prstGeom prst="roundRect">
            <a:avLst>
              <a:gd name="adj" fmla="val 10870"/>
            </a:avLst>
          </a:prstGeom>
          <a:solidFill>
            <a:srgbClr val="6B21C8"/>
          </a:solidFill>
          <a:ln w="12700">
            <a:solidFill>
              <a:srgbClr val="6B21C8"/>
            </a:solidFill>
            <a:prstDash val="solid"/>
          </a:ln>
        </p:spPr>
        <p:txBody>
          <a:bodyPr/>
          <a:lstStyle/>
          <a:p>
            <a:endParaRPr lang="en-IN"/>
          </a:p>
        </p:txBody>
      </p:sp>
      <p:sp>
        <p:nvSpPr>
          <p:cNvPr id="36" name="Text 34"/>
          <p:cNvSpPr/>
          <p:nvPr/>
        </p:nvSpPr>
        <p:spPr>
          <a:xfrm>
            <a:off x="5486400" y="2212848"/>
            <a:ext cx="3017520" cy="42062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 PARTNER SELECTION</a:t>
            </a:r>
            <a:endParaRPr lang="en-US" sz="900" dirty="0"/>
          </a:p>
        </p:txBody>
      </p:sp>
      <p:sp>
        <p:nvSpPr>
          <p:cNvPr id="37" name="Shape 35"/>
          <p:cNvSpPr/>
          <p:nvPr/>
        </p:nvSpPr>
        <p:spPr>
          <a:xfrm>
            <a:off x="6995160" y="2633472"/>
            <a:ext cx="0" cy="173736"/>
          </a:xfrm>
          <a:prstGeom prst="line">
            <a:avLst/>
          </a:prstGeom>
          <a:noFill/>
          <a:ln w="19050">
            <a:solidFill>
              <a:srgbClr val="445588"/>
            </a:solidFill>
            <a:prstDash val="solid"/>
          </a:ln>
        </p:spPr>
        <p:txBody>
          <a:bodyPr/>
          <a:lstStyle/>
          <a:p>
            <a:endParaRPr lang="en-IN"/>
          </a:p>
        </p:txBody>
      </p:sp>
      <p:sp>
        <p:nvSpPr>
          <p:cNvPr id="38" name="Shape 36"/>
          <p:cNvSpPr/>
          <p:nvPr/>
        </p:nvSpPr>
        <p:spPr>
          <a:xfrm>
            <a:off x="5486400" y="2807208"/>
            <a:ext cx="3017520" cy="420624"/>
          </a:xfrm>
          <a:prstGeom prst="roundRect">
            <a:avLst>
              <a:gd name="adj" fmla="val 10870"/>
            </a:avLst>
          </a:prstGeom>
          <a:solidFill>
            <a:srgbClr val="2563EB"/>
          </a:solidFill>
          <a:ln w="12700">
            <a:solidFill>
              <a:srgbClr val="2563EB"/>
            </a:solidFill>
            <a:prstDash val="solid"/>
          </a:ln>
        </p:spPr>
        <p:txBody>
          <a:bodyPr/>
          <a:lstStyle/>
          <a:p>
            <a:endParaRPr lang="en-IN"/>
          </a:p>
        </p:txBody>
      </p:sp>
      <p:sp>
        <p:nvSpPr>
          <p:cNvPr id="39" name="Text 37"/>
          <p:cNvSpPr/>
          <p:nvPr/>
        </p:nvSpPr>
        <p:spPr>
          <a:xfrm>
            <a:off x="5486400" y="2807208"/>
            <a:ext cx="3017520" cy="42062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 CO-ARCHITECTURE</a:t>
            </a:r>
            <a:endParaRPr lang="en-US" sz="900" dirty="0"/>
          </a:p>
        </p:txBody>
      </p:sp>
      <p:sp>
        <p:nvSpPr>
          <p:cNvPr id="40" name="Shape 38"/>
          <p:cNvSpPr/>
          <p:nvPr/>
        </p:nvSpPr>
        <p:spPr>
          <a:xfrm>
            <a:off x="6995160" y="3227832"/>
            <a:ext cx="0" cy="173736"/>
          </a:xfrm>
          <a:prstGeom prst="line">
            <a:avLst/>
          </a:prstGeom>
          <a:noFill/>
          <a:ln w="19050">
            <a:solidFill>
              <a:srgbClr val="445588"/>
            </a:solidFill>
            <a:prstDash val="solid"/>
          </a:ln>
        </p:spPr>
        <p:txBody>
          <a:bodyPr/>
          <a:lstStyle/>
          <a:p>
            <a:endParaRPr lang="en-IN"/>
          </a:p>
        </p:txBody>
      </p:sp>
      <p:sp>
        <p:nvSpPr>
          <p:cNvPr id="41" name="Shape 39"/>
          <p:cNvSpPr/>
          <p:nvPr/>
        </p:nvSpPr>
        <p:spPr>
          <a:xfrm>
            <a:off x="5486400" y="3401568"/>
            <a:ext cx="3017520" cy="420624"/>
          </a:xfrm>
          <a:prstGeom prst="roundRect">
            <a:avLst>
              <a:gd name="adj" fmla="val 10870"/>
            </a:avLst>
          </a:prstGeom>
          <a:solidFill>
            <a:srgbClr val="10B981"/>
          </a:solidFill>
          <a:ln w="12700">
            <a:solidFill>
              <a:srgbClr val="10B981"/>
            </a:solidFill>
            <a:prstDash val="solid"/>
          </a:ln>
        </p:spPr>
        <p:txBody>
          <a:bodyPr/>
          <a:lstStyle/>
          <a:p>
            <a:endParaRPr lang="en-IN"/>
          </a:p>
        </p:txBody>
      </p:sp>
      <p:sp>
        <p:nvSpPr>
          <p:cNvPr id="42" name="Text 40"/>
          <p:cNvSpPr/>
          <p:nvPr/>
        </p:nvSpPr>
        <p:spPr>
          <a:xfrm>
            <a:off x="5486400" y="3401568"/>
            <a:ext cx="3017520" cy="42062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 PLATFORM INTEGRATION</a:t>
            </a:r>
            <a:endParaRPr lang="en-US" sz="900" dirty="0"/>
          </a:p>
        </p:txBody>
      </p:sp>
      <p:sp>
        <p:nvSpPr>
          <p:cNvPr id="43" name="Shape 41"/>
          <p:cNvSpPr/>
          <p:nvPr/>
        </p:nvSpPr>
        <p:spPr>
          <a:xfrm>
            <a:off x="6995160" y="3822192"/>
            <a:ext cx="0" cy="173736"/>
          </a:xfrm>
          <a:prstGeom prst="line">
            <a:avLst/>
          </a:prstGeom>
          <a:noFill/>
          <a:ln w="19050">
            <a:solidFill>
              <a:srgbClr val="445588"/>
            </a:solidFill>
            <a:prstDash val="solid"/>
          </a:ln>
        </p:spPr>
        <p:txBody>
          <a:bodyPr/>
          <a:lstStyle/>
          <a:p>
            <a:endParaRPr lang="en-IN"/>
          </a:p>
        </p:txBody>
      </p:sp>
      <p:sp>
        <p:nvSpPr>
          <p:cNvPr id="44" name="Shape 42"/>
          <p:cNvSpPr/>
          <p:nvPr/>
        </p:nvSpPr>
        <p:spPr>
          <a:xfrm>
            <a:off x="5486400" y="3995928"/>
            <a:ext cx="3017520" cy="420624"/>
          </a:xfrm>
          <a:prstGeom prst="roundRect">
            <a:avLst>
              <a:gd name="adj" fmla="val 10870"/>
            </a:avLst>
          </a:prstGeom>
          <a:solidFill>
            <a:srgbClr val="F59E0B"/>
          </a:solidFill>
          <a:ln w="12700">
            <a:solidFill>
              <a:srgbClr val="F59E0B"/>
            </a:solidFill>
            <a:prstDash val="solid"/>
          </a:ln>
        </p:spPr>
        <p:txBody>
          <a:bodyPr/>
          <a:lstStyle/>
          <a:p>
            <a:endParaRPr lang="en-IN"/>
          </a:p>
        </p:txBody>
      </p:sp>
      <p:sp>
        <p:nvSpPr>
          <p:cNvPr id="45" name="Text 43"/>
          <p:cNvSpPr/>
          <p:nvPr/>
        </p:nvSpPr>
        <p:spPr>
          <a:xfrm>
            <a:off x="5486400" y="3995928"/>
            <a:ext cx="3017520" cy="42062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4. REVENUE PARTICIPATION</a:t>
            </a:r>
            <a:endParaRPr lang="en-US" sz="900" dirty="0"/>
          </a:p>
        </p:txBody>
      </p:sp>
      <p:sp>
        <p:nvSpPr>
          <p:cNvPr id="46" name="Shape 44"/>
          <p:cNvSpPr/>
          <p:nvPr/>
        </p:nvSpPr>
        <p:spPr>
          <a:xfrm>
            <a:off x="5394960" y="4507992"/>
            <a:ext cx="3383280" cy="365760"/>
          </a:xfrm>
          <a:prstGeom prst="roundRect">
            <a:avLst>
              <a:gd name="adj" fmla="val 15000"/>
            </a:avLst>
          </a:prstGeom>
          <a:solidFill>
            <a:srgbClr val="1E2860"/>
          </a:solidFill>
          <a:ln w="12700">
            <a:solidFill>
              <a:srgbClr val="445599"/>
            </a:solidFill>
            <a:prstDash val="solid"/>
          </a:ln>
        </p:spPr>
        <p:txBody>
          <a:bodyPr/>
          <a:lstStyle/>
          <a:p>
            <a:endParaRPr lang="en-IN"/>
          </a:p>
        </p:txBody>
      </p:sp>
      <p:sp>
        <p:nvSpPr>
          <p:cNvPr id="47" name="Text 45"/>
          <p:cNvSpPr/>
          <p:nvPr/>
        </p:nvSpPr>
        <p:spPr>
          <a:xfrm>
            <a:off x="5394960" y="4507992"/>
            <a:ext cx="3383280" cy="365760"/>
          </a:xfrm>
          <a:prstGeom prst="rect">
            <a:avLst/>
          </a:prstGeom>
          <a:noFill/>
          <a:ln/>
        </p:spPr>
        <p:txBody>
          <a:bodyPr wrap="square" lIns="0" tIns="0" rIns="0" bIns="0" rtlCol="0" anchor="ctr"/>
          <a:lstStyle/>
          <a:p>
            <a:pPr marL="0" indent="0" algn="ctr">
              <a:buNone/>
            </a:pPr>
            <a:r>
              <a:rPr lang="en-US" sz="850" b="1" dirty="0">
                <a:solidFill>
                  <a:srgbClr val="88AAEE"/>
                </a:solidFill>
                <a:latin typeface="Calibri" pitchFamily="34" charset="0"/>
                <a:ea typeface="Calibri" pitchFamily="34" charset="-122"/>
                <a:cs typeface="Calibri" pitchFamily="34" charset="-120"/>
              </a:rPr>
              <a:t>Fnomo — Pre-approved Strategic Partners</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1F5E"/>
          </a:solidFill>
          <a:ln w="12700">
            <a:solidFill>
              <a:srgbClr val="1A1F5E"/>
            </a:solidFill>
            <a:prstDash val="solid"/>
          </a:ln>
        </p:spPr>
        <p:txBody>
          <a:bodyPr/>
          <a:lstStyle/>
          <a:p>
            <a:endParaRPr lang="en-IN"/>
          </a:p>
        </p:txBody>
      </p:sp>
      <p:sp>
        <p:nvSpPr>
          <p:cNvPr id="3" name="Shape 1"/>
          <p:cNvSpPr/>
          <p:nvPr/>
        </p:nvSpPr>
        <p:spPr>
          <a:xfrm>
            <a:off x="0" y="0"/>
            <a:ext cx="64008" cy="658368"/>
          </a:xfrm>
          <a:prstGeom prst="rect">
            <a:avLst/>
          </a:prstGeom>
          <a:solidFill>
            <a:srgbClr val="6B21C8"/>
          </a:solidFill>
          <a:ln w="12700">
            <a:solidFill>
              <a:srgbClr val="6B21C8"/>
            </a:solidFill>
            <a:prstDash val="solid"/>
          </a:ln>
        </p:spPr>
        <p:txBody>
          <a:bodyPr/>
          <a:lstStyle/>
          <a:p>
            <a:endParaRPr lang="en-IN"/>
          </a:p>
        </p:txBody>
      </p:sp>
      <p:sp>
        <p:nvSpPr>
          <p:cNvPr id="4" name="Text 2"/>
          <p:cNvSpPr/>
          <p:nvPr/>
        </p:nvSpPr>
        <p:spPr>
          <a:xfrm>
            <a:off x="164592" y="0"/>
            <a:ext cx="1371600" cy="65836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Fnomo</a:t>
            </a:r>
            <a:endParaRPr lang="en-US" sz="1300" dirty="0"/>
          </a:p>
        </p:txBody>
      </p:sp>
      <p:sp>
        <p:nvSpPr>
          <p:cNvPr id="5" name="Shape 3"/>
          <p:cNvSpPr/>
          <p:nvPr/>
        </p:nvSpPr>
        <p:spPr>
          <a:xfrm>
            <a:off x="1417320" y="219456"/>
            <a:ext cx="27432" cy="219456"/>
          </a:xfrm>
          <a:prstGeom prst="rect">
            <a:avLst/>
          </a:prstGeom>
          <a:solidFill>
            <a:srgbClr val="8888BB"/>
          </a:solidFill>
          <a:ln w="12700">
            <a:solidFill>
              <a:srgbClr val="8888BB"/>
            </a:solidFill>
            <a:prstDash val="solid"/>
          </a:ln>
        </p:spPr>
        <p:txBody>
          <a:bodyPr/>
          <a:lstStyle/>
          <a:p>
            <a:endParaRPr lang="en-IN"/>
          </a:p>
        </p:txBody>
      </p:sp>
      <p:sp>
        <p:nvSpPr>
          <p:cNvPr id="6" name="Text 4"/>
          <p:cNvSpPr/>
          <p:nvPr/>
        </p:nvSpPr>
        <p:spPr>
          <a:xfrm>
            <a:off x="1554480" y="0"/>
            <a:ext cx="5943600" cy="658368"/>
          </a:xfrm>
          <a:prstGeom prst="rect">
            <a:avLst/>
          </a:prstGeom>
          <a:noFill/>
          <a:ln/>
        </p:spPr>
        <p:txBody>
          <a:bodyPr wrap="square" lIns="0" tIns="0" rIns="0" bIns="0" rtlCol="0" anchor="ctr"/>
          <a:lstStyle/>
          <a:p>
            <a:pPr marL="0" indent="0">
              <a:buNone/>
            </a:pPr>
            <a:r>
              <a:rPr lang="en-US" sz="1100" b="1" kern="0" spc="200" dirty="0">
                <a:solidFill>
                  <a:srgbClr val="B0B8E8"/>
                </a:solidFill>
                <a:latin typeface="Calibri" pitchFamily="34" charset="0"/>
                <a:ea typeface="Calibri" pitchFamily="34" charset="-122"/>
                <a:cs typeface="Calibri" pitchFamily="34" charset="-120"/>
              </a:rPr>
              <a:t>PARTNERSHIP STRUCTURE</a:t>
            </a:r>
            <a:endParaRPr lang="en-US" sz="1100" dirty="0"/>
          </a:p>
        </p:txBody>
      </p:sp>
      <p:sp>
        <p:nvSpPr>
          <p:cNvPr id="7" name="Text 5"/>
          <p:cNvSpPr/>
          <p:nvPr/>
        </p:nvSpPr>
        <p:spPr>
          <a:xfrm>
            <a:off x="7680960" y="0"/>
            <a:ext cx="1417320" cy="658368"/>
          </a:xfrm>
          <a:prstGeom prst="rect">
            <a:avLst/>
          </a:prstGeom>
          <a:noFill/>
          <a:ln/>
        </p:spPr>
        <p:txBody>
          <a:bodyPr wrap="square" lIns="0" tIns="0" rIns="0" bIns="0" rtlCol="0" anchor="ctr"/>
          <a:lstStyle/>
          <a:p>
            <a:pPr marL="0" indent="0" algn="r">
              <a:buNone/>
            </a:pPr>
            <a:r>
              <a:rPr lang="en-US" sz="900" dirty="0">
                <a:solidFill>
                  <a:srgbClr val="8888BB"/>
                </a:solidFill>
                <a:latin typeface="Calibri" pitchFamily="34" charset="0"/>
                <a:ea typeface="Calibri" pitchFamily="34" charset="-122"/>
                <a:cs typeface="Calibri" pitchFamily="34" charset="-120"/>
              </a:rPr>
              <a:t>Slide 8 of 11</a:t>
            </a:r>
            <a:endParaRPr lang="en-US" sz="900" dirty="0"/>
          </a:p>
        </p:txBody>
      </p:sp>
      <p:sp>
        <p:nvSpPr>
          <p:cNvPr id="8" name="Text 6"/>
          <p:cNvSpPr/>
          <p:nvPr/>
        </p:nvSpPr>
        <p:spPr>
          <a:xfrm>
            <a:off x="365760" y="804672"/>
            <a:ext cx="8412480" cy="384048"/>
          </a:xfrm>
          <a:prstGeom prst="rect">
            <a:avLst/>
          </a:prstGeom>
          <a:noFill/>
          <a:ln/>
        </p:spPr>
        <p:txBody>
          <a:bodyPr wrap="square" lIns="0" tIns="0" rIns="0" bIns="0" rtlCol="0" anchor="ctr"/>
          <a:lstStyle/>
          <a:p>
            <a:pPr marL="0" indent="0">
              <a:buNone/>
            </a:pPr>
            <a:r>
              <a:rPr lang="en-US" sz="2400" b="1" dirty="0">
                <a:solidFill>
                  <a:srgbClr val="1A1F5E"/>
                </a:solidFill>
                <a:latin typeface="Calibri" pitchFamily="34" charset="0"/>
                <a:ea typeface="Calibri" pitchFamily="34" charset="-122"/>
                <a:cs typeface="Calibri" pitchFamily="34" charset="-120"/>
              </a:rPr>
              <a:t>PARTNERSHIP STRUCTURE</a:t>
            </a:r>
            <a:endParaRPr lang="en-US" sz="2400" dirty="0"/>
          </a:p>
        </p:txBody>
      </p:sp>
      <p:sp>
        <p:nvSpPr>
          <p:cNvPr id="9" name="Text 7"/>
          <p:cNvSpPr/>
          <p:nvPr/>
        </p:nvSpPr>
        <p:spPr>
          <a:xfrm>
            <a:off x="365760" y="1188720"/>
            <a:ext cx="8412480" cy="347472"/>
          </a:xfrm>
          <a:prstGeom prst="rect">
            <a:avLst/>
          </a:prstGeom>
          <a:noFill/>
          <a:ln/>
        </p:spPr>
        <p:txBody>
          <a:bodyPr wrap="square" lIns="0" tIns="0" rIns="0" bIns="0" rtlCol="0" anchor="ctr"/>
          <a:lstStyle/>
          <a:p>
            <a:pPr marL="0" indent="0">
              <a:buNone/>
            </a:pPr>
            <a:r>
              <a:rPr lang="en-US" sz="1100" i="1" dirty="0">
                <a:solidFill>
                  <a:srgbClr val="4B5280"/>
                </a:solidFill>
                <a:latin typeface="Calibri" pitchFamily="34" charset="0"/>
                <a:ea typeface="Calibri" pitchFamily="34" charset="-122"/>
                <a:cs typeface="Calibri" pitchFamily="34" charset="-120"/>
              </a:rPr>
              <a:t>Fnomo is a new approach to institutional partnership. Contextual decision intelligence drives commercial value.</a:t>
            </a:r>
            <a:endParaRPr lang="en-US" sz="1100" dirty="0"/>
          </a:p>
        </p:txBody>
      </p:sp>
      <p:sp>
        <p:nvSpPr>
          <p:cNvPr id="10" name="Shape 8"/>
          <p:cNvSpPr/>
          <p:nvPr/>
        </p:nvSpPr>
        <p:spPr>
          <a:xfrm>
            <a:off x="347472" y="1664208"/>
            <a:ext cx="8449056" cy="365760"/>
          </a:xfrm>
          <a:prstGeom prst="rect">
            <a:avLst/>
          </a:prstGeom>
          <a:solidFill>
            <a:srgbClr val="1A1F5E"/>
          </a:solidFill>
          <a:ln w="12700">
            <a:solidFill>
              <a:srgbClr val="1A1F5E"/>
            </a:solidFill>
            <a:prstDash val="solid"/>
          </a:ln>
        </p:spPr>
        <p:txBody>
          <a:bodyPr/>
          <a:lstStyle/>
          <a:p>
            <a:endParaRPr lang="en-IN"/>
          </a:p>
        </p:txBody>
      </p:sp>
      <p:sp>
        <p:nvSpPr>
          <p:cNvPr id="11" name="Shape 9"/>
          <p:cNvSpPr/>
          <p:nvPr/>
        </p:nvSpPr>
        <p:spPr>
          <a:xfrm>
            <a:off x="347472" y="1664208"/>
            <a:ext cx="54864" cy="365760"/>
          </a:xfrm>
          <a:prstGeom prst="rect">
            <a:avLst/>
          </a:prstGeom>
          <a:solidFill>
            <a:srgbClr val="6B21C8"/>
          </a:solidFill>
          <a:ln w="12700">
            <a:solidFill>
              <a:srgbClr val="6B21C8"/>
            </a:solidFill>
            <a:prstDash val="solid"/>
          </a:ln>
        </p:spPr>
        <p:txBody>
          <a:bodyPr/>
          <a:lstStyle/>
          <a:p>
            <a:endParaRPr lang="en-IN"/>
          </a:p>
        </p:txBody>
      </p:sp>
      <p:sp>
        <p:nvSpPr>
          <p:cNvPr id="12" name="Text 10"/>
          <p:cNvSpPr/>
          <p:nvPr/>
        </p:nvSpPr>
        <p:spPr>
          <a:xfrm>
            <a:off x="475488" y="1664208"/>
            <a:ext cx="1828800" cy="365760"/>
          </a:xfrm>
          <a:prstGeom prst="rect">
            <a:avLst/>
          </a:prstGeom>
          <a:noFill/>
          <a:ln/>
        </p:spPr>
        <p:txBody>
          <a:bodyPr wrap="square" lIns="0" tIns="0" rIns="0" bIns="0" rtlCol="0" anchor="ctr"/>
          <a:lstStyle/>
          <a:p>
            <a:pPr marL="0" indent="0">
              <a:buNone/>
            </a:pPr>
            <a:r>
              <a:rPr lang="en-US" sz="900" b="1" kern="0" spc="100" dirty="0">
                <a:solidFill>
                  <a:srgbClr val="AABBDD"/>
                </a:solidFill>
                <a:latin typeface="Calibri" pitchFamily="34" charset="0"/>
                <a:ea typeface="Calibri" pitchFamily="34" charset="-122"/>
                <a:cs typeface="Calibri" pitchFamily="34" charset="-120"/>
              </a:rPr>
              <a:t>PARTNER TYPE</a:t>
            </a:r>
            <a:endParaRPr lang="en-US" sz="900" dirty="0"/>
          </a:p>
        </p:txBody>
      </p:sp>
      <p:sp>
        <p:nvSpPr>
          <p:cNvPr id="13" name="Text 11"/>
          <p:cNvSpPr/>
          <p:nvPr/>
        </p:nvSpPr>
        <p:spPr>
          <a:xfrm>
            <a:off x="2304288" y="1664208"/>
            <a:ext cx="2286000" cy="365760"/>
          </a:xfrm>
          <a:prstGeom prst="rect">
            <a:avLst/>
          </a:prstGeom>
          <a:noFill/>
          <a:ln/>
        </p:spPr>
        <p:txBody>
          <a:bodyPr wrap="square" lIns="0" tIns="0" rIns="0" bIns="0" rtlCol="0" anchor="ctr"/>
          <a:lstStyle/>
          <a:p>
            <a:pPr marL="0" indent="0">
              <a:buNone/>
            </a:pPr>
            <a:r>
              <a:rPr lang="en-US" sz="900" b="1" kern="0" spc="100" dirty="0">
                <a:solidFill>
                  <a:srgbClr val="AABBDD"/>
                </a:solidFill>
                <a:latin typeface="Calibri" pitchFamily="34" charset="0"/>
                <a:ea typeface="Calibri" pitchFamily="34" charset="-122"/>
                <a:cs typeface="Calibri" pitchFamily="34" charset="-120"/>
              </a:rPr>
              <a:t>CHANNEL FOCUS</a:t>
            </a:r>
            <a:endParaRPr lang="en-US" sz="900" dirty="0"/>
          </a:p>
        </p:txBody>
      </p:sp>
      <p:sp>
        <p:nvSpPr>
          <p:cNvPr id="14" name="Text 12"/>
          <p:cNvSpPr/>
          <p:nvPr/>
        </p:nvSpPr>
        <p:spPr>
          <a:xfrm>
            <a:off x="4590288" y="1664208"/>
            <a:ext cx="2286000" cy="365760"/>
          </a:xfrm>
          <a:prstGeom prst="rect">
            <a:avLst/>
          </a:prstGeom>
          <a:noFill/>
          <a:ln/>
        </p:spPr>
        <p:txBody>
          <a:bodyPr wrap="square" lIns="0" tIns="0" rIns="0" bIns="0" rtlCol="0" anchor="ctr"/>
          <a:lstStyle/>
          <a:p>
            <a:pPr marL="0" indent="0">
              <a:buNone/>
            </a:pPr>
            <a:r>
              <a:rPr lang="en-US" sz="900" b="1" kern="0" spc="100" dirty="0">
                <a:solidFill>
                  <a:srgbClr val="AABBDD"/>
                </a:solidFill>
                <a:latin typeface="Calibri" pitchFamily="34" charset="0"/>
                <a:ea typeface="Calibri" pitchFamily="34" charset="-122"/>
                <a:cs typeface="Calibri" pitchFamily="34" charset="-120"/>
              </a:rPr>
              <a:t>DISCLAIMER</a:t>
            </a:r>
            <a:endParaRPr lang="en-US" sz="900" dirty="0"/>
          </a:p>
        </p:txBody>
      </p:sp>
      <p:sp>
        <p:nvSpPr>
          <p:cNvPr id="15" name="Text 13"/>
          <p:cNvSpPr/>
          <p:nvPr/>
        </p:nvSpPr>
        <p:spPr>
          <a:xfrm>
            <a:off x="6876288" y="1664208"/>
            <a:ext cx="2048256" cy="365760"/>
          </a:xfrm>
          <a:prstGeom prst="rect">
            <a:avLst/>
          </a:prstGeom>
          <a:noFill/>
          <a:ln/>
        </p:spPr>
        <p:txBody>
          <a:bodyPr wrap="square" lIns="0" tIns="0" rIns="0" bIns="0" rtlCol="0" anchor="ctr"/>
          <a:lstStyle/>
          <a:p>
            <a:pPr marL="0" indent="0">
              <a:buNone/>
            </a:pPr>
            <a:r>
              <a:rPr lang="en-US" sz="900" b="1" kern="0" spc="100" dirty="0">
                <a:solidFill>
                  <a:srgbClr val="AABBDD"/>
                </a:solidFill>
                <a:latin typeface="Calibri" pitchFamily="34" charset="0"/>
                <a:ea typeface="Calibri" pitchFamily="34" charset="-122"/>
                <a:cs typeface="Calibri" pitchFamily="34" charset="-120"/>
              </a:rPr>
              <a:t>STRUCTURE</a:t>
            </a:r>
            <a:endParaRPr lang="en-US" sz="900" dirty="0"/>
          </a:p>
        </p:txBody>
      </p:sp>
      <p:sp>
        <p:nvSpPr>
          <p:cNvPr id="16" name="Shape 14"/>
          <p:cNvSpPr/>
          <p:nvPr/>
        </p:nvSpPr>
        <p:spPr>
          <a:xfrm>
            <a:off x="347472" y="2084832"/>
            <a:ext cx="8449056" cy="420624"/>
          </a:xfrm>
          <a:prstGeom prst="rect">
            <a:avLst/>
          </a:prstGeom>
          <a:solidFill>
            <a:srgbClr val="FFFFFF"/>
          </a:solidFill>
          <a:ln w="6350">
            <a:solidFill>
              <a:srgbClr val="E8EAF4"/>
            </a:solidFill>
            <a:prstDash val="solid"/>
          </a:ln>
        </p:spPr>
        <p:txBody>
          <a:bodyPr/>
          <a:lstStyle/>
          <a:p>
            <a:endParaRPr lang="en-IN"/>
          </a:p>
        </p:txBody>
      </p:sp>
      <p:sp>
        <p:nvSpPr>
          <p:cNvPr id="17" name="Text 15"/>
          <p:cNvSpPr/>
          <p:nvPr/>
        </p:nvSpPr>
        <p:spPr>
          <a:xfrm>
            <a:off x="475488" y="2084832"/>
            <a:ext cx="1755648" cy="420624"/>
          </a:xfrm>
          <a:prstGeom prst="rect">
            <a:avLst/>
          </a:prstGeom>
          <a:noFill/>
          <a:ln/>
        </p:spPr>
        <p:txBody>
          <a:bodyPr wrap="square" lIns="0" tIns="50800" rIns="0" bIns="0" rtlCol="0" anchor="ctr"/>
          <a:lstStyle/>
          <a:p>
            <a:pPr marL="0" indent="0">
              <a:lnSpc>
                <a:spcPct val="110000"/>
              </a:lnSpc>
              <a:buNone/>
            </a:pPr>
            <a:r>
              <a:rPr lang="en-US" sz="950" b="1" dirty="0">
                <a:solidFill>
                  <a:srgbClr val="1A1F5E"/>
                </a:solidFill>
                <a:latin typeface="Calibri" pitchFamily="34" charset="0"/>
                <a:ea typeface="Calibri" pitchFamily="34" charset="-122"/>
                <a:cs typeface="Calibri" pitchFamily="34" charset="-120"/>
              </a:rPr>
              <a:t>Lead Court</a:t>
            </a:r>
            <a:endParaRPr lang="en-US" sz="950" dirty="0"/>
          </a:p>
        </p:txBody>
      </p:sp>
      <p:sp>
        <p:nvSpPr>
          <p:cNvPr id="18" name="Text 16"/>
          <p:cNvSpPr/>
          <p:nvPr/>
        </p:nvSpPr>
        <p:spPr>
          <a:xfrm>
            <a:off x="2304288" y="2084832"/>
            <a:ext cx="2212848" cy="420624"/>
          </a:xfrm>
          <a:prstGeom prst="rect">
            <a:avLst/>
          </a:prstGeom>
          <a:noFill/>
          <a:ln/>
        </p:spPr>
        <p:txBody>
          <a:bodyPr wrap="square" lIns="0" tIns="50800" rIns="0" bIns="0" rtlCol="0" anchor="ctr"/>
          <a:lstStyle/>
          <a:p>
            <a:pPr marL="0" indent="0">
              <a:lnSpc>
                <a:spcPct val="110000"/>
              </a:lnSpc>
              <a:buNone/>
            </a:pPr>
            <a:r>
              <a:rPr lang="en-US" sz="950" dirty="0">
                <a:solidFill>
                  <a:srgbClr val="4B5280"/>
                </a:solidFill>
                <a:latin typeface="Calibri" pitchFamily="34" charset="0"/>
                <a:ea typeface="Calibri" pitchFamily="34" charset="-122"/>
                <a:cs typeface="Calibri" pitchFamily="34" charset="-120"/>
              </a:rPr>
              <a:t>Growing Enthusiasm</a:t>
            </a:r>
            <a:endParaRPr lang="en-US" sz="950" dirty="0"/>
          </a:p>
        </p:txBody>
      </p:sp>
      <p:sp>
        <p:nvSpPr>
          <p:cNvPr id="19" name="Text 17"/>
          <p:cNvSpPr/>
          <p:nvPr/>
        </p:nvSpPr>
        <p:spPr>
          <a:xfrm>
            <a:off x="4590288" y="2084832"/>
            <a:ext cx="2212848" cy="420624"/>
          </a:xfrm>
          <a:prstGeom prst="rect">
            <a:avLst/>
          </a:prstGeom>
          <a:noFill/>
          <a:ln/>
        </p:spPr>
        <p:txBody>
          <a:bodyPr wrap="square" lIns="0" tIns="50800" rIns="0" bIns="0" rtlCol="0" anchor="ctr"/>
          <a:lstStyle/>
          <a:p>
            <a:pPr marL="0" indent="0">
              <a:lnSpc>
                <a:spcPct val="110000"/>
              </a:lnSpc>
              <a:buNone/>
            </a:pPr>
            <a:r>
              <a:rPr lang="en-US" sz="950" dirty="0">
                <a:solidFill>
                  <a:srgbClr val="4B5280"/>
                </a:solidFill>
                <a:latin typeface="Calibri" pitchFamily="34" charset="0"/>
                <a:ea typeface="Calibri" pitchFamily="34" charset="-122"/>
                <a:cs typeface="Calibri" pitchFamily="34" charset="-120"/>
              </a:rPr>
              <a:t>Data Confidentiality Disclaimer</a:t>
            </a:r>
            <a:endParaRPr lang="en-US" sz="950" dirty="0"/>
          </a:p>
        </p:txBody>
      </p:sp>
      <p:sp>
        <p:nvSpPr>
          <p:cNvPr id="20" name="Text 18"/>
          <p:cNvSpPr/>
          <p:nvPr/>
        </p:nvSpPr>
        <p:spPr>
          <a:xfrm>
            <a:off x="6876288" y="2084832"/>
            <a:ext cx="1975104" cy="420624"/>
          </a:xfrm>
          <a:prstGeom prst="rect">
            <a:avLst/>
          </a:prstGeom>
          <a:noFill/>
          <a:ln/>
        </p:spPr>
        <p:txBody>
          <a:bodyPr wrap="square" lIns="0" tIns="50800" rIns="0" bIns="0" rtlCol="0" anchor="ctr"/>
          <a:lstStyle/>
          <a:p>
            <a:pPr marL="0" indent="0">
              <a:lnSpc>
                <a:spcPct val="110000"/>
              </a:lnSpc>
              <a:buNone/>
            </a:pPr>
            <a:r>
              <a:rPr lang="en-US" sz="950" dirty="0">
                <a:solidFill>
                  <a:srgbClr val="10B981"/>
                </a:solidFill>
                <a:latin typeface="Calibri" pitchFamily="34" charset="0"/>
                <a:ea typeface="Calibri" pitchFamily="34" charset="-122"/>
                <a:cs typeface="Calibri" pitchFamily="34" charset="-120"/>
              </a:rPr>
              <a:t>Pre-defined Commission Structure</a:t>
            </a:r>
            <a:endParaRPr lang="en-US" sz="950" dirty="0"/>
          </a:p>
        </p:txBody>
      </p:sp>
      <p:sp>
        <p:nvSpPr>
          <p:cNvPr id="21" name="Shape 19"/>
          <p:cNvSpPr/>
          <p:nvPr/>
        </p:nvSpPr>
        <p:spPr>
          <a:xfrm>
            <a:off x="347472" y="2084832"/>
            <a:ext cx="36576" cy="420624"/>
          </a:xfrm>
          <a:prstGeom prst="rect">
            <a:avLst/>
          </a:prstGeom>
          <a:solidFill>
            <a:srgbClr val="6B21C8"/>
          </a:solidFill>
          <a:ln w="12700">
            <a:solidFill>
              <a:srgbClr val="6B21C8"/>
            </a:solidFill>
            <a:prstDash val="solid"/>
          </a:ln>
        </p:spPr>
        <p:txBody>
          <a:bodyPr/>
          <a:lstStyle/>
          <a:p>
            <a:endParaRPr lang="en-IN"/>
          </a:p>
        </p:txBody>
      </p:sp>
      <p:sp>
        <p:nvSpPr>
          <p:cNvPr id="22" name="Shape 20"/>
          <p:cNvSpPr/>
          <p:nvPr/>
        </p:nvSpPr>
        <p:spPr>
          <a:xfrm>
            <a:off x="347472" y="2523744"/>
            <a:ext cx="8449056" cy="420624"/>
          </a:xfrm>
          <a:prstGeom prst="rect">
            <a:avLst/>
          </a:prstGeom>
          <a:solidFill>
            <a:srgbClr val="E8EAF4"/>
          </a:solidFill>
          <a:ln w="6350">
            <a:solidFill>
              <a:srgbClr val="E8EAF4"/>
            </a:solidFill>
            <a:prstDash val="solid"/>
          </a:ln>
        </p:spPr>
        <p:txBody>
          <a:bodyPr/>
          <a:lstStyle/>
          <a:p>
            <a:endParaRPr lang="en-IN"/>
          </a:p>
        </p:txBody>
      </p:sp>
      <p:sp>
        <p:nvSpPr>
          <p:cNvPr id="23" name="Text 21"/>
          <p:cNvSpPr/>
          <p:nvPr/>
        </p:nvSpPr>
        <p:spPr>
          <a:xfrm>
            <a:off x="475488" y="2523744"/>
            <a:ext cx="1755648" cy="420624"/>
          </a:xfrm>
          <a:prstGeom prst="rect">
            <a:avLst/>
          </a:prstGeom>
          <a:noFill/>
          <a:ln/>
        </p:spPr>
        <p:txBody>
          <a:bodyPr wrap="square" lIns="0" tIns="50800" rIns="0" bIns="0" rtlCol="0" anchor="ctr"/>
          <a:lstStyle/>
          <a:p>
            <a:pPr marL="0" indent="0">
              <a:lnSpc>
                <a:spcPct val="110000"/>
              </a:lnSpc>
              <a:buNone/>
            </a:pPr>
            <a:r>
              <a:rPr lang="en-US" sz="950" b="1" dirty="0">
                <a:solidFill>
                  <a:srgbClr val="1A1F5E"/>
                </a:solidFill>
                <a:latin typeface="Calibri" pitchFamily="34" charset="0"/>
                <a:ea typeface="Calibri" pitchFamily="34" charset="-122"/>
                <a:cs typeface="Calibri" pitchFamily="34" charset="-120"/>
              </a:rPr>
              <a:t>Associate Institutions</a:t>
            </a:r>
            <a:endParaRPr lang="en-US" sz="950" dirty="0"/>
          </a:p>
        </p:txBody>
      </p:sp>
      <p:sp>
        <p:nvSpPr>
          <p:cNvPr id="24" name="Text 22"/>
          <p:cNvSpPr/>
          <p:nvPr/>
        </p:nvSpPr>
        <p:spPr>
          <a:xfrm>
            <a:off x="2304288" y="2523744"/>
            <a:ext cx="2212848" cy="420624"/>
          </a:xfrm>
          <a:prstGeom prst="rect">
            <a:avLst/>
          </a:prstGeom>
          <a:noFill/>
          <a:ln/>
        </p:spPr>
        <p:txBody>
          <a:bodyPr wrap="square" lIns="0" tIns="50800" rIns="0" bIns="0" rtlCol="0" anchor="ctr"/>
          <a:lstStyle/>
          <a:p>
            <a:pPr marL="0" indent="0">
              <a:lnSpc>
                <a:spcPct val="110000"/>
              </a:lnSpc>
              <a:buNone/>
            </a:pPr>
            <a:r>
              <a:rPr lang="en-US" sz="950" dirty="0">
                <a:solidFill>
                  <a:srgbClr val="4B5280"/>
                </a:solidFill>
                <a:latin typeface="Calibri" pitchFamily="34" charset="0"/>
                <a:ea typeface="Calibri" pitchFamily="34" charset="-122"/>
                <a:cs typeface="Calibri" pitchFamily="34" charset="-120"/>
              </a:rPr>
              <a:t>Sector-Specialised Services</a:t>
            </a:r>
            <a:endParaRPr lang="en-US" sz="950" dirty="0"/>
          </a:p>
        </p:txBody>
      </p:sp>
      <p:sp>
        <p:nvSpPr>
          <p:cNvPr id="25" name="Text 23"/>
          <p:cNvSpPr/>
          <p:nvPr/>
        </p:nvSpPr>
        <p:spPr>
          <a:xfrm>
            <a:off x="4590288" y="2523744"/>
            <a:ext cx="2212848" cy="420624"/>
          </a:xfrm>
          <a:prstGeom prst="rect">
            <a:avLst/>
          </a:prstGeom>
          <a:noFill/>
          <a:ln/>
        </p:spPr>
        <p:txBody>
          <a:bodyPr wrap="square" lIns="0" tIns="50800" rIns="0" bIns="0" rtlCol="0" anchor="ctr"/>
          <a:lstStyle/>
          <a:p>
            <a:pPr marL="0" indent="0">
              <a:lnSpc>
                <a:spcPct val="110000"/>
              </a:lnSpc>
              <a:buNone/>
            </a:pPr>
            <a:r>
              <a:rPr lang="en-US" sz="950" dirty="0">
                <a:solidFill>
                  <a:srgbClr val="4B5280"/>
                </a:solidFill>
                <a:latin typeface="Calibri" pitchFamily="34" charset="0"/>
                <a:ea typeface="Calibri" pitchFamily="34" charset="-122"/>
                <a:cs typeface="Calibri" pitchFamily="34" charset="-120"/>
              </a:rPr>
              <a:t>Same Institutional Disclaimer</a:t>
            </a:r>
            <a:endParaRPr lang="en-US" sz="950" dirty="0"/>
          </a:p>
        </p:txBody>
      </p:sp>
      <p:sp>
        <p:nvSpPr>
          <p:cNvPr id="26" name="Text 24"/>
          <p:cNvSpPr/>
          <p:nvPr/>
        </p:nvSpPr>
        <p:spPr>
          <a:xfrm>
            <a:off x="6876288" y="2523744"/>
            <a:ext cx="1975104" cy="420624"/>
          </a:xfrm>
          <a:prstGeom prst="rect">
            <a:avLst/>
          </a:prstGeom>
          <a:noFill/>
          <a:ln/>
        </p:spPr>
        <p:txBody>
          <a:bodyPr wrap="square" lIns="0" tIns="50800" rIns="0" bIns="0" rtlCol="0" anchor="ctr"/>
          <a:lstStyle/>
          <a:p>
            <a:pPr marL="0" indent="0">
              <a:lnSpc>
                <a:spcPct val="110000"/>
              </a:lnSpc>
              <a:buNone/>
            </a:pPr>
            <a:r>
              <a:rPr lang="en-US" sz="950" dirty="0">
                <a:solidFill>
                  <a:srgbClr val="10B981"/>
                </a:solidFill>
                <a:latin typeface="Calibri" pitchFamily="34" charset="0"/>
                <a:ea typeface="Calibri" pitchFamily="34" charset="-122"/>
                <a:cs typeface="Calibri" pitchFamily="34" charset="-120"/>
              </a:rPr>
              <a:t>Retainer + Performance Tied</a:t>
            </a:r>
            <a:endParaRPr lang="en-US" sz="950" dirty="0"/>
          </a:p>
        </p:txBody>
      </p:sp>
      <p:sp>
        <p:nvSpPr>
          <p:cNvPr id="27" name="Shape 25"/>
          <p:cNvSpPr/>
          <p:nvPr/>
        </p:nvSpPr>
        <p:spPr>
          <a:xfrm>
            <a:off x="347472" y="2523744"/>
            <a:ext cx="36576" cy="420624"/>
          </a:xfrm>
          <a:prstGeom prst="rect">
            <a:avLst/>
          </a:prstGeom>
          <a:solidFill>
            <a:srgbClr val="2563EB"/>
          </a:solidFill>
          <a:ln w="12700">
            <a:solidFill>
              <a:srgbClr val="2563EB"/>
            </a:solidFill>
            <a:prstDash val="solid"/>
          </a:ln>
        </p:spPr>
        <p:txBody>
          <a:bodyPr/>
          <a:lstStyle/>
          <a:p>
            <a:endParaRPr lang="en-IN"/>
          </a:p>
        </p:txBody>
      </p:sp>
      <p:sp>
        <p:nvSpPr>
          <p:cNvPr id="28" name="Shape 26"/>
          <p:cNvSpPr/>
          <p:nvPr/>
        </p:nvSpPr>
        <p:spPr>
          <a:xfrm>
            <a:off x="347472" y="2962656"/>
            <a:ext cx="8449056" cy="420624"/>
          </a:xfrm>
          <a:prstGeom prst="rect">
            <a:avLst/>
          </a:prstGeom>
          <a:solidFill>
            <a:srgbClr val="FFFFFF"/>
          </a:solidFill>
          <a:ln w="6350">
            <a:solidFill>
              <a:srgbClr val="E8EAF4"/>
            </a:solidFill>
            <a:prstDash val="solid"/>
          </a:ln>
        </p:spPr>
        <p:txBody>
          <a:bodyPr/>
          <a:lstStyle/>
          <a:p>
            <a:endParaRPr lang="en-IN"/>
          </a:p>
        </p:txBody>
      </p:sp>
      <p:sp>
        <p:nvSpPr>
          <p:cNvPr id="29" name="Text 27"/>
          <p:cNvSpPr/>
          <p:nvPr/>
        </p:nvSpPr>
        <p:spPr>
          <a:xfrm>
            <a:off x="475488" y="2962656"/>
            <a:ext cx="1755648" cy="420624"/>
          </a:xfrm>
          <a:prstGeom prst="rect">
            <a:avLst/>
          </a:prstGeom>
          <a:noFill/>
          <a:ln/>
        </p:spPr>
        <p:txBody>
          <a:bodyPr wrap="square" lIns="0" tIns="50800" rIns="0" bIns="0" rtlCol="0" anchor="ctr"/>
          <a:lstStyle/>
          <a:p>
            <a:pPr marL="0" indent="0">
              <a:lnSpc>
                <a:spcPct val="110000"/>
              </a:lnSpc>
              <a:buNone/>
            </a:pPr>
            <a:r>
              <a:rPr lang="en-US" sz="950" b="1" dirty="0">
                <a:solidFill>
                  <a:srgbClr val="1A1F5E"/>
                </a:solidFill>
                <a:latin typeface="Calibri" pitchFamily="34" charset="0"/>
                <a:ea typeface="Calibri" pitchFamily="34" charset="-122"/>
                <a:cs typeface="Calibri" pitchFamily="34" charset="-120"/>
              </a:rPr>
              <a:t>Retail Users</a:t>
            </a:r>
            <a:endParaRPr lang="en-US" sz="950" dirty="0"/>
          </a:p>
        </p:txBody>
      </p:sp>
      <p:sp>
        <p:nvSpPr>
          <p:cNvPr id="30" name="Text 28"/>
          <p:cNvSpPr/>
          <p:nvPr/>
        </p:nvSpPr>
        <p:spPr>
          <a:xfrm>
            <a:off x="2304288" y="2962656"/>
            <a:ext cx="2212848" cy="420624"/>
          </a:xfrm>
          <a:prstGeom prst="rect">
            <a:avLst/>
          </a:prstGeom>
          <a:noFill/>
          <a:ln/>
        </p:spPr>
        <p:txBody>
          <a:bodyPr wrap="square" lIns="0" tIns="50800" rIns="0" bIns="0" rtlCol="0" anchor="ctr"/>
          <a:lstStyle/>
          <a:p>
            <a:pPr marL="0" indent="0">
              <a:lnSpc>
                <a:spcPct val="110000"/>
              </a:lnSpc>
              <a:buNone/>
            </a:pPr>
            <a:r>
              <a:rPr lang="en-US" sz="950" dirty="0">
                <a:solidFill>
                  <a:srgbClr val="4B5280"/>
                </a:solidFill>
                <a:latin typeface="Calibri" pitchFamily="34" charset="0"/>
                <a:ea typeface="Calibri" pitchFamily="34" charset="-122"/>
                <a:cs typeface="Calibri" pitchFamily="34" charset="-120"/>
              </a:rPr>
              <a:t>General Investing Guidance</a:t>
            </a:r>
            <a:endParaRPr lang="en-US" sz="950" dirty="0"/>
          </a:p>
        </p:txBody>
      </p:sp>
      <p:sp>
        <p:nvSpPr>
          <p:cNvPr id="31" name="Text 29"/>
          <p:cNvSpPr/>
          <p:nvPr/>
        </p:nvSpPr>
        <p:spPr>
          <a:xfrm>
            <a:off x="4590288" y="2962656"/>
            <a:ext cx="2212848" cy="420624"/>
          </a:xfrm>
          <a:prstGeom prst="rect">
            <a:avLst/>
          </a:prstGeom>
          <a:noFill/>
          <a:ln/>
        </p:spPr>
        <p:txBody>
          <a:bodyPr wrap="square" lIns="0" tIns="50800" rIns="0" bIns="0" rtlCol="0" anchor="ctr"/>
          <a:lstStyle/>
          <a:p>
            <a:pPr marL="0" indent="0">
              <a:lnSpc>
                <a:spcPct val="110000"/>
              </a:lnSpc>
              <a:buNone/>
            </a:pPr>
            <a:r>
              <a:rPr lang="en-US" sz="950" dirty="0">
                <a:solidFill>
                  <a:srgbClr val="4B5280"/>
                </a:solidFill>
                <a:latin typeface="Calibri" pitchFamily="34" charset="0"/>
                <a:ea typeface="Calibri" pitchFamily="34" charset="-122"/>
                <a:cs typeface="Calibri" pitchFamily="34" charset="-120"/>
              </a:rPr>
              <a:t>General Suitability Disclaimer</a:t>
            </a:r>
            <a:endParaRPr lang="en-US" sz="950" dirty="0"/>
          </a:p>
        </p:txBody>
      </p:sp>
      <p:sp>
        <p:nvSpPr>
          <p:cNvPr id="32" name="Text 30"/>
          <p:cNvSpPr/>
          <p:nvPr/>
        </p:nvSpPr>
        <p:spPr>
          <a:xfrm>
            <a:off x="6876288" y="2962656"/>
            <a:ext cx="1975104" cy="420624"/>
          </a:xfrm>
          <a:prstGeom prst="rect">
            <a:avLst/>
          </a:prstGeom>
          <a:noFill/>
          <a:ln/>
        </p:spPr>
        <p:txBody>
          <a:bodyPr wrap="square" lIns="0" tIns="50800" rIns="0" bIns="0" rtlCol="0" anchor="ctr"/>
          <a:lstStyle/>
          <a:p>
            <a:pPr marL="0" indent="0">
              <a:lnSpc>
                <a:spcPct val="110000"/>
              </a:lnSpc>
              <a:buNone/>
            </a:pPr>
            <a:r>
              <a:rPr lang="en-US" sz="950" dirty="0">
                <a:solidFill>
                  <a:srgbClr val="10B981"/>
                </a:solidFill>
                <a:latin typeface="Calibri" pitchFamily="34" charset="0"/>
                <a:ea typeface="Calibri" pitchFamily="34" charset="-122"/>
                <a:cs typeface="Calibri" pitchFamily="34" charset="-120"/>
              </a:rPr>
              <a:t>Freemium / Subscription Tiers</a:t>
            </a:r>
            <a:endParaRPr lang="en-US" sz="950" dirty="0"/>
          </a:p>
        </p:txBody>
      </p:sp>
      <p:sp>
        <p:nvSpPr>
          <p:cNvPr id="33" name="Shape 31"/>
          <p:cNvSpPr/>
          <p:nvPr/>
        </p:nvSpPr>
        <p:spPr>
          <a:xfrm>
            <a:off x="347472" y="2962656"/>
            <a:ext cx="36576" cy="420624"/>
          </a:xfrm>
          <a:prstGeom prst="rect">
            <a:avLst/>
          </a:prstGeom>
          <a:solidFill>
            <a:srgbClr val="10B981"/>
          </a:solidFill>
          <a:ln w="12700">
            <a:solidFill>
              <a:srgbClr val="10B981"/>
            </a:solidFill>
            <a:prstDash val="solid"/>
          </a:ln>
        </p:spPr>
        <p:txBody>
          <a:bodyPr/>
          <a:lstStyle/>
          <a:p>
            <a:endParaRPr lang="en-IN"/>
          </a:p>
        </p:txBody>
      </p:sp>
      <p:sp>
        <p:nvSpPr>
          <p:cNvPr id="34" name="Shape 32"/>
          <p:cNvSpPr/>
          <p:nvPr/>
        </p:nvSpPr>
        <p:spPr>
          <a:xfrm>
            <a:off x="347472" y="3401568"/>
            <a:ext cx="8449056" cy="420624"/>
          </a:xfrm>
          <a:prstGeom prst="rect">
            <a:avLst/>
          </a:prstGeom>
          <a:solidFill>
            <a:srgbClr val="E8EAF4"/>
          </a:solidFill>
          <a:ln w="6350">
            <a:solidFill>
              <a:srgbClr val="E8EAF4"/>
            </a:solidFill>
            <a:prstDash val="solid"/>
          </a:ln>
        </p:spPr>
        <p:txBody>
          <a:bodyPr/>
          <a:lstStyle/>
          <a:p>
            <a:endParaRPr lang="en-IN"/>
          </a:p>
        </p:txBody>
      </p:sp>
      <p:sp>
        <p:nvSpPr>
          <p:cNvPr id="35" name="Text 33"/>
          <p:cNvSpPr/>
          <p:nvPr/>
        </p:nvSpPr>
        <p:spPr>
          <a:xfrm>
            <a:off x="475488" y="3401568"/>
            <a:ext cx="1755648" cy="420624"/>
          </a:xfrm>
          <a:prstGeom prst="rect">
            <a:avLst/>
          </a:prstGeom>
          <a:noFill/>
          <a:ln/>
        </p:spPr>
        <p:txBody>
          <a:bodyPr wrap="square" lIns="0" tIns="50800" rIns="0" bIns="0" rtlCol="0" anchor="ctr"/>
          <a:lstStyle/>
          <a:p>
            <a:pPr marL="0" indent="0">
              <a:lnSpc>
                <a:spcPct val="110000"/>
              </a:lnSpc>
              <a:buNone/>
            </a:pPr>
            <a:r>
              <a:rPr lang="en-US" sz="950" b="1" dirty="0">
                <a:solidFill>
                  <a:srgbClr val="1A1F5E"/>
                </a:solidFill>
                <a:latin typeface="Calibri" pitchFamily="34" charset="0"/>
                <a:ea typeface="Calibri" pitchFamily="34" charset="-122"/>
                <a:cs typeface="Calibri" pitchFamily="34" charset="-120"/>
              </a:rPr>
              <a:t>Brand Governance</a:t>
            </a:r>
            <a:endParaRPr lang="en-US" sz="950" dirty="0"/>
          </a:p>
        </p:txBody>
      </p:sp>
      <p:sp>
        <p:nvSpPr>
          <p:cNvPr id="36" name="Text 34"/>
          <p:cNvSpPr/>
          <p:nvPr/>
        </p:nvSpPr>
        <p:spPr>
          <a:xfrm>
            <a:off x="2304288" y="3401568"/>
            <a:ext cx="2212848" cy="420624"/>
          </a:xfrm>
          <a:prstGeom prst="rect">
            <a:avLst/>
          </a:prstGeom>
          <a:noFill/>
          <a:ln/>
        </p:spPr>
        <p:txBody>
          <a:bodyPr wrap="square" lIns="0" tIns="50800" rIns="0" bIns="0" rtlCol="0" anchor="ctr"/>
          <a:lstStyle/>
          <a:p>
            <a:pPr marL="0" indent="0">
              <a:lnSpc>
                <a:spcPct val="110000"/>
              </a:lnSpc>
              <a:buNone/>
            </a:pPr>
            <a:r>
              <a:rPr lang="en-US" sz="950" dirty="0">
                <a:solidFill>
                  <a:srgbClr val="4B5280"/>
                </a:solidFill>
                <a:latin typeface="Calibri" pitchFamily="34" charset="0"/>
                <a:ea typeface="Calibri" pitchFamily="34" charset="-122"/>
                <a:cs typeface="Calibri" pitchFamily="34" charset="-120"/>
              </a:rPr>
              <a:t>Platform Distribution</a:t>
            </a:r>
            <a:endParaRPr lang="en-US" sz="950" dirty="0"/>
          </a:p>
        </p:txBody>
      </p:sp>
      <p:sp>
        <p:nvSpPr>
          <p:cNvPr id="37" name="Text 35"/>
          <p:cNvSpPr/>
          <p:nvPr/>
        </p:nvSpPr>
        <p:spPr>
          <a:xfrm>
            <a:off x="4590288" y="3401568"/>
            <a:ext cx="2212848" cy="420624"/>
          </a:xfrm>
          <a:prstGeom prst="rect">
            <a:avLst/>
          </a:prstGeom>
          <a:noFill/>
          <a:ln/>
        </p:spPr>
        <p:txBody>
          <a:bodyPr wrap="square" lIns="0" tIns="50800" rIns="0" bIns="0" rtlCol="0" anchor="ctr"/>
          <a:lstStyle/>
          <a:p>
            <a:pPr marL="0" indent="0">
              <a:lnSpc>
                <a:spcPct val="110000"/>
              </a:lnSpc>
              <a:buNone/>
            </a:pPr>
            <a:r>
              <a:rPr lang="en-US" sz="950" dirty="0">
                <a:solidFill>
                  <a:srgbClr val="4B5280"/>
                </a:solidFill>
                <a:latin typeface="Calibri" pitchFamily="34" charset="0"/>
                <a:ea typeface="Calibri" pitchFamily="34" charset="-122"/>
                <a:cs typeface="Calibri" pitchFamily="34" charset="-120"/>
              </a:rPr>
              <a:t>Compliance-Led Disclosure</a:t>
            </a:r>
            <a:endParaRPr lang="en-US" sz="950" dirty="0"/>
          </a:p>
        </p:txBody>
      </p:sp>
      <p:sp>
        <p:nvSpPr>
          <p:cNvPr id="38" name="Text 36"/>
          <p:cNvSpPr/>
          <p:nvPr/>
        </p:nvSpPr>
        <p:spPr>
          <a:xfrm>
            <a:off x="6876288" y="3401568"/>
            <a:ext cx="1975104" cy="420624"/>
          </a:xfrm>
          <a:prstGeom prst="rect">
            <a:avLst/>
          </a:prstGeom>
          <a:noFill/>
          <a:ln/>
        </p:spPr>
        <p:txBody>
          <a:bodyPr wrap="square" lIns="0" tIns="50800" rIns="0" bIns="0" rtlCol="0" anchor="ctr"/>
          <a:lstStyle/>
          <a:p>
            <a:pPr marL="0" indent="0">
              <a:lnSpc>
                <a:spcPct val="110000"/>
              </a:lnSpc>
              <a:buNone/>
            </a:pPr>
            <a:r>
              <a:rPr lang="en-US" sz="950" dirty="0">
                <a:solidFill>
                  <a:srgbClr val="10B981"/>
                </a:solidFill>
                <a:latin typeface="Calibri" pitchFamily="34" charset="0"/>
                <a:ea typeface="Calibri" pitchFamily="34" charset="-122"/>
                <a:cs typeface="Calibri" pitchFamily="34" charset="-120"/>
              </a:rPr>
              <a:t>SaaS Licensing Revenue Share</a:t>
            </a:r>
            <a:endParaRPr lang="en-US" sz="950" dirty="0"/>
          </a:p>
        </p:txBody>
      </p:sp>
      <p:sp>
        <p:nvSpPr>
          <p:cNvPr id="39" name="Shape 37"/>
          <p:cNvSpPr/>
          <p:nvPr/>
        </p:nvSpPr>
        <p:spPr>
          <a:xfrm>
            <a:off x="347472" y="3401568"/>
            <a:ext cx="36576" cy="420624"/>
          </a:xfrm>
          <a:prstGeom prst="rect">
            <a:avLst/>
          </a:prstGeom>
          <a:solidFill>
            <a:srgbClr val="F59E0B"/>
          </a:solidFill>
          <a:ln w="12700">
            <a:solidFill>
              <a:srgbClr val="F59E0B"/>
            </a:solidFill>
            <a:prstDash val="solid"/>
          </a:ln>
        </p:spPr>
        <p:txBody>
          <a:bodyPr/>
          <a:lstStyle/>
          <a:p>
            <a:endParaRPr lang="en-IN"/>
          </a:p>
        </p:txBody>
      </p:sp>
      <p:sp>
        <p:nvSpPr>
          <p:cNvPr id="40" name="Shape 38"/>
          <p:cNvSpPr/>
          <p:nvPr/>
        </p:nvSpPr>
        <p:spPr>
          <a:xfrm>
            <a:off x="347472" y="3840480"/>
            <a:ext cx="8449056" cy="420624"/>
          </a:xfrm>
          <a:prstGeom prst="rect">
            <a:avLst/>
          </a:prstGeom>
          <a:solidFill>
            <a:srgbClr val="FFFFFF"/>
          </a:solidFill>
          <a:ln w="6350">
            <a:solidFill>
              <a:srgbClr val="E8EAF4"/>
            </a:solidFill>
            <a:prstDash val="solid"/>
          </a:ln>
        </p:spPr>
        <p:txBody>
          <a:bodyPr/>
          <a:lstStyle/>
          <a:p>
            <a:endParaRPr lang="en-IN"/>
          </a:p>
        </p:txBody>
      </p:sp>
      <p:sp>
        <p:nvSpPr>
          <p:cNvPr id="41" name="Text 39"/>
          <p:cNvSpPr/>
          <p:nvPr/>
        </p:nvSpPr>
        <p:spPr>
          <a:xfrm>
            <a:off x="475488" y="3840480"/>
            <a:ext cx="1755648" cy="420624"/>
          </a:xfrm>
          <a:prstGeom prst="rect">
            <a:avLst/>
          </a:prstGeom>
          <a:noFill/>
          <a:ln/>
        </p:spPr>
        <p:txBody>
          <a:bodyPr wrap="square" lIns="0" tIns="50800" rIns="0" bIns="0" rtlCol="0" anchor="ctr"/>
          <a:lstStyle/>
          <a:p>
            <a:pPr marL="0" indent="0">
              <a:lnSpc>
                <a:spcPct val="110000"/>
              </a:lnSpc>
              <a:buNone/>
            </a:pPr>
            <a:r>
              <a:rPr lang="en-US" sz="950" b="1" dirty="0">
                <a:solidFill>
                  <a:srgbClr val="1A1F5E"/>
                </a:solidFill>
                <a:latin typeface="Calibri" pitchFamily="34" charset="0"/>
                <a:ea typeface="Calibri" pitchFamily="34" charset="-122"/>
                <a:cs typeface="Calibri" pitchFamily="34" charset="-120"/>
              </a:rPr>
              <a:t>Digital Users</a:t>
            </a:r>
            <a:endParaRPr lang="en-US" sz="950" dirty="0"/>
          </a:p>
        </p:txBody>
      </p:sp>
      <p:sp>
        <p:nvSpPr>
          <p:cNvPr id="42" name="Text 40"/>
          <p:cNvSpPr/>
          <p:nvPr/>
        </p:nvSpPr>
        <p:spPr>
          <a:xfrm>
            <a:off x="2304288" y="3840480"/>
            <a:ext cx="2212848" cy="420624"/>
          </a:xfrm>
          <a:prstGeom prst="rect">
            <a:avLst/>
          </a:prstGeom>
          <a:noFill/>
          <a:ln/>
        </p:spPr>
        <p:txBody>
          <a:bodyPr wrap="square" lIns="0" tIns="50800" rIns="0" bIns="0" rtlCol="0" anchor="ctr"/>
          <a:lstStyle/>
          <a:p>
            <a:pPr marL="0" indent="0">
              <a:lnSpc>
                <a:spcPct val="110000"/>
              </a:lnSpc>
              <a:buNone/>
            </a:pPr>
            <a:r>
              <a:rPr lang="en-US" sz="950" dirty="0">
                <a:solidFill>
                  <a:srgbClr val="4B5280"/>
                </a:solidFill>
                <a:latin typeface="Calibri" pitchFamily="34" charset="0"/>
                <a:ea typeface="Calibri" pitchFamily="34" charset="-122"/>
                <a:cs typeface="Calibri" pitchFamily="34" charset="-120"/>
              </a:rPr>
              <a:t>Positioning Decision-Led Advisory</a:t>
            </a:r>
            <a:endParaRPr lang="en-US" sz="950" dirty="0"/>
          </a:p>
        </p:txBody>
      </p:sp>
      <p:sp>
        <p:nvSpPr>
          <p:cNvPr id="43" name="Text 41"/>
          <p:cNvSpPr/>
          <p:nvPr/>
        </p:nvSpPr>
        <p:spPr>
          <a:xfrm>
            <a:off x="4590288" y="3840480"/>
            <a:ext cx="2212848" cy="420624"/>
          </a:xfrm>
          <a:prstGeom prst="rect">
            <a:avLst/>
          </a:prstGeom>
          <a:noFill/>
          <a:ln/>
        </p:spPr>
        <p:txBody>
          <a:bodyPr wrap="square" lIns="0" tIns="50800" rIns="0" bIns="0" rtlCol="0" anchor="ctr"/>
          <a:lstStyle/>
          <a:p>
            <a:pPr marL="0" indent="0">
              <a:lnSpc>
                <a:spcPct val="110000"/>
              </a:lnSpc>
              <a:buNone/>
            </a:pPr>
            <a:r>
              <a:rPr lang="en-US" sz="950" dirty="0">
                <a:solidFill>
                  <a:srgbClr val="4B5280"/>
                </a:solidFill>
                <a:latin typeface="Calibri" pitchFamily="34" charset="0"/>
                <a:ea typeface="Calibri" pitchFamily="34" charset="-122"/>
                <a:cs typeface="Calibri" pitchFamily="34" charset="-120"/>
              </a:rPr>
              <a:t>Liability Limitation Framework</a:t>
            </a:r>
            <a:endParaRPr lang="en-US" sz="950" dirty="0"/>
          </a:p>
        </p:txBody>
      </p:sp>
      <p:sp>
        <p:nvSpPr>
          <p:cNvPr id="44" name="Text 42"/>
          <p:cNvSpPr/>
          <p:nvPr/>
        </p:nvSpPr>
        <p:spPr>
          <a:xfrm>
            <a:off x="6876288" y="3840480"/>
            <a:ext cx="1975104" cy="420624"/>
          </a:xfrm>
          <a:prstGeom prst="rect">
            <a:avLst/>
          </a:prstGeom>
          <a:noFill/>
          <a:ln/>
        </p:spPr>
        <p:txBody>
          <a:bodyPr wrap="square" lIns="0" tIns="50800" rIns="0" bIns="0" rtlCol="0" anchor="ctr"/>
          <a:lstStyle/>
          <a:p>
            <a:pPr marL="0" indent="0">
              <a:lnSpc>
                <a:spcPct val="110000"/>
              </a:lnSpc>
              <a:buNone/>
            </a:pPr>
            <a:r>
              <a:rPr lang="en-US" sz="950" dirty="0">
                <a:solidFill>
                  <a:srgbClr val="10B981"/>
                </a:solidFill>
                <a:latin typeface="Calibri" pitchFamily="34" charset="0"/>
                <a:ea typeface="Calibri" pitchFamily="34" charset="-122"/>
                <a:cs typeface="Calibri" pitchFamily="34" charset="-120"/>
              </a:rPr>
              <a:t>Cost + Incentive Structure</a:t>
            </a:r>
            <a:endParaRPr lang="en-US" sz="950" dirty="0"/>
          </a:p>
        </p:txBody>
      </p:sp>
      <p:sp>
        <p:nvSpPr>
          <p:cNvPr id="45" name="Shape 43"/>
          <p:cNvSpPr/>
          <p:nvPr/>
        </p:nvSpPr>
        <p:spPr>
          <a:xfrm>
            <a:off x="347472" y="3840480"/>
            <a:ext cx="36576" cy="420624"/>
          </a:xfrm>
          <a:prstGeom prst="rect">
            <a:avLst/>
          </a:prstGeom>
          <a:solidFill>
            <a:srgbClr val="EF4444"/>
          </a:solidFill>
          <a:ln w="12700">
            <a:solidFill>
              <a:srgbClr val="EF4444"/>
            </a:solidFill>
            <a:prstDash val="solid"/>
          </a:ln>
        </p:spPr>
        <p:txBody>
          <a:bodyPr/>
          <a:lstStyle/>
          <a:p>
            <a:endParaRPr lang="en-IN"/>
          </a:p>
        </p:txBody>
      </p:sp>
      <p:sp>
        <p:nvSpPr>
          <p:cNvPr id="46" name="Shape 44"/>
          <p:cNvSpPr/>
          <p:nvPr/>
        </p:nvSpPr>
        <p:spPr>
          <a:xfrm>
            <a:off x="347472" y="4279392"/>
            <a:ext cx="8449056" cy="420624"/>
          </a:xfrm>
          <a:prstGeom prst="rect">
            <a:avLst/>
          </a:prstGeom>
          <a:solidFill>
            <a:srgbClr val="E8EAF4"/>
          </a:solidFill>
          <a:ln w="6350">
            <a:solidFill>
              <a:srgbClr val="E8EAF4"/>
            </a:solidFill>
            <a:prstDash val="solid"/>
          </a:ln>
        </p:spPr>
        <p:txBody>
          <a:bodyPr/>
          <a:lstStyle/>
          <a:p>
            <a:endParaRPr lang="en-IN"/>
          </a:p>
        </p:txBody>
      </p:sp>
      <p:sp>
        <p:nvSpPr>
          <p:cNvPr id="47" name="Text 45"/>
          <p:cNvSpPr/>
          <p:nvPr/>
        </p:nvSpPr>
        <p:spPr>
          <a:xfrm>
            <a:off x="475488" y="4279392"/>
            <a:ext cx="1755648" cy="420624"/>
          </a:xfrm>
          <a:prstGeom prst="rect">
            <a:avLst/>
          </a:prstGeom>
          <a:noFill/>
          <a:ln/>
        </p:spPr>
        <p:txBody>
          <a:bodyPr wrap="square" lIns="0" tIns="50800" rIns="0" bIns="0" rtlCol="0" anchor="ctr"/>
          <a:lstStyle/>
          <a:p>
            <a:pPr marL="0" indent="0">
              <a:lnSpc>
                <a:spcPct val="110000"/>
              </a:lnSpc>
              <a:buNone/>
            </a:pPr>
            <a:r>
              <a:rPr lang="en-US" sz="950" b="1" dirty="0">
                <a:solidFill>
                  <a:srgbClr val="1A1F5E"/>
                </a:solidFill>
                <a:latin typeface="Calibri" pitchFamily="34" charset="0"/>
                <a:ea typeface="Calibri" pitchFamily="34" charset="-122"/>
                <a:cs typeface="Calibri" pitchFamily="34" charset="-120"/>
              </a:rPr>
              <a:t>Anchor Partners</a:t>
            </a:r>
            <a:endParaRPr lang="en-US" sz="950" dirty="0"/>
          </a:p>
        </p:txBody>
      </p:sp>
      <p:sp>
        <p:nvSpPr>
          <p:cNvPr id="48" name="Text 46"/>
          <p:cNvSpPr/>
          <p:nvPr/>
        </p:nvSpPr>
        <p:spPr>
          <a:xfrm>
            <a:off x="2304288" y="4279392"/>
            <a:ext cx="2212848" cy="420624"/>
          </a:xfrm>
          <a:prstGeom prst="rect">
            <a:avLst/>
          </a:prstGeom>
          <a:noFill/>
          <a:ln/>
        </p:spPr>
        <p:txBody>
          <a:bodyPr wrap="square" lIns="0" tIns="50800" rIns="0" bIns="0" rtlCol="0" anchor="ctr"/>
          <a:lstStyle/>
          <a:p>
            <a:pPr marL="0" indent="0">
              <a:lnSpc>
                <a:spcPct val="110000"/>
              </a:lnSpc>
              <a:buNone/>
            </a:pPr>
            <a:r>
              <a:rPr lang="en-US" sz="950" dirty="0">
                <a:solidFill>
                  <a:srgbClr val="4B5280"/>
                </a:solidFill>
                <a:latin typeface="Calibri" pitchFamily="34" charset="0"/>
                <a:ea typeface="Calibri" pitchFamily="34" charset="-122"/>
                <a:cs typeface="Calibri" pitchFamily="34" charset="-120"/>
              </a:rPr>
              <a:t>Strategic Infrastructure Partners</a:t>
            </a:r>
            <a:endParaRPr lang="en-US" sz="950" dirty="0"/>
          </a:p>
        </p:txBody>
      </p:sp>
      <p:sp>
        <p:nvSpPr>
          <p:cNvPr id="49" name="Text 47"/>
          <p:cNvSpPr/>
          <p:nvPr/>
        </p:nvSpPr>
        <p:spPr>
          <a:xfrm>
            <a:off x="4590288" y="4279392"/>
            <a:ext cx="2212848" cy="420624"/>
          </a:xfrm>
          <a:prstGeom prst="rect">
            <a:avLst/>
          </a:prstGeom>
          <a:noFill/>
          <a:ln/>
        </p:spPr>
        <p:txBody>
          <a:bodyPr wrap="square" lIns="0" tIns="50800" rIns="0" bIns="0" rtlCol="0" anchor="ctr"/>
          <a:lstStyle/>
          <a:p>
            <a:pPr marL="0" indent="0">
              <a:lnSpc>
                <a:spcPct val="110000"/>
              </a:lnSpc>
              <a:buNone/>
            </a:pPr>
            <a:r>
              <a:rPr lang="en-US" sz="950" dirty="0">
                <a:solidFill>
                  <a:srgbClr val="4B5280"/>
                </a:solidFill>
                <a:latin typeface="Calibri" pitchFamily="34" charset="0"/>
                <a:ea typeface="Calibri" pitchFamily="34" charset="-122"/>
                <a:cs typeface="Calibri" pitchFamily="34" charset="-120"/>
              </a:rPr>
              <a:t>Fnomo Confidentiality Structure</a:t>
            </a:r>
            <a:endParaRPr lang="en-US" sz="950" dirty="0"/>
          </a:p>
        </p:txBody>
      </p:sp>
      <p:sp>
        <p:nvSpPr>
          <p:cNvPr id="50" name="Text 48"/>
          <p:cNvSpPr/>
          <p:nvPr/>
        </p:nvSpPr>
        <p:spPr>
          <a:xfrm>
            <a:off x="6876288" y="4279392"/>
            <a:ext cx="1975104" cy="420624"/>
          </a:xfrm>
          <a:prstGeom prst="rect">
            <a:avLst/>
          </a:prstGeom>
          <a:noFill/>
          <a:ln/>
        </p:spPr>
        <p:txBody>
          <a:bodyPr wrap="square" lIns="0" tIns="50800" rIns="0" bIns="0" rtlCol="0" anchor="ctr"/>
          <a:lstStyle/>
          <a:p>
            <a:pPr marL="0" indent="0">
              <a:lnSpc>
                <a:spcPct val="110000"/>
              </a:lnSpc>
              <a:buNone/>
            </a:pPr>
            <a:r>
              <a:rPr lang="en-US" sz="950" dirty="0">
                <a:solidFill>
                  <a:srgbClr val="10B981"/>
                </a:solidFill>
                <a:latin typeface="Calibri" pitchFamily="34" charset="0"/>
                <a:ea typeface="Calibri" pitchFamily="34" charset="-122"/>
                <a:cs typeface="Calibri" pitchFamily="34" charset="-120"/>
              </a:rPr>
              <a:t>Revenue Participation Program</a:t>
            </a:r>
            <a:endParaRPr lang="en-US" sz="950" dirty="0"/>
          </a:p>
        </p:txBody>
      </p:sp>
      <p:sp>
        <p:nvSpPr>
          <p:cNvPr id="51" name="Shape 49"/>
          <p:cNvSpPr/>
          <p:nvPr/>
        </p:nvSpPr>
        <p:spPr>
          <a:xfrm>
            <a:off x="347472" y="4279392"/>
            <a:ext cx="36576" cy="420624"/>
          </a:xfrm>
          <a:prstGeom prst="rect">
            <a:avLst/>
          </a:prstGeom>
          <a:solidFill>
            <a:srgbClr val="6B21C8"/>
          </a:solidFill>
          <a:ln w="12700">
            <a:solidFill>
              <a:srgbClr val="6B21C8"/>
            </a:solidFill>
            <a:prstDash val="solid"/>
          </a:ln>
        </p:spPr>
        <p:txBody>
          <a:bodyPr/>
          <a:lstStyle/>
          <a:p>
            <a:endParaRPr lang="en-IN"/>
          </a:p>
        </p:txBody>
      </p:sp>
      <p:sp>
        <p:nvSpPr>
          <p:cNvPr id="52" name="Text 50"/>
          <p:cNvSpPr/>
          <p:nvPr/>
        </p:nvSpPr>
        <p:spPr>
          <a:xfrm>
            <a:off x="347472" y="4846320"/>
            <a:ext cx="8449056" cy="219456"/>
          </a:xfrm>
          <a:prstGeom prst="rect">
            <a:avLst/>
          </a:prstGeom>
          <a:noFill/>
          <a:ln/>
        </p:spPr>
        <p:txBody>
          <a:bodyPr wrap="square" lIns="0" tIns="0" rIns="0" bIns="0" rtlCol="0" anchor="ctr"/>
          <a:lstStyle/>
          <a:p>
            <a:pPr marL="0" indent="0" algn="ctr">
              <a:buNone/>
            </a:pPr>
            <a:r>
              <a:rPr lang="en-US" sz="850" i="1" dirty="0">
                <a:solidFill>
                  <a:srgbClr val="999999"/>
                </a:solidFill>
                <a:latin typeface="Calibri" pitchFamily="34" charset="0"/>
                <a:ea typeface="Calibri" pitchFamily="34" charset="-122"/>
                <a:cs typeface="Calibri" pitchFamily="34" charset="-120"/>
              </a:rPr>
              <a:t>All partnership engagements are subject to Fnomo's standard non-disclosure agreement and proprietary data handling protocols.</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1F5E"/>
          </a:solidFill>
          <a:ln w="12700">
            <a:solidFill>
              <a:srgbClr val="1A1F5E"/>
            </a:solidFill>
            <a:prstDash val="solid"/>
          </a:ln>
        </p:spPr>
        <p:txBody>
          <a:bodyPr/>
          <a:lstStyle/>
          <a:p>
            <a:endParaRPr lang="en-IN"/>
          </a:p>
        </p:txBody>
      </p:sp>
      <p:sp>
        <p:nvSpPr>
          <p:cNvPr id="3" name="Shape 1"/>
          <p:cNvSpPr/>
          <p:nvPr/>
        </p:nvSpPr>
        <p:spPr>
          <a:xfrm>
            <a:off x="0" y="0"/>
            <a:ext cx="64008" cy="658368"/>
          </a:xfrm>
          <a:prstGeom prst="rect">
            <a:avLst/>
          </a:prstGeom>
          <a:solidFill>
            <a:srgbClr val="6B21C8"/>
          </a:solidFill>
          <a:ln w="12700">
            <a:solidFill>
              <a:srgbClr val="6B21C8"/>
            </a:solidFill>
            <a:prstDash val="solid"/>
          </a:ln>
        </p:spPr>
        <p:txBody>
          <a:bodyPr/>
          <a:lstStyle/>
          <a:p>
            <a:endParaRPr lang="en-IN"/>
          </a:p>
        </p:txBody>
      </p:sp>
      <p:sp>
        <p:nvSpPr>
          <p:cNvPr id="4" name="Text 2"/>
          <p:cNvSpPr/>
          <p:nvPr/>
        </p:nvSpPr>
        <p:spPr>
          <a:xfrm>
            <a:off x="164592" y="0"/>
            <a:ext cx="1371600" cy="65836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Fnomo</a:t>
            </a:r>
            <a:endParaRPr lang="en-US" sz="1300" dirty="0"/>
          </a:p>
        </p:txBody>
      </p:sp>
      <p:sp>
        <p:nvSpPr>
          <p:cNvPr id="5" name="Shape 3"/>
          <p:cNvSpPr/>
          <p:nvPr/>
        </p:nvSpPr>
        <p:spPr>
          <a:xfrm>
            <a:off x="1417320" y="219456"/>
            <a:ext cx="27432" cy="219456"/>
          </a:xfrm>
          <a:prstGeom prst="rect">
            <a:avLst/>
          </a:prstGeom>
          <a:solidFill>
            <a:srgbClr val="8888BB"/>
          </a:solidFill>
          <a:ln w="12700">
            <a:solidFill>
              <a:srgbClr val="8888BB"/>
            </a:solidFill>
            <a:prstDash val="solid"/>
          </a:ln>
        </p:spPr>
        <p:txBody>
          <a:bodyPr/>
          <a:lstStyle/>
          <a:p>
            <a:endParaRPr lang="en-IN"/>
          </a:p>
        </p:txBody>
      </p:sp>
      <p:sp>
        <p:nvSpPr>
          <p:cNvPr id="6" name="Text 4"/>
          <p:cNvSpPr/>
          <p:nvPr/>
        </p:nvSpPr>
        <p:spPr>
          <a:xfrm>
            <a:off x="1554480" y="0"/>
            <a:ext cx="5943600" cy="658368"/>
          </a:xfrm>
          <a:prstGeom prst="rect">
            <a:avLst/>
          </a:prstGeom>
          <a:noFill/>
          <a:ln/>
        </p:spPr>
        <p:txBody>
          <a:bodyPr wrap="square" lIns="0" tIns="0" rIns="0" bIns="0" rtlCol="0" anchor="ctr"/>
          <a:lstStyle/>
          <a:p>
            <a:pPr marL="0" indent="0">
              <a:buNone/>
            </a:pPr>
            <a:r>
              <a:rPr lang="en-US" sz="1100" b="1" kern="0" spc="200" dirty="0">
                <a:solidFill>
                  <a:srgbClr val="B0B8E8"/>
                </a:solidFill>
                <a:latin typeface="Calibri" pitchFamily="34" charset="0"/>
                <a:ea typeface="Calibri" pitchFamily="34" charset="-122"/>
                <a:cs typeface="Calibri" pitchFamily="34" charset="-120"/>
              </a:rPr>
              <a:t>COMPLIANCE &amp; DISCLAIMER</a:t>
            </a:r>
            <a:endParaRPr lang="en-US" sz="1100" dirty="0"/>
          </a:p>
        </p:txBody>
      </p:sp>
      <p:sp>
        <p:nvSpPr>
          <p:cNvPr id="7" name="Text 5"/>
          <p:cNvSpPr/>
          <p:nvPr/>
        </p:nvSpPr>
        <p:spPr>
          <a:xfrm>
            <a:off x="7680960" y="0"/>
            <a:ext cx="1417320" cy="658368"/>
          </a:xfrm>
          <a:prstGeom prst="rect">
            <a:avLst/>
          </a:prstGeom>
          <a:noFill/>
          <a:ln/>
        </p:spPr>
        <p:txBody>
          <a:bodyPr wrap="square" lIns="0" tIns="0" rIns="0" bIns="0" rtlCol="0" anchor="ctr"/>
          <a:lstStyle/>
          <a:p>
            <a:pPr marL="0" indent="0" algn="r">
              <a:buNone/>
            </a:pPr>
            <a:r>
              <a:rPr lang="en-US" sz="900" dirty="0">
                <a:solidFill>
                  <a:srgbClr val="8888BB"/>
                </a:solidFill>
                <a:latin typeface="Calibri" pitchFamily="34" charset="0"/>
                <a:ea typeface="Calibri" pitchFamily="34" charset="-122"/>
                <a:cs typeface="Calibri" pitchFamily="34" charset="-120"/>
              </a:rPr>
              <a:t>Slide 9 of 11</a:t>
            </a:r>
            <a:endParaRPr lang="en-US" sz="900" dirty="0"/>
          </a:p>
        </p:txBody>
      </p:sp>
      <p:sp>
        <p:nvSpPr>
          <p:cNvPr id="8" name="Text 6"/>
          <p:cNvSpPr/>
          <p:nvPr/>
        </p:nvSpPr>
        <p:spPr>
          <a:xfrm>
            <a:off x="365760" y="804672"/>
            <a:ext cx="8412480" cy="384048"/>
          </a:xfrm>
          <a:prstGeom prst="rect">
            <a:avLst/>
          </a:prstGeom>
          <a:noFill/>
          <a:ln/>
        </p:spPr>
        <p:txBody>
          <a:bodyPr wrap="square" lIns="0" tIns="0" rIns="0" bIns="0" rtlCol="0" anchor="ctr"/>
          <a:lstStyle/>
          <a:p>
            <a:pPr marL="0" indent="0">
              <a:buNone/>
            </a:pPr>
            <a:r>
              <a:rPr lang="en-US" sz="2400" b="1" dirty="0">
                <a:solidFill>
                  <a:srgbClr val="1A1F5E"/>
                </a:solidFill>
                <a:latin typeface="Calibri" pitchFamily="34" charset="0"/>
                <a:ea typeface="Calibri" pitchFamily="34" charset="-122"/>
                <a:cs typeface="Calibri" pitchFamily="34" charset="-120"/>
              </a:rPr>
              <a:t>COMPLIANCE &amp; DISCLAIMER</a:t>
            </a:r>
            <a:endParaRPr lang="en-US" sz="2400" dirty="0"/>
          </a:p>
        </p:txBody>
      </p:sp>
      <p:sp>
        <p:nvSpPr>
          <p:cNvPr id="9" name="Text 7"/>
          <p:cNvSpPr/>
          <p:nvPr/>
        </p:nvSpPr>
        <p:spPr>
          <a:xfrm>
            <a:off x="365760" y="1188720"/>
            <a:ext cx="8412480" cy="292608"/>
          </a:xfrm>
          <a:prstGeom prst="rect">
            <a:avLst/>
          </a:prstGeom>
          <a:noFill/>
          <a:ln/>
        </p:spPr>
        <p:txBody>
          <a:bodyPr wrap="square" lIns="0" tIns="0" rIns="0" bIns="0" rtlCol="0" anchor="ctr"/>
          <a:lstStyle/>
          <a:p>
            <a:pPr marL="0" indent="0">
              <a:buNone/>
            </a:pPr>
            <a:r>
              <a:rPr lang="en-US" sz="1100" i="1" dirty="0">
                <a:solidFill>
                  <a:srgbClr val="4B5280"/>
                </a:solidFill>
                <a:latin typeface="Calibri" pitchFamily="34" charset="0"/>
                <a:ea typeface="Calibri" pitchFamily="34" charset="-122"/>
                <a:cs typeface="Calibri" pitchFamily="34" charset="-120"/>
              </a:rPr>
              <a:t>Professional business practice</a:t>
            </a:r>
            <a:endParaRPr lang="en-US" sz="1100" dirty="0"/>
          </a:p>
        </p:txBody>
      </p:sp>
      <p:sp>
        <p:nvSpPr>
          <p:cNvPr id="10" name="Shape 8"/>
          <p:cNvSpPr/>
          <p:nvPr/>
        </p:nvSpPr>
        <p:spPr>
          <a:xfrm>
            <a:off x="365760" y="1609344"/>
            <a:ext cx="8412480" cy="1920240"/>
          </a:xfrm>
          <a:prstGeom prst="rect">
            <a:avLst/>
          </a:prstGeom>
          <a:solidFill>
            <a:srgbClr val="FFFFFF"/>
          </a:solidFill>
          <a:ln w="15240">
            <a:solidFill>
              <a:srgbClr val="1A1F5E"/>
            </a:solidFill>
            <a:prstDash val="solid"/>
          </a:ln>
          <a:effectLst>
            <a:outerShdw blurRad="101600" dist="38100" dir="8100000" algn="bl" rotWithShape="0">
              <a:srgbClr val="000000">
                <a:alpha val="12000"/>
              </a:srgbClr>
            </a:outerShdw>
          </a:effectLst>
        </p:spPr>
        <p:txBody>
          <a:bodyPr/>
          <a:lstStyle/>
          <a:p>
            <a:endParaRPr lang="en-IN"/>
          </a:p>
        </p:txBody>
      </p:sp>
      <p:sp>
        <p:nvSpPr>
          <p:cNvPr id="11" name="Shape 9"/>
          <p:cNvSpPr/>
          <p:nvPr/>
        </p:nvSpPr>
        <p:spPr>
          <a:xfrm>
            <a:off x="365760" y="1609344"/>
            <a:ext cx="50292" cy="1920240"/>
          </a:xfrm>
          <a:prstGeom prst="rect">
            <a:avLst/>
          </a:prstGeom>
          <a:solidFill>
            <a:srgbClr val="1A1F5E"/>
          </a:solidFill>
          <a:ln w="12700">
            <a:solidFill>
              <a:srgbClr val="1A1F5E"/>
            </a:solidFill>
            <a:prstDash val="solid"/>
          </a:ln>
        </p:spPr>
        <p:txBody>
          <a:bodyPr/>
          <a:lstStyle/>
          <a:p>
            <a:endParaRPr lang="en-IN"/>
          </a:p>
        </p:txBody>
      </p:sp>
      <p:sp>
        <p:nvSpPr>
          <p:cNvPr id="12" name="Text 10"/>
          <p:cNvSpPr/>
          <p:nvPr/>
        </p:nvSpPr>
        <p:spPr>
          <a:xfrm>
            <a:off x="512064" y="1719072"/>
            <a:ext cx="8138160" cy="274320"/>
          </a:xfrm>
          <a:prstGeom prst="rect">
            <a:avLst/>
          </a:prstGeom>
          <a:noFill/>
          <a:ln/>
        </p:spPr>
        <p:txBody>
          <a:bodyPr wrap="square" lIns="0" tIns="0" rIns="0" bIns="0" rtlCol="0" anchor="ctr"/>
          <a:lstStyle/>
          <a:p>
            <a:pPr marL="0" indent="0">
              <a:buNone/>
            </a:pPr>
            <a:r>
              <a:rPr lang="en-US" sz="1000" b="1" dirty="0">
                <a:solidFill>
                  <a:srgbClr val="1A1F5E"/>
                </a:solidFill>
                <a:latin typeface="Calibri" pitchFamily="34" charset="0"/>
                <a:ea typeface="Calibri" pitchFamily="34" charset="-122"/>
                <a:cs typeface="Calibri" pitchFamily="34" charset="-120"/>
              </a:rPr>
              <a:t>COMPLIANCE &amp; DISCLAIMER</a:t>
            </a:r>
            <a:endParaRPr lang="en-US" sz="1000" dirty="0"/>
          </a:p>
        </p:txBody>
      </p:sp>
      <p:sp>
        <p:nvSpPr>
          <p:cNvPr id="13" name="Text 11"/>
          <p:cNvSpPr/>
          <p:nvPr/>
        </p:nvSpPr>
        <p:spPr>
          <a:xfrm>
            <a:off x="512064" y="2011680"/>
            <a:ext cx="8138160" cy="1371600"/>
          </a:xfrm>
          <a:prstGeom prst="rect">
            <a:avLst/>
          </a:prstGeom>
          <a:noFill/>
          <a:ln/>
        </p:spPr>
        <p:txBody>
          <a:bodyPr wrap="square" lIns="0" tIns="0" rIns="0" bIns="0" rtlCol="0" anchor="ctr"/>
          <a:lstStyle/>
          <a:p>
            <a:pPr marL="0" indent="0">
              <a:lnSpc>
                <a:spcPct val="138000"/>
              </a:lnSpc>
              <a:buNone/>
            </a:pPr>
            <a:r>
              <a:rPr lang="en-US" sz="1000" dirty="0">
                <a:solidFill>
                  <a:srgbClr val="4B5280"/>
                </a:solidFill>
                <a:latin typeface="Calibri" pitchFamily="34" charset="0"/>
                <a:ea typeface="Calibri" pitchFamily="34" charset="-122"/>
                <a:cs typeface="Calibri" pitchFamily="34" charset="-120"/>
              </a:rPr>
              <a:t>Fnomo makes no representations or warranties as to the accuracy, completeness, or timeliness of any information contained in this brief. This document is intended solely for the use of the party to whom it is addressed and may contain information that is privileged, confidential, and exempt from disclosure. If you are not the intended recipient, please notify us immediately and destroy all copies of this document. The information herein does not constitute financial advice, investment recommendations, or legal counsel.</a:t>
            </a:r>
            <a:endParaRPr lang="en-US" sz="1000" dirty="0"/>
          </a:p>
        </p:txBody>
      </p:sp>
      <p:sp>
        <p:nvSpPr>
          <p:cNvPr id="14" name="Shape 12"/>
          <p:cNvSpPr/>
          <p:nvPr/>
        </p:nvSpPr>
        <p:spPr>
          <a:xfrm>
            <a:off x="365760" y="3639312"/>
            <a:ext cx="8412480" cy="1389888"/>
          </a:xfrm>
          <a:prstGeom prst="rect">
            <a:avLst/>
          </a:prstGeom>
          <a:solidFill>
            <a:srgbClr val="FFFFFF"/>
          </a:solidFill>
          <a:ln w="15240">
            <a:solidFill>
              <a:srgbClr val="6B21C8"/>
            </a:solidFill>
            <a:prstDash val="solid"/>
          </a:ln>
          <a:effectLst>
            <a:outerShdw blurRad="101600" dist="38100" dir="8100000" algn="bl" rotWithShape="0">
              <a:srgbClr val="000000">
                <a:alpha val="12000"/>
              </a:srgbClr>
            </a:outerShdw>
          </a:effectLst>
        </p:spPr>
        <p:txBody>
          <a:bodyPr/>
          <a:lstStyle/>
          <a:p>
            <a:endParaRPr lang="en-IN"/>
          </a:p>
        </p:txBody>
      </p:sp>
      <p:sp>
        <p:nvSpPr>
          <p:cNvPr id="15" name="Shape 13"/>
          <p:cNvSpPr/>
          <p:nvPr/>
        </p:nvSpPr>
        <p:spPr>
          <a:xfrm>
            <a:off x="365760" y="3639312"/>
            <a:ext cx="50292" cy="1389888"/>
          </a:xfrm>
          <a:prstGeom prst="rect">
            <a:avLst/>
          </a:prstGeom>
          <a:solidFill>
            <a:srgbClr val="6B21C8"/>
          </a:solidFill>
          <a:ln w="12700">
            <a:solidFill>
              <a:srgbClr val="6B21C8"/>
            </a:solidFill>
            <a:prstDash val="solid"/>
          </a:ln>
        </p:spPr>
        <p:txBody>
          <a:bodyPr/>
          <a:lstStyle/>
          <a:p>
            <a:endParaRPr lang="en-IN"/>
          </a:p>
        </p:txBody>
      </p:sp>
      <p:sp>
        <p:nvSpPr>
          <p:cNvPr id="16" name="Text 14"/>
          <p:cNvSpPr/>
          <p:nvPr/>
        </p:nvSpPr>
        <p:spPr>
          <a:xfrm>
            <a:off x="512064" y="3730752"/>
            <a:ext cx="8138160" cy="274320"/>
          </a:xfrm>
          <a:prstGeom prst="rect">
            <a:avLst/>
          </a:prstGeom>
          <a:noFill/>
          <a:ln/>
        </p:spPr>
        <p:txBody>
          <a:bodyPr wrap="square" lIns="0" tIns="0" rIns="0" bIns="0" rtlCol="0" anchor="ctr"/>
          <a:lstStyle/>
          <a:p>
            <a:pPr marL="0" indent="0">
              <a:buNone/>
            </a:pPr>
            <a:r>
              <a:rPr lang="en-US" sz="1000" b="1" dirty="0">
                <a:solidFill>
                  <a:srgbClr val="6B21C8"/>
                </a:solidFill>
                <a:latin typeface="Calibri" pitchFamily="34" charset="0"/>
                <a:ea typeface="Calibri" pitchFamily="34" charset="-122"/>
                <a:cs typeface="Calibri" pitchFamily="34" charset="-120"/>
              </a:rPr>
              <a:t>FURTHER NOTICES</a:t>
            </a:r>
            <a:endParaRPr lang="en-US" sz="1000" dirty="0"/>
          </a:p>
        </p:txBody>
      </p:sp>
      <p:sp>
        <p:nvSpPr>
          <p:cNvPr id="17" name="Text 15"/>
          <p:cNvSpPr/>
          <p:nvPr/>
        </p:nvSpPr>
        <p:spPr>
          <a:xfrm>
            <a:off x="512064" y="4059936"/>
            <a:ext cx="8138160" cy="164592"/>
          </a:xfrm>
          <a:prstGeom prst="rect">
            <a:avLst/>
          </a:prstGeom>
          <a:noFill/>
          <a:ln/>
        </p:spPr>
        <p:txBody>
          <a:bodyPr wrap="none" lIns="0" tIns="0" rIns="0" bIns="0" rtlCol="0" anchor="ctr"/>
          <a:lstStyle/>
          <a:p>
            <a:pPr marL="0" indent="0">
              <a:lnSpc>
                <a:spcPct val="115000"/>
              </a:lnSpc>
              <a:buNone/>
            </a:pPr>
            <a:r>
              <a:rPr lang="en-US" sz="850" dirty="0">
                <a:solidFill>
                  <a:srgbClr val="4B5280"/>
                </a:solidFill>
                <a:latin typeface="Calibri" pitchFamily="34" charset="0"/>
                <a:ea typeface="Calibri" pitchFamily="34" charset="-122"/>
                <a:cs typeface="Calibri" pitchFamily="34" charset="-120"/>
              </a:rPr>
              <a:t>1. Fnomo does not warrant that the information contained herein is free of error or suitable for any particular purpose. All decision-making remains the responsibility of the recipient.</a:t>
            </a:r>
            <a:endParaRPr lang="en-US" sz="850" dirty="0"/>
          </a:p>
        </p:txBody>
      </p:sp>
      <p:sp>
        <p:nvSpPr>
          <p:cNvPr id="18" name="Text 16"/>
          <p:cNvSpPr/>
          <p:nvPr/>
        </p:nvSpPr>
        <p:spPr>
          <a:xfrm>
            <a:off x="512064" y="4242816"/>
            <a:ext cx="8138160" cy="164592"/>
          </a:xfrm>
          <a:prstGeom prst="rect">
            <a:avLst/>
          </a:prstGeom>
          <a:noFill/>
          <a:ln/>
        </p:spPr>
        <p:txBody>
          <a:bodyPr wrap="none" lIns="0" tIns="0" rIns="0" bIns="0" rtlCol="0" anchor="ctr"/>
          <a:lstStyle/>
          <a:p>
            <a:pPr marL="0" indent="0">
              <a:lnSpc>
                <a:spcPct val="115000"/>
              </a:lnSpc>
              <a:buNone/>
            </a:pPr>
            <a:r>
              <a:rPr lang="en-US" sz="850" dirty="0">
                <a:solidFill>
                  <a:srgbClr val="4B5280"/>
                </a:solidFill>
                <a:latin typeface="Calibri" pitchFamily="34" charset="0"/>
                <a:ea typeface="Calibri" pitchFamily="34" charset="-122"/>
                <a:cs typeface="Calibri" pitchFamily="34" charset="-120"/>
              </a:rPr>
              <a:t>2. Past performance data referenced in this document is not indicative of future results. Market conditions are subject to rapid change without notice.</a:t>
            </a:r>
            <a:endParaRPr lang="en-US" sz="850" dirty="0"/>
          </a:p>
        </p:txBody>
      </p:sp>
      <p:sp>
        <p:nvSpPr>
          <p:cNvPr id="19" name="Text 17"/>
          <p:cNvSpPr/>
          <p:nvPr/>
        </p:nvSpPr>
        <p:spPr>
          <a:xfrm>
            <a:off x="512064" y="4425696"/>
            <a:ext cx="8138160" cy="164592"/>
          </a:xfrm>
          <a:prstGeom prst="rect">
            <a:avLst/>
          </a:prstGeom>
          <a:noFill/>
          <a:ln/>
        </p:spPr>
        <p:txBody>
          <a:bodyPr wrap="none" lIns="0" tIns="0" rIns="0" bIns="0" rtlCol="0" anchor="ctr"/>
          <a:lstStyle/>
          <a:p>
            <a:pPr marL="0" indent="0">
              <a:lnSpc>
                <a:spcPct val="115000"/>
              </a:lnSpc>
              <a:buNone/>
            </a:pPr>
            <a:r>
              <a:rPr lang="en-US" sz="850" dirty="0">
                <a:solidFill>
                  <a:srgbClr val="4B5280"/>
                </a:solidFill>
                <a:latin typeface="Calibri" pitchFamily="34" charset="0"/>
                <a:ea typeface="Calibri" pitchFamily="34" charset="-122"/>
                <a:cs typeface="Calibri" pitchFamily="34" charset="-120"/>
              </a:rPr>
              <a:t>3. Fnomo (Fnomo) is a proprietary technology that is protected by intellectual property law. Unauthorized reproduction, distribution, or disclosure is strictly prohibited.</a:t>
            </a:r>
            <a:endParaRPr lang="en-US" sz="850" dirty="0"/>
          </a:p>
        </p:txBody>
      </p:sp>
      <p:sp>
        <p:nvSpPr>
          <p:cNvPr id="20" name="Text 18"/>
          <p:cNvSpPr/>
          <p:nvPr/>
        </p:nvSpPr>
        <p:spPr>
          <a:xfrm>
            <a:off x="512064" y="4608576"/>
            <a:ext cx="8138160" cy="164592"/>
          </a:xfrm>
          <a:prstGeom prst="rect">
            <a:avLst/>
          </a:prstGeom>
          <a:noFill/>
          <a:ln/>
        </p:spPr>
        <p:txBody>
          <a:bodyPr wrap="none" lIns="0" tIns="0" rIns="0" bIns="0" rtlCol="0" anchor="ctr"/>
          <a:lstStyle/>
          <a:p>
            <a:pPr marL="0" indent="0">
              <a:lnSpc>
                <a:spcPct val="115000"/>
              </a:lnSpc>
              <a:buNone/>
            </a:pPr>
            <a:r>
              <a:rPr lang="en-US" sz="850" dirty="0">
                <a:solidFill>
                  <a:srgbClr val="4B5280"/>
                </a:solidFill>
                <a:latin typeface="Calibri" pitchFamily="34" charset="0"/>
                <a:ea typeface="Calibri" pitchFamily="34" charset="-122"/>
                <a:cs typeface="Calibri" pitchFamily="34" charset="-120"/>
              </a:rPr>
              <a:t>4. All partner integrations referenced herein are subject to separate binding agreements and are governed by applicable laws and regulatory frameworks.</a:t>
            </a:r>
            <a:endParaRPr lang="en-US" sz="850" dirty="0"/>
          </a:p>
        </p:txBody>
      </p:sp>
      <p:sp>
        <p:nvSpPr>
          <p:cNvPr id="21" name="Text 19"/>
          <p:cNvSpPr/>
          <p:nvPr/>
        </p:nvSpPr>
        <p:spPr>
          <a:xfrm>
            <a:off x="512064" y="4791456"/>
            <a:ext cx="8138160" cy="164592"/>
          </a:xfrm>
          <a:prstGeom prst="rect">
            <a:avLst/>
          </a:prstGeom>
          <a:noFill/>
          <a:ln/>
        </p:spPr>
        <p:txBody>
          <a:bodyPr wrap="none" lIns="0" tIns="0" rIns="0" bIns="0" rtlCol="0" anchor="ctr"/>
          <a:lstStyle/>
          <a:p>
            <a:pPr marL="0" indent="0">
              <a:lnSpc>
                <a:spcPct val="115000"/>
              </a:lnSpc>
              <a:buNone/>
            </a:pPr>
            <a:r>
              <a:rPr lang="en-US" sz="850" dirty="0">
                <a:solidFill>
                  <a:srgbClr val="4B5280"/>
                </a:solidFill>
                <a:latin typeface="Calibri" pitchFamily="34" charset="0"/>
                <a:ea typeface="Calibri" pitchFamily="34" charset="-122"/>
                <a:cs typeface="Calibri" pitchFamily="34" charset="-120"/>
              </a:rPr>
              <a:t>5. This Partnership Brief is valid for 90 days from the date of issue and supersedes all previous versions of this document.</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1F5E"/>
          </a:solidFill>
          <a:ln w="12700">
            <a:solidFill>
              <a:srgbClr val="1A1F5E"/>
            </a:solidFill>
            <a:prstDash val="solid"/>
          </a:ln>
        </p:spPr>
        <p:txBody>
          <a:bodyPr/>
          <a:lstStyle/>
          <a:p>
            <a:endParaRPr lang="en-IN"/>
          </a:p>
        </p:txBody>
      </p:sp>
      <p:sp>
        <p:nvSpPr>
          <p:cNvPr id="3" name="Shape 1"/>
          <p:cNvSpPr/>
          <p:nvPr/>
        </p:nvSpPr>
        <p:spPr>
          <a:xfrm>
            <a:off x="0" y="0"/>
            <a:ext cx="64008" cy="658368"/>
          </a:xfrm>
          <a:prstGeom prst="rect">
            <a:avLst/>
          </a:prstGeom>
          <a:solidFill>
            <a:srgbClr val="6B21C8"/>
          </a:solidFill>
          <a:ln w="12700">
            <a:solidFill>
              <a:srgbClr val="6B21C8"/>
            </a:solidFill>
            <a:prstDash val="solid"/>
          </a:ln>
        </p:spPr>
        <p:txBody>
          <a:bodyPr/>
          <a:lstStyle/>
          <a:p>
            <a:endParaRPr lang="en-IN"/>
          </a:p>
        </p:txBody>
      </p:sp>
      <p:sp>
        <p:nvSpPr>
          <p:cNvPr id="4" name="Text 2"/>
          <p:cNvSpPr/>
          <p:nvPr/>
        </p:nvSpPr>
        <p:spPr>
          <a:xfrm>
            <a:off x="164592" y="0"/>
            <a:ext cx="1371600" cy="65836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Fnomo</a:t>
            </a:r>
            <a:endParaRPr lang="en-US" sz="1300" dirty="0"/>
          </a:p>
        </p:txBody>
      </p:sp>
      <p:sp>
        <p:nvSpPr>
          <p:cNvPr id="5" name="Shape 3"/>
          <p:cNvSpPr/>
          <p:nvPr/>
        </p:nvSpPr>
        <p:spPr>
          <a:xfrm>
            <a:off x="1417320" y="219456"/>
            <a:ext cx="27432" cy="219456"/>
          </a:xfrm>
          <a:prstGeom prst="rect">
            <a:avLst/>
          </a:prstGeom>
          <a:solidFill>
            <a:srgbClr val="8888BB"/>
          </a:solidFill>
          <a:ln w="12700">
            <a:solidFill>
              <a:srgbClr val="8888BB"/>
            </a:solidFill>
            <a:prstDash val="solid"/>
          </a:ln>
        </p:spPr>
        <p:txBody>
          <a:bodyPr/>
          <a:lstStyle/>
          <a:p>
            <a:endParaRPr lang="en-IN"/>
          </a:p>
        </p:txBody>
      </p:sp>
      <p:sp>
        <p:nvSpPr>
          <p:cNvPr id="6" name="Text 4"/>
          <p:cNvSpPr/>
          <p:nvPr/>
        </p:nvSpPr>
        <p:spPr>
          <a:xfrm>
            <a:off x="1554480" y="0"/>
            <a:ext cx="5943600" cy="658368"/>
          </a:xfrm>
          <a:prstGeom prst="rect">
            <a:avLst/>
          </a:prstGeom>
          <a:noFill/>
          <a:ln/>
        </p:spPr>
        <p:txBody>
          <a:bodyPr wrap="square" lIns="0" tIns="0" rIns="0" bIns="0" rtlCol="0" anchor="ctr"/>
          <a:lstStyle/>
          <a:p>
            <a:pPr marL="0" indent="0">
              <a:buNone/>
            </a:pPr>
            <a:r>
              <a:rPr lang="en-US" sz="1100" b="1" kern="0" spc="200" dirty="0">
                <a:solidFill>
                  <a:srgbClr val="B0B8E8"/>
                </a:solidFill>
                <a:latin typeface="Calibri" pitchFamily="34" charset="0"/>
                <a:ea typeface="Calibri" pitchFamily="34" charset="-122"/>
                <a:cs typeface="Calibri" pitchFamily="34" charset="-120"/>
              </a:rPr>
              <a:t>SUMMARY &amp; NEXT STEPS</a:t>
            </a:r>
            <a:endParaRPr lang="en-US" sz="1100" dirty="0"/>
          </a:p>
        </p:txBody>
      </p:sp>
      <p:sp>
        <p:nvSpPr>
          <p:cNvPr id="7" name="Text 5"/>
          <p:cNvSpPr/>
          <p:nvPr/>
        </p:nvSpPr>
        <p:spPr>
          <a:xfrm>
            <a:off x="7680960" y="0"/>
            <a:ext cx="1417320" cy="658368"/>
          </a:xfrm>
          <a:prstGeom prst="rect">
            <a:avLst/>
          </a:prstGeom>
          <a:noFill/>
          <a:ln/>
        </p:spPr>
        <p:txBody>
          <a:bodyPr wrap="square" lIns="0" tIns="0" rIns="0" bIns="0" rtlCol="0" anchor="ctr"/>
          <a:lstStyle/>
          <a:p>
            <a:pPr marL="0" indent="0" algn="r">
              <a:buNone/>
            </a:pPr>
            <a:r>
              <a:rPr lang="en-US" sz="900" dirty="0">
                <a:solidFill>
                  <a:srgbClr val="8888BB"/>
                </a:solidFill>
                <a:latin typeface="Calibri" pitchFamily="34" charset="0"/>
                <a:ea typeface="Calibri" pitchFamily="34" charset="-122"/>
                <a:cs typeface="Calibri" pitchFamily="34" charset="-120"/>
              </a:rPr>
              <a:t>Slide 10 of 11</a:t>
            </a:r>
            <a:endParaRPr lang="en-US" sz="900" dirty="0"/>
          </a:p>
        </p:txBody>
      </p:sp>
      <p:sp>
        <p:nvSpPr>
          <p:cNvPr id="8" name="Text 6"/>
          <p:cNvSpPr/>
          <p:nvPr/>
        </p:nvSpPr>
        <p:spPr>
          <a:xfrm>
            <a:off x="365760" y="804672"/>
            <a:ext cx="8412480" cy="384048"/>
          </a:xfrm>
          <a:prstGeom prst="rect">
            <a:avLst/>
          </a:prstGeom>
          <a:noFill/>
          <a:ln/>
        </p:spPr>
        <p:txBody>
          <a:bodyPr wrap="square" lIns="0" tIns="0" rIns="0" bIns="0" rtlCol="0" anchor="ctr"/>
          <a:lstStyle/>
          <a:p>
            <a:pPr marL="0" indent="0">
              <a:buNone/>
            </a:pPr>
            <a:r>
              <a:rPr lang="en-US" sz="2400" b="1" dirty="0">
                <a:solidFill>
                  <a:srgbClr val="1A1F5E"/>
                </a:solidFill>
                <a:latin typeface="Calibri" pitchFamily="34" charset="0"/>
                <a:ea typeface="Calibri" pitchFamily="34" charset="-122"/>
                <a:cs typeface="Calibri" pitchFamily="34" charset="-120"/>
              </a:rPr>
              <a:t>SUMMARY &amp; NEXT STEPS</a:t>
            </a:r>
            <a:endParaRPr lang="en-US" sz="2400" dirty="0"/>
          </a:p>
        </p:txBody>
      </p:sp>
      <p:sp>
        <p:nvSpPr>
          <p:cNvPr id="9" name="Text 7"/>
          <p:cNvSpPr/>
          <p:nvPr/>
        </p:nvSpPr>
        <p:spPr>
          <a:xfrm>
            <a:off x="365760" y="1188720"/>
            <a:ext cx="8412480" cy="329184"/>
          </a:xfrm>
          <a:prstGeom prst="rect">
            <a:avLst/>
          </a:prstGeom>
          <a:noFill/>
          <a:ln/>
        </p:spPr>
        <p:txBody>
          <a:bodyPr wrap="square" lIns="0" tIns="0" rIns="0" bIns="0" rtlCol="0" anchor="ctr"/>
          <a:lstStyle/>
          <a:p>
            <a:pPr marL="0" indent="0">
              <a:buNone/>
            </a:pPr>
            <a:r>
              <a:rPr lang="en-US" sz="1100" i="1" dirty="0">
                <a:solidFill>
                  <a:srgbClr val="4B5280"/>
                </a:solidFill>
                <a:latin typeface="Calibri" pitchFamily="34" charset="0"/>
                <a:ea typeface="Calibri" pitchFamily="34" charset="-122"/>
                <a:cs typeface="Calibri" pitchFamily="34" charset="-120"/>
              </a:rPr>
              <a:t>From introduction to integration — a clear path to institutional partnership.</a:t>
            </a:r>
            <a:endParaRPr lang="en-US" sz="1100" dirty="0"/>
          </a:p>
        </p:txBody>
      </p:sp>
      <p:sp>
        <p:nvSpPr>
          <p:cNvPr id="10" name="Shape 8"/>
          <p:cNvSpPr/>
          <p:nvPr/>
        </p:nvSpPr>
        <p:spPr>
          <a:xfrm>
            <a:off x="347472" y="1645920"/>
            <a:ext cx="4937760" cy="3200400"/>
          </a:xfrm>
          <a:prstGeom prst="rect">
            <a:avLst/>
          </a:prstGeom>
          <a:solidFill>
            <a:srgbClr val="FFFFFF"/>
          </a:solidFill>
          <a:ln w="15240">
            <a:solidFill>
              <a:srgbClr val="6B21C8"/>
            </a:solidFill>
            <a:prstDash val="solid"/>
          </a:ln>
          <a:effectLst>
            <a:outerShdw blurRad="101600" dist="38100" dir="8100000" algn="bl" rotWithShape="0">
              <a:srgbClr val="000000">
                <a:alpha val="12000"/>
              </a:srgbClr>
            </a:outerShdw>
          </a:effectLst>
        </p:spPr>
        <p:txBody>
          <a:bodyPr/>
          <a:lstStyle/>
          <a:p>
            <a:endParaRPr lang="en-IN"/>
          </a:p>
        </p:txBody>
      </p:sp>
      <p:sp>
        <p:nvSpPr>
          <p:cNvPr id="11" name="Shape 9"/>
          <p:cNvSpPr/>
          <p:nvPr/>
        </p:nvSpPr>
        <p:spPr>
          <a:xfrm>
            <a:off x="347472" y="1645920"/>
            <a:ext cx="50292" cy="3200400"/>
          </a:xfrm>
          <a:prstGeom prst="rect">
            <a:avLst/>
          </a:prstGeom>
          <a:solidFill>
            <a:srgbClr val="6B21C8"/>
          </a:solidFill>
          <a:ln w="12700">
            <a:solidFill>
              <a:srgbClr val="6B21C8"/>
            </a:solidFill>
            <a:prstDash val="solid"/>
          </a:ln>
        </p:spPr>
        <p:txBody>
          <a:bodyPr/>
          <a:lstStyle/>
          <a:p>
            <a:endParaRPr lang="en-IN"/>
          </a:p>
        </p:txBody>
      </p:sp>
      <p:sp>
        <p:nvSpPr>
          <p:cNvPr id="12" name="Text 10"/>
          <p:cNvSpPr/>
          <p:nvPr/>
        </p:nvSpPr>
        <p:spPr>
          <a:xfrm>
            <a:off x="493776" y="1755648"/>
            <a:ext cx="4663440" cy="292608"/>
          </a:xfrm>
          <a:prstGeom prst="rect">
            <a:avLst/>
          </a:prstGeom>
          <a:noFill/>
          <a:ln/>
        </p:spPr>
        <p:txBody>
          <a:bodyPr wrap="square" lIns="0" tIns="0" rIns="0" bIns="0" rtlCol="0" anchor="ctr"/>
          <a:lstStyle/>
          <a:p>
            <a:pPr marL="0" indent="0">
              <a:buNone/>
            </a:pPr>
            <a:r>
              <a:rPr lang="en-US" sz="1000" b="1" dirty="0">
                <a:solidFill>
                  <a:srgbClr val="1A1F5E"/>
                </a:solidFill>
                <a:latin typeface="Calibri" pitchFamily="34" charset="0"/>
                <a:ea typeface="Calibri" pitchFamily="34" charset="-122"/>
                <a:cs typeface="Calibri" pitchFamily="34" charset="-120"/>
              </a:rPr>
              <a:t>KEY TAKEAWAYS</a:t>
            </a:r>
            <a:endParaRPr lang="en-US" sz="1000" dirty="0"/>
          </a:p>
        </p:txBody>
      </p:sp>
      <p:sp>
        <p:nvSpPr>
          <p:cNvPr id="13" name="Shape 11"/>
          <p:cNvSpPr/>
          <p:nvPr/>
        </p:nvSpPr>
        <p:spPr>
          <a:xfrm>
            <a:off x="493776" y="2157984"/>
            <a:ext cx="201168" cy="201168"/>
          </a:xfrm>
          <a:prstGeom prst="ellipse">
            <a:avLst/>
          </a:prstGeom>
          <a:solidFill>
            <a:srgbClr val="6B21C8"/>
          </a:solidFill>
          <a:ln w="12700">
            <a:solidFill>
              <a:srgbClr val="6B21C8"/>
            </a:solidFill>
            <a:prstDash val="solid"/>
          </a:ln>
        </p:spPr>
        <p:txBody>
          <a:bodyPr/>
          <a:lstStyle/>
          <a:p>
            <a:endParaRPr lang="en-IN"/>
          </a:p>
        </p:txBody>
      </p:sp>
      <p:sp>
        <p:nvSpPr>
          <p:cNvPr id="14" name="Text 12"/>
          <p:cNvSpPr/>
          <p:nvPr/>
        </p:nvSpPr>
        <p:spPr>
          <a:xfrm>
            <a:off x="786384" y="2121408"/>
            <a:ext cx="4370832" cy="475488"/>
          </a:xfrm>
          <a:prstGeom prst="rect">
            <a:avLst/>
          </a:prstGeom>
          <a:noFill/>
          <a:ln/>
        </p:spPr>
        <p:txBody>
          <a:bodyPr wrap="square" lIns="0" tIns="0" rIns="0" bIns="0" rtlCol="0" anchor="ctr"/>
          <a:lstStyle/>
          <a:p>
            <a:pPr marL="0" indent="0">
              <a:lnSpc>
                <a:spcPct val="120000"/>
              </a:lnSpc>
              <a:buNone/>
            </a:pPr>
            <a:r>
              <a:rPr lang="en-US" sz="950" dirty="0">
                <a:solidFill>
                  <a:srgbClr val="4B5280"/>
                </a:solidFill>
                <a:latin typeface="Calibri" pitchFamily="34" charset="0"/>
                <a:ea typeface="Calibri" pitchFamily="34" charset="-122"/>
                <a:cs typeface="Calibri" pitchFamily="34" charset="-120"/>
              </a:rPr>
              <a:t>Decision Decay is real and quantifiable. The gap between available intelligence and executed decisions costs capital daily across every asset class.</a:t>
            </a:r>
            <a:endParaRPr lang="en-US" sz="950" dirty="0"/>
          </a:p>
        </p:txBody>
      </p:sp>
      <p:sp>
        <p:nvSpPr>
          <p:cNvPr id="15" name="Shape 13"/>
          <p:cNvSpPr/>
          <p:nvPr/>
        </p:nvSpPr>
        <p:spPr>
          <a:xfrm>
            <a:off x="493776" y="2670048"/>
            <a:ext cx="201168" cy="201168"/>
          </a:xfrm>
          <a:prstGeom prst="ellipse">
            <a:avLst/>
          </a:prstGeom>
          <a:solidFill>
            <a:srgbClr val="6B21C8"/>
          </a:solidFill>
          <a:ln w="12700">
            <a:solidFill>
              <a:srgbClr val="6B21C8"/>
            </a:solidFill>
            <a:prstDash val="solid"/>
          </a:ln>
        </p:spPr>
        <p:txBody>
          <a:bodyPr/>
          <a:lstStyle/>
          <a:p>
            <a:endParaRPr lang="en-IN"/>
          </a:p>
        </p:txBody>
      </p:sp>
      <p:sp>
        <p:nvSpPr>
          <p:cNvPr id="16" name="Text 14"/>
          <p:cNvSpPr/>
          <p:nvPr/>
        </p:nvSpPr>
        <p:spPr>
          <a:xfrm>
            <a:off x="786384" y="2633472"/>
            <a:ext cx="4370832" cy="475488"/>
          </a:xfrm>
          <a:prstGeom prst="rect">
            <a:avLst/>
          </a:prstGeom>
          <a:noFill/>
          <a:ln/>
        </p:spPr>
        <p:txBody>
          <a:bodyPr wrap="square" lIns="0" tIns="0" rIns="0" bIns="0" rtlCol="0" anchor="ctr"/>
          <a:lstStyle/>
          <a:p>
            <a:pPr marL="0" indent="0">
              <a:lnSpc>
                <a:spcPct val="120000"/>
              </a:lnSpc>
              <a:buNone/>
            </a:pPr>
            <a:r>
              <a:rPr lang="en-US" sz="950" dirty="0">
                <a:solidFill>
                  <a:srgbClr val="4B5280"/>
                </a:solidFill>
                <a:latin typeface="Calibri" pitchFamily="34" charset="0"/>
                <a:ea typeface="Calibri" pitchFamily="34" charset="-122"/>
                <a:cs typeface="Calibri" pitchFamily="34" charset="-120"/>
              </a:rPr>
              <a:t>The Institutional Firewall is the solution. Fnomo's pre-decision intelligence layer eliminates noise and delivers structured, scored insights before action.</a:t>
            </a:r>
            <a:endParaRPr lang="en-US" sz="950" dirty="0"/>
          </a:p>
        </p:txBody>
      </p:sp>
      <p:sp>
        <p:nvSpPr>
          <p:cNvPr id="17" name="Shape 15"/>
          <p:cNvSpPr/>
          <p:nvPr/>
        </p:nvSpPr>
        <p:spPr>
          <a:xfrm>
            <a:off x="493776" y="3182112"/>
            <a:ext cx="201168" cy="201168"/>
          </a:xfrm>
          <a:prstGeom prst="ellipse">
            <a:avLst/>
          </a:prstGeom>
          <a:solidFill>
            <a:srgbClr val="6B21C8"/>
          </a:solidFill>
          <a:ln w="12700">
            <a:solidFill>
              <a:srgbClr val="6B21C8"/>
            </a:solidFill>
            <a:prstDash val="solid"/>
          </a:ln>
        </p:spPr>
        <p:txBody>
          <a:bodyPr/>
          <a:lstStyle/>
          <a:p>
            <a:endParaRPr lang="en-IN"/>
          </a:p>
        </p:txBody>
      </p:sp>
      <p:sp>
        <p:nvSpPr>
          <p:cNvPr id="18" name="Text 16"/>
          <p:cNvSpPr/>
          <p:nvPr/>
        </p:nvSpPr>
        <p:spPr>
          <a:xfrm>
            <a:off x="786384" y="3145536"/>
            <a:ext cx="4370832" cy="475488"/>
          </a:xfrm>
          <a:prstGeom prst="rect">
            <a:avLst/>
          </a:prstGeom>
          <a:noFill/>
          <a:ln/>
        </p:spPr>
        <p:txBody>
          <a:bodyPr wrap="square" lIns="0" tIns="0" rIns="0" bIns="0" rtlCol="0" anchor="ctr"/>
          <a:lstStyle/>
          <a:p>
            <a:pPr marL="0" indent="0">
              <a:lnSpc>
                <a:spcPct val="120000"/>
              </a:lnSpc>
              <a:buNone/>
            </a:pPr>
            <a:r>
              <a:rPr lang="en-US" sz="950" dirty="0">
                <a:solidFill>
                  <a:srgbClr val="4B5280"/>
                </a:solidFill>
                <a:latin typeface="Calibri" pitchFamily="34" charset="0"/>
                <a:ea typeface="Calibri" pitchFamily="34" charset="-122"/>
                <a:cs typeface="Calibri" pitchFamily="34" charset="-120"/>
              </a:rPr>
              <a:t>Core capabilities are production-ready. Sentiment analysis, real-time processing, pattern recognition, and anomaly detection operate at institutional scale.</a:t>
            </a:r>
            <a:endParaRPr lang="en-US" sz="950" dirty="0"/>
          </a:p>
        </p:txBody>
      </p:sp>
      <p:sp>
        <p:nvSpPr>
          <p:cNvPr id="19" name="Shape 17"/>
          <p:cNvSpPr/>
          <p:nvPr/>
        </p:nvSpPr>
        <p:spPr>
          <a:xfrm>
            <a:off x="493776" y="3694176"/>
            <a:ext cx="201168" cy="201168"/>
          </a:xfrm>
          <a:prstGeom prst="ellipse">
            <a:avLst/>
          </a:prstGeom>
          <a:solidFill>
            <a:srgbClr val="6B21C8"/>
          </a:solidFill>
          <a:ln w="12700">
            <a:solidFill>
              <a:srgbClr val="6B21C8"/>
            </a:solidFill>
            <a:prstDash val="solid"/>
          </a:ln>
        </p:spPr>
        <p:txBody>
          <a:bodyPr/>
          <a:lstStyle/>
          <a:p>
            <a:endParaRPr lang="en-IN"/>
          </a:p>
        </p:txBody>
      </p:sp>
      <p:sp>
        <p:nvSpPr>
          <p:cNvPr id="20" name="Text 18"/>
          <p:cNvSpPr/>
          <p:nvPr/>
        </p:nvSpPr>
        <p:spPr>
          <a:xfrm>
            <a:off x="786384" y="3657600"/>
            <a:ext cx="4370832" cy="475488"/>
          </a:xfrm>
          <a:prstGeom prst="rect">
            <a:avLst/>
          </a:prstGeom>
          <a:noFill/>
          <a:ln/>
        </p:spPr>
        <p:txBody>
          <a:bodyPr wrap="square" lIns="0" tIns="0" rIns="0" bIns="0" rtlCol="0" anchor="ctr"/>
          <a:lstStyle/>
          <a:p>
            <a:pPr marL="0" indent="0">
              <a:lnSpc>
                <a:spcPct val="120000"/>
              </a:lnSpc>
              <a:buNone/>
            </a:pPr>
            <a:r>
              <a:rPr lang="en-US" sz="950" dirty="0">
                <a:solidFill>
                  <a:srgbClr val="4B5280"/>
                </a:solidFill>
                <a:latin typeface="Calibri" pitchFamily="34" charset="0"/>
                <a:ea typeface="Calibri" pitchFamily="34" charset="-122"/>
                <a:cs typeface="Calibri" pitchFamily="34" charset="-120"/>
              </a:rPr>
              <a:t>The Strategic Anchor Program is invitation-only. 12 exclusive positions globally for partners who want to co-architect the decision intelligence layer.</a:t>
            </a:r>
            <a:endParaRPr lang="en-US" sz="950" dirty="0"/>
          </a:p>
        </p:txBody>
      </p:sp>
      <p:sp>
        <p:nvSpPr>
          <p:cNvPr id="21" name="Shape 19"/>
          <p:cNvSpPr/>
          <p:nvPr/>
        </p:nvSpPr>
        <p:spPr>
          <a:xfrm>
            <a:off x="493776" y="4206240"/>
            <a:ext cx="201168" cy="201168"/>
          </a:xfrm>
          <a:prstGeom prst="ellipse">
            <a:avLst/>
          </a:prstGeom>
          <a:solidFill>
            <a:srgbClr val="6B21C8"/>
          </a:solidFill>
          <a:ln w="12700">
            <a:solidFill>
              <a:srgbClr val="6B21C8"/>
            </a:solidFill>
            <a:prstDash val="solid"/>
          </a:ln>
        </p:spPr>
        <p:txBody>
          <a:bodyPr/>
          <a:lstStyle/>
          <a:p>
            <a:endParaRPr lang="en-IN"/>
          </a:p>
        </p:txBody>
      </p:sp>
      <p:sp>
        <p:nvSpPr>
          <p:cNvPr id="22" name="Text 20"/>
          <p:cNvSpPr/>
          <p:nvPr/>
        </p:nvSpPr>
        <p:spPr>
          <a:xfrm>
            <a:off x="786384" y="4169664"/>
            <a:ext cx="4370832" cy="475488"/>
          </a:xfrm>
          <a:prstGeom prst="rect">
            <a:avLst/>
          </a:prstGeom>
          <a:noFill/>
          <a:ln/>
        </p:spPr>
        <p:txBody>
          <a:bodyPr wrap="square" lIns="0" tIns="0" rIns="0" bIns="0" rtlCol="0" anchor="ctr"/>
          <a:lstStyle/>
          <a:p>
            <a:pPr marL="0" indent="0">
              <a:lnSpc>
                <a:spcPct val="120000"/>
              </a:lnSpc>
              <a:buNone/>
            </a:pPr>
            <a:r>
              <a:rPr lang="en-US" sz="950" dirty="0">
                <a:solidFill>
                  <a:srgbClr val="4B5280"/>
                </a:solidFill>
                <a:latin typeface="Calibri" pitchFamily="34" charset="0"/>
                <a:ea typeface="Calibri" pitchFamily="34" charset="-122"/>
                <a:cs typeface="Calibri" pitchFamily="34" charset="-120"/>
              </a:rPr>
              <a:t>Partnership structure is performance-aligned. Revenue participation, co-branding, and integration rights structured around mutual growth incentives.</a:t>
            </a:r>
            <a:endParaRPr lang="en-US" sz="950" dirty="0"/>
          </a:p>
        </p:txBody>
      </p:sp>
      <p:sp>
        <p:nvSpPr>
          <p:cNvPr id="23" name="Shape 21"/>
          <p:cNvSpPr/>
          <p:nvPr/>
        </p:nvSpPr>
        <p:spPr>
          <a:xfrm>
            <a:off x="5440680" y="1645920"/>
            <a:ext cx="3364992" cy="3200400"/>
          </a:xfrm>
          <a:prstGeom prst="rect">
            <a:avLst/>
          </a:prstGeom>
          <a:solidFill>
            <a:srgbClr val="1A1F5E"/>
          </a:solidFill>
          <a:ln w="15240">
            <a:solidFill>
              <a:srgbClr val="1A1F5E"/>
            </a:solidFill>
            <a:prstDash val="solid"/>
          </a:ln>
          <a:effectLst>
            <a:outerShdw blurRad="101600" dist="38100" dir="8100000" algn="bl" rotWithShape="0">
              <a:srgbClr val="000000">
                <a:alpha val="12000"/>
              </a:srgbClr>
            </a:outerShdw>
          </a:effectLst>
        </p:spPr>
        <p:txBody>
          <a:bodyPr/>
          <a:lstStyle/>
          <a:p>
            <a:endParaRPr lang="en-IN"/>
          </a:p>
        </p:txBody>
      </p:sp>
      <p:sp>
        <p:nvSpPr>
          <p:cNvPr id="24" name="Shape 22"/>
          <p:cNvSpPr/>
          <p:nvPr/>
        </p:nvSpPr>
        <p:spPr>
          <a:xfrm>
            <a:off x="5440680" y="1645920"/>
            <a:ext cx="50292" cy="3200400"/>
          </a:xfrm>
          <a:prstGeom prst="rect">
            <a:avLst/>
          </a:prstGeom>
          <a:solidFill>
            <a:srgbClr val="1A1F5E"/>
          </a:solidFill>
          <a:ln w="12700">
            <a:solidFill>
              <a:srgbClr val="1A1F5E"/>
            </a:solidFill>
            <a:prstDash val="solid"/>
          </a:ln>
        </p:spPr>
        <p:txBody>
          <a:bodyPr/>
          <a:lstStyle/>
          <a:p>
            <a:endParaRPr lang="en-IN"/>
          </a:p>
        </p:txBody>
      </p:sp>
      <p:sp>
        <p:nvSpPr>
          <p:cNvPr id="25" name="Text 23"/>
          <p:cNvSpPr/>
          <p:nvPr/>
        </p:nvSpPr>
        <p:spPr>
          <a:xfrm>
            <a:off x="5577840" y="1755648"/>
            <a:ext cx="3090672" cy="27432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NEXT STEPS</a:t>
            </a:r>
            <a:endParaRPr lang="en-US" sz="1000" dirty="0"/>
          </a:p>
        </p:txBody>
      </p:sp>
      <p:sp>
        <p:nvSpPr>
          <p:cNvPr id="26" name="Shape 24"/>
          <p:cNvSpPr/>
          <p:nvPr/>
        </p:nvSpPr>
        <p:spPr>
          <a:xfrm>
            <a:off x="5577840" y="2103120"/>
            <a:ext cx="3090672" cy="548640"/>
          </a:xfrm>
          <a:prstGeom prst="roundRect">
            <a:avLst>
              <a:gd name="adj" fmla="val 10000"/>
            </a:avLst>
          </a:prstGeom>
          <a:solidFill>
            <a:srgbClr val="1E2860"/>
          </a:solidFill>
          <a:ln w="10160">
            <a:solidFill>
              <a:srgbClr val="2563EB"/>
            </a:solidFill>
            <a:prstDash val="solid"/>
          </a:ln>
        </p:spPr>
        <p:txBody>
          <a:bodyPr/>
          <a:lstStyle/>
          <a:p>
            <a:endParaRPr lang="en-IN"/>
          </a:p>
        </p:txBody>
      </p:sp>
      <p:sp>
        <p:nvSpPr>
          <p:cNvPr id="27" name="Text 25"/>
          <p:cNvSpPr/>
          <p:nvPr/>
        </p:nvSpPr>
        <p:spPr>
          <a:xfrm>
            <a:off x="5614416" y="2103120"/>
            <a:ext cx="411480" cy="548640"/>
          </a:xfrm>
          <a:prstGeom prst="rect">
            <a:avLst/>
          </a:prstGeom>
          <a:noFill/>
          <a:ln/>
        </p:spPr>
        <p:txBody>
          <a:bodyPr wrap="square" lIns="0" tIns="0" rIns="0" bIns="0" rtlCol="0" anchor="ctr"/>
          <a:lstStyle/>
          <a:p>
            <a:pPr marL="0" indent="0" algn="ctr">
              <a:buNone/>
            </a:pPr>
            <a:r>
              <a:rPr lang="en-US" sz="1400" b="1" dirty="0">
                <a:solidFill>
                  <a:srgbClr val="9333EA"/>
                </a:solidFill>
                <a:latin typeface="Calibri" pitchFamily="34" charset="0"/>
                <a:ea typeface="Calibri" pitchFamily="34" charset="-122"/>
                <a:cs typeface="Calibri" pitchFamily="34" charset="-120"/>
              </a:rPr>
              <a:t>01</a:t>
            </a:r>
            <a:endParaRPr lang="en-US" sz="1400" dirty="0"/>
          </a:p>
        </p:txBody>
      </p:sp>
      <p:sp>
        <p:nvSpPr>
          <p:cNvPr id="28" name="Text 26"/>
          <p:cNvSpPr/>
          <p:nvPr/>
        </p:nvSpPr>
        <p:spPr>
          <a:xfrm>
            <a:off x="6053328" y="2121408"/>
            <a:ext cx="2560320" cy="219456"/>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NDA Execution</a:t>
            </a:r>
            <a:endParaRPr lang="en-US" sz="950" dirty="0"/>
          </a:p>
        </p:txBody>
      </p:sp>
      <p:sp>
        <p:nvSpPr>
          <p:cNvPr id="29" name="Text 27"/>
          <p:cNvSpPr/>
          <p:nvPr/>
        </p:nvSpPr>
        <p:spPr>
          <a:xfrm>
            <a:off x="6053328" y="2322576"/>
            <a:ext cx="2560320" cy="292608"/>
          </a:xfrm>
          <a:prstGeom prst="rect">
            <a:avLst/>
          </a:prstGeom>
          <a:noFill/>
          <a:ln/>
        </p:spPr>
        <p:txBody>
          <a:bodyPr wrap="square" lIns="0" tIns="0" rIns="0" bIns="0" rtlCol="0" anchor="ctr"/>
          <a:lstStyle/>
          <a:p>
            <a:pPr marL="0" indent="0">
              <a:lnSpc>
                <a:spcPct val="115000"/>
              </a:lnSpc>
              <a:buNone/>
            </a:pPr>
            <a:r>
              <a:rPr lang="en-US" sz="800" dirty="0">
                <a:solidFill>
                  <a:srgbClr val="8899CC"/>
                </a:solidFill>
                <a:latin typeface="Calibri" pitchFamily="34" charset="0"/>
                <a:ea typeface="Calibri" pitchFamily="34" charset="-122"/>
                <a:cs typeface="Calibri" pitchFamily="34" charset="-120"/>
              </a:rPr>
              <a:t>Mutual non-disclosure agreement to enable full platform disclosure</a:t>
            </a:r>
            <a:endParaRPr lang="en-US" sz="800" dirty="0"/>
          </a:p>
        </p:txBody>
      </p:sp>
      <p:sp>
        <p:nvSpPr>
          <p:cNvPr id="30" name="Shape 28"/>
          <p:cNvSpPr/>
          <p:nvPr/>
        </p:nvSpPr>
        <p:spPr>
          <a:xfrm>
            <a:off x="5577840" y="2779776"/>
            <a:ext cx="3090672" cy="548640"/>
          </a:xfrm>
          <a:prstGeom prst="roundRect">
            <a:avLst>
              <a:gd name="adj" fmla="val 10000"/>
            </a:avLst>
          </a:prstGeom>
          <a:solidFill>
            <a:srgbClr val="1E2860"/>
          </a:solidFill>
          <a:ln w="10160">
            <a:solidFill>
              <a:srgbClr val="2563EB"/>
            </a:solidFill>
            <a:prstDash val="solid"/>
          </a:ln>
        </p:spPr>
        <p:txBody>
          <a:bodyPr/>
          <a:lstStyle/>
          <a:p>
            <a:endParaRPr lang="en-IN"/>
          </a:p>
        </p:txBody>
      </p:sp>
      <p:sp>
        <p:nvSpPr>
          <p:cNvPr id="31" name="Text 29"/>
          <p:cNvSpPr/>
          <p:nvPr/>
        </p:nvSpPr>
        <p:spPr>
          <a:xfrm>
            <a:off x="5614416" y="2779776"/>
            <a:ext cx="411480" cy="548640"/>
          </a:xfrm>
          <a:prstGeom prst="rect">
            <a:avLst/>
          </a:prstGeom>
          <a:noFill/>
          <a:ln/>
        </p:spPr>
        <p:txBody>
          <a:bodyPr wrap="square" lIns="0" tIns="0" rIns="0" bIns="0" rtlCol="0" anchor="ctr"/>
          <a:lstStyle/>
          <a:p>
            <a:pPr marL="0" indent="0" algn="ctr">
              <a:buNone/>
            </a:pPr>
            <a:r>
              <a:rPr lang="en-US" sz="1400" b="1" dirty="0">
                <a:solidFill>
                  <a:srgbClr val="9333EA"/>
                </a:solidFill>
                <a:latin typeface="Calibri" pitchFamily="34" charset="0"/>
                <a:ea typeface="Calibri" pitchFamily="34" charset="-122"/>
                <a:cs typeface="Calibri" pitchFamily="34" charset="-120"/>
              </a:rPr>
              <a:t>02</a:t>
            </a:r>
            <a:endParaRPr lang="en-US" sz="1400" dirty="0"/>
          </a:p>
        </p:txBody>
      </p:sp>
      <p:sp>
        <p:nvSpPr>
          <p:cNvPr id="32" name="Text 30"/>
          <p:cNvSpPr/>
          <p:nvPr/>
        </p:nvSpPr>
        <p:spPr>
          <a:xfrm>
            <a:off x="6053328" y="2798064"/>
            <a:ext cx="2560320" cy="219456"/>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Technical Discovery</a:t>
            </a:r>
            <a:endParaRPr lang="en-US" sz="950" dirty="0"/>
          </a:p>
        </p:txBody>
      </p:sp>
      <p:sp>
        <p:nvSpPr>
          <p:cNvPr id="33" name="Text 31"/>
          <p:cNvSpPr/>
          <p:nvPr/>
        </p:nvSpPr>
        <p:spPr>
          <a:xfrm>
            <a:off x="6053328" y="2999232"/>
            <a:ext cx="2560320" cy="292608"/>
          </a:xfrm>
          <a:prstGeom prst="rect">
            <a:avLst/>
          </a:prstGeom>
          <a:noFill/>
          <a:ln/>
        </p:spPr>
        <p:txBody>
          <a:bodyPr wrap="square" lIns="0" tIns="0" rIns="0" bIns="0" rtlCol="0" anchor="ctr"/>
          <a:lstStyle/>
          <a:p>
            <a:pPr marL="0" indent="0">
              <a:lnSpc>
                <a:spcPct val="115000"/>
              </a:lnSpc>
              <a:buNone/>
            </a:pPr>
            <a:r>
              <a:rPr lang="en-US" sz="800" dirty="0">
                <a:solidFill>
                  <a:srgbClr val="8899CC"/>
                </a:solidFill>
                <a:latin typeface="Calibri" pitchFamily="34" charset="0"/>
                <a:ea typeface="Calibri" pitchFamily="34" charset="-122"/>
                <a:cs typeface="Calibri" pitchFamily="34" charset="-120"/>
              </a:rPr>
              <a:t>30-minute architecture review with Fnomo engineering team</a:t>
            </a:r>
            <a:endParaRPr lang="en-US" sz="800" dirty="0"/>
          </a:p>
        </p:txBody>
      </p:sp>
      <p:sp>
        <p:nvSpPr>
          <p:cNvPr id="34" name="Shape 32"/>
          <p:cNvSpPr/>
          <p:nvPr/>
        </p:nvSpPr>
        <p:spPr>
          <a:xfrm>
            <a:off x="5577840" y="3456432"/>
            <a:ext cx="3090672" cy="548640"/>
          </a:xfrm>
          <a:prstGeom prst="roundRect">
            <a:avLst>
              <a:gd name="adj" fmla="val 10000"/>
            </a:avLst>
          </a:prstGeom>
          <a:solidFill>
            <a:srgbClr val="1E2860"/>
          </a:solidFill>
          <a:ln w="10160">
            <a:solidFill>
              <a:srgbClr val="2563EB"/>
            </a:solidFill>
            <a:prstDash val="solid"/>
          </a:ln>
        </p:spPr>
        <p:txBody>
          <a:bodyPr/>
          <a:lstStyle/>
          <a:p>
            <a:endParaRPr lang="en-IN"/>
          </a:p>
        </p:txBody>
      </p:sp>
      <p:sp>
        <p:nvSpPr>
          <p:cNvPr id="35" name="Text 33"/>
          <p:cNvSpPr/>
          <p:nvPr/>
        </p:nvSpPr>
        <p:spPr>
          <a:xfrm>
            <a:off x="5614416" y="3456432"/>
            <a:ext cx="411480" cy="548640"/>
          </a:xfrm>
          <a:prstGeom prst="rect">
            <a:avLst/>
          </a:prstGeom>
          <a:noFill/>
          <a:ln/>
        </p:spPr>
        <p:txBody>
          <a:bodyPr wrap="square" lIns="0" tIns="0" rIns="0" bIns="0" rtlCol="0" anchor="ctr"/>
          <a:lstStyle/>
          <a:p>
            <a:pPr marL="0" indent="0" algn="ctr">
              <a:buNone/>
            </a:pPr>
            <a:r>
              <a:rPr lang="en-US" sz="1400" b="1" dirty="0">
                <a:solidFill>
                  <a:srgbClr val="9333EA"/>
                </a:solidFill>
                <a:latin typeface="Calibri" pitchFamily="34" charset="0"/>
                <a:ea typeface="Calibri" pitchFamily="34" charset="-122"/>
                <a:cs typeface="Calibri" pitchFamily="34" charset="-120"/>
              </a:rPr>
              <a:t>03</a:t>
            </a:r>
            <a:endParaRPr lang="en-US" sz="1400" dirty="0"/>
          </a:p>
        </p:txBody>
      </p:sp>
      <p:sp>
        <p:nvSpPr>
          <p:cNvPr id="36" name="Text 34"/>
          <p:cNvSpPr/>
          <p:nvPr/>
        </p:nvSpPr>
        <p:spPr>
          <a:xfrm>
            <a:off x="6053328" y="3474720"/>
            <a:ext cx="2560320" cy="219456"/>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Pilot Integration</a:t>
            </a:r>
            <a:endParaRPr lang="en-US" sz="950" dirty="0"/>
          </a:p>
        </p:txBody>
      </p:sp>
      <p:sp>
        <p:nvSpPr>
          <p:cNvPr id="37" name="Text 35"/>
          <p:cNvSpPr/>
          <p:nvPr/>
        </p:nvSpPr>
        <p:spPr>
          <a:xfrm>
            <a:off x="6053328" y="3675888"/>
            <a:ext cx="2560320" cy="292608"/>
          </a:xfrm>
          <a:prstGeom prst="rect">
            <a:avLst/>
          </a:prstGeom>
          <a:noFill/>
          <a:ln/>
        </p:spPr>
        <p:txBody>
          <a:bodyPr wrap="square" lIns="0" tIns="0" rIns="0" bIns="0" rtlCol="0" anchor="ctr"/>
          <a:lstStyle/>
          <a:p>
            <a:pPr marL="0" indent="0">
              <a:lnSpc>
                <a:spcPct val="115000"/>
              </a:lnSpc>
              <a:buNone/>
            </a:pPr>
            <a:r>
              <a:rPr lang="en-US" sz="800" dirty="0">
                <a:solidFill>
                  <a:srgbClr val="8899CC"/>
                </a:solidFill>
                <a:latin typeface="Calibri" pitchFamily="34" charset="0"/>
                <a:ea typeface="Calibri" pitchFamily="34" charset="-122"/>
                <a:cs typeface="Calibri" pitchFamily="34" charset="-120"/>
              </a:rPr>
              <a:t>Structured 60-day pilot with defined success metrics</a:t>
            </a:r>
            <a:endParaRPr lang="en-US" sz="800" dirty="0"/>
          </a:p>
        </p:txBody>
      </p:sp>
      <p:sp>
        <p:nvSpPr>
          <p:cNvPr id="38" name="Shape 36"/>
          <p:cNvSpPr/>
          <p:nvPr/>
        </p:nvSpPr>
        <p:spPr>
          <a:xfrm>
            <a:off x="5577840" y="4133088"/>
            <a:ext cx="3090672" cy="548640"/>
          </a:xfrm>
          <a:prstGeom prst="roundRect">
            <a:avLst>
              <a:gd name="adj" fmla="val 10000"/>
            </a:avLst>
          </a:prstGeom>
          <a:solidFill>
            <a:srgbClr val="1E2860"/>
          </a:solidFill>
          <a:ln w="10160">
            <a:solidFill>
              <a:srgbClr val="2563EB"/>
            </a:solidFill>
            <a:prstDash val="solid"/>
          </a:ln>
        </p:spPr>
        <p:txBody>
          <a:bodyPr/>
          <a:lstStyle/>
          <a:p>
            <a:endParaRPr lang="en-IN"/>
          </a:p>
        </p:txBody>
      </p:sp>
      <p:sp>
        <p:nvSpPr>
          <p:cNvPr id="39" name="Text 37"/>
          <p:cNvSpPr/>
          <p:nvPr/>
        </p:nvSpPr>
        <p:spPr>
          <a:xfrm>
            <a:off x="5614416" y="4133088"/>
            <a:ext cx="411480" cy="548640"/>
          </a:xfrm>
          <a:prstGeom prst="rect">
            <a:avLst/>
          </a:prstGeom>
          <a:noFill/>
          <a:ln/>
        </p:spPr>
        <p:txBody>
          <a:bodyPr wrap="square" lIns="0" tIns="0" rIns="0" bIns="0" rtlCol="0" anchor="ctr"/>
          <a:lstStyle/>
          <a:p>
            <a:pPr marL="0" indent="0" algn="ctr">
              <a:buNone/>
            </a:pPr>
            <a:r>
              <a:rPr lang="en-US" sz="1400" b="1" dirty="0">
                <a:solidFill>
                  <a:srgbClr val="9333EA"/>
                </a:solidFill>
                <a:latin typeface="Calibri" pitchFamily="34" charset="0"/>
                <a:ea typeface="Calibri" pitchFamily="34" charset="-122"/>
                <a:cs typeface="Calibri" pitchFamily="34" charset="-120"/>
              </a:rPr>
              <a:t>04</a:t>
            </a:r>
            <a:endParaRPr lang="en-US" sz="1400" dirty="0"/>
          </a:p>
        </p:txBody>
      </p:sp>
      <p:sp>
        <p:nvSpPr>
          <p:cNvPr id="40" name="Text 38"/>
          <p:cNvSpPr/>
          <p:nvPr/>
        </p:nvSpPr>
        <p:spPr>
          <a:xfrm>
            <a:off x="6053328" y="4151376"/>
            <a:ext cx="2560320" cy="219456"/>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Anchor Nomination</a:t>
            </a:r>
            <a:endParaRPr lang="en-US" sz="950" dirty="0"/>
          </a:p>
        </p:txBody>
      </p:sp>
      <p:sp>
        <p:nvSpPr>
          <p:cNvPr id="41" name="Text 39"/>
          <p:cNvSpPr/>
          <p:nvPr/>
        </p:nvSpPr>
        <p:spPr>
          <a:xfrm>
            <a:off x="6053328" y="4352544"/>
            <a:ext cx="2560320" cy="292608"/>
          </a:xfrm>
          <a:prstGeom prst="rect">
            <a:avLst/>
          </a:prstGeom>
          <a:noFill/>
          <a:ln/>
        </p:spPr>
        <p:txBody>
          <a:bodyPr wrap="square" lIns="0" tIns="0" rIns="0" bIns="0" rtlCol="0" anchor="ctr"/>
          <a:lstStyle/>
          <a:p>
            <a:pPr marL="0" indent="0">
              <a:lnSpc>
                <a:spcPct val="115000"/>
              </a:lnSpc>
              <a:buNone/>
            </a:pPr>
            <a:r>
              <a:rPr lang="en-US" sz="800" dirty="0">
                <a:solidFill>
                  <a:srgbClr val="8899CC"/>
                </a:solidFill>
                <a:latin typeface="Calibri" pitchFamily="34" charset="0"/>
                <a:ea typeface="Calibri" pitchFamily="34" charset="-122"/>
                <a:cs typeface="Calibri" pitchFamily="34" charset="-120"/>
              </a:rPr>
              <a:t>Formal invitation to the Strategic Anchor Program if criteria are met</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235"/>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F1235"/>
          </a:solidFill>
          <a:ln w="12700">
            <a:solidFill>
              <a:srgbClr val="0F1235"/>
            </a:solidFill>
            <a:prstDash val="solid"/>
          </a:ln>
        </p:spPr>
        <p:txBody>
          <a:bodyPr/>
          <a:lstStyle/>
          <a:p>
            <a:endParaRPr lang="en-IN"/>
          </a:p>
        </p:txBody>
      </p:sp>
      <p:sp>
        <p:nvSpPr>
          <p:cNvPr id="3" name="Shape 1"/>
          <p:cNvSpPr/>
          <p:nvPr/>
        </p:nvSpPr>
        <p:spPr>
          <a:xfrm>
            <a:off x="0" y="0"/>
            <a:ext cx="9144000" cy="0"/>
          </a:xfrm>
          <a:prstGeom prst="line">
            <a:avLst/>
          </a:prstGeom>
          <a:noFill/>
          <a:ln w="6350">
            <a:solidFill>
              <a:srgbClr val="1E2460"/>
            </a:solidFill>
            <a:prstDash val="solid"/>
          </a:ln>
        </p:spPr>
        <p:txBody>
          <a:bodyPr/>
          <a:lstStyle/>
          <a:p>
            <a:endParaRPr lang="en-IN"/>
          </a:p>
        </p:txBody>
      </p:sp>
      <p:sp>
        <p:nvSpPr>
          <p:cNvPr id="4" name="Shape 2"/>
          <p:cNvSpPr/>
          <p:nvPr/>
        </p:nvSpPr>
        <p:spPr>
          <a:xfrm>
            <a:off x="0" y="571500"/>
            <a:ext cx="9144000" cy="0"/>
          </a:xfrm>
          <a:prstGeom prst="line">
            <a:avLst/>
          </a:prstGeom>
          <a:noFill/>
          <a:ln w="6350">
            <a:solidFill>
              <a:srgbClr val="1E2460"/>
            </a:solidFill>
            <a:prstDash val="solid"/>
          </a:ln>
        </p:spPr>
        <p:txBody>
          <a:bodyPr/>
          <a:lstStyle/>
          <a:p>
            <a:endParaRPr lang="en-IN"/>
          </a:p>
        </p:txBody>
      </p:sp>
      <p:sp>
        <p:nvSpPr>
          <p:cNvPr id="5" name="Shape 3"/>
          <p:cNvSpPr/>
          <p:nvPr/>
        </p:nvSpPr>
        <p:spPr>
          <a:xfrm>
            <a:off x="0" y="1143000"/>
            <a:ext cx="9144000" cy="0"/>
          </a:xfrm>
          <a:prstGeom prst="line">
            <a:avLst/>
          </a:prstGeom>
          <a:noFill/>
          <a:ln w="6350">
            <a:solidFill>
              <a:srgbClr val="1E2460"/>
            </a:solidFill>
            <a:prstDash val="solid"/>
          </a:ln>
        </p:spPr>
        <p:txBody>
          <a:bodyPr/>
          <a:lstStyle/>
          <a:p>
            <a:endParaRPr lang="en-IN"/>
          </a:p>
        </p:txBody>
      </p:sp>
      <p:sp>
        <p:nvSpPr>
          <p:cNvPr id="6" name="Shape 4"/>
          <p:cNvSpPr/>
          <p:nvPr/>
        </p:nvSpPr>
        <p:spPr>
          <a:xfrm>
            <a:off x="0" y="1714500"/>
            <a:ext cx="9144000" cy="0"/>
          </a:xfrm>
          <a:prstGeom prst="line">
            <a:avLst/>
          </a:prstGeom>
          <a:noFill/>
          <a:ln w="6350">
            <a:solidFill>
              <a:srgbClr val="1E2460"/>
            </a:solidFill>
            <a:prstDash val="solid"/>
          </a:ln>
        </p:spPr>
        <p:txBody>
          <a:bodyPr/>
          <a:lstStyle/>
          <a:p>
            <a:endParaRPr lang="en-IN"/>
          </a:p>
        </p:txBody>
      </p:sp>
      <p:sp>
        <p:nvSpPr>
          <p:cNvPr id="7" name="Shape 5"/>
          <p:cNvSpPr/>
          <p:nvPr/>
        </p:nvSpPr>
        <p:spPr>
          <a:xfrm>
            <a:off x="0" y="2286000"/>
            <a:ext cx="9144000" cy="0"/>
          </a:xfrm>
          <a:prstGeom prst="line">
            <a:avLst/>
          </a:prstGeom>
          <a:noFill/>
          <a:ln w="6350">
            <a:solidFill>
              <a:srgbClr val="1E2460"/>
            </a:solidFill>
            <a:prstDash val="solid"/>
          </a:ln>
        </p:spPr>
        <p:txBody>
          <a:bodyPr/>
          <a:lstStyle/>
          <a:p>
            <a:endParaRPr lang="en-IN"/>
          </a:p>
        </p:txBody>
      </p:sp>
      <p:sp>
        <p:nvSpPr>
          <p:cNvPr id="8" name="Shape 6"/>
          <p:cNvSpPr/>
          <p:nvPr/>
        </p:nvSpPr>
        <p:spPr>
          <a:xfrm>
            <a:off x="0" y="2857500"/>
            <a:ext cx="9144000" cy="0"/>
          </a:xfrm>
          <a:prstGeom prst="line">
            <a:avLst/>
          </a:prstGeom>
          <a:noFill/>
          <a:ln w="6350">
            <a:solidFill>
              <a:srgbClr val="1E2460"/>
            </a:solidFill>
            <a:prstDash val="solid"/>
          </a:ln>
        </p:spPr>
        <p:txBody>
          <a:bodyPr/>
          <a:lstStyle/>
          <a:p>
            <a:endParaRPr lang="en-IN"/>
          </a:p>
        </p:txBody>
      </p:sp>
      <p:sp>
        <p:nvSpPr>
          <p:cNvPr id="9" name="Shape 7"/>
          <p:cNvSpPr/>
          <p:nvPr/>
        </p:nvSpPr>
        <p:spPr>
          <a:xfrm>
            <a:off x="0" y="3429000"/>
            <a:ext cx="9144000" cy="0"/>
          </a:xfrm>
          <a:prstGeom prst="line">
            <a:avLst/>
          </a:prstGeom>
          <a:noFill/>
          <a:ln w="6350">
            <a:solidFill>
              <a:srgbClr val="1E2460"/>
            </a:solidFill>
            <a:prstDash val="solid"/>
          </a:ln>
        </p:spPr>
        <p:txBody>
          <a:bodyPr/>
          <a:lstStyle/>
          <a:p>
            <a:endParaRPr lang="en-IN"/>
          </a:p>
        </p:txBody>
      </p:sp>
      <p:sp>
        <p:nvSpPr>
          <p:cNvPr id="10" name="Shape 8"/>
          <p:cNvSpPr/>
          <p:nvPr/>
        </p:nvSpPr>
        <p:spPr>
          <a:xfrm>
            <a:off x="0" y="4000500"/>
            <a:ext cx="9144000" cy="0"/>
          </a:xfrm>
          <a:prstGeom prst="line">
            <a:avLst/>
          </a:prstGeom>
          <a:noFill/>
          <a:ln w="6350">
            <a:solidFill>
              <a:srgbClr val="1E2460"/>
            </a:solidFill>
            <a:prstDash val="solid"/>
          </a:ln>
        </p:spPr>
        <p:txBody>
          <a:bodyPr/>
          <a:lstStyle/>
          <a:p>
            <a:endParaRPr lang="en-IN"/>
          </a:p>
        </p:txBody>
      </p:sp>
      <p:sp>
        <p:nvSpPr>
          <p:cNvPr id="11" name="Shape 9"/>
          <p:cNvSpPr/>
          <p:nvPr/>
        </p:nvSpPr>
        <p:spPr>
          <a:xfrm>
            <a:off x="0" y="4572000"/>
            <a:ext cx="9144000" cy="0"/>
          </a:xfrm>
          <a:prstGeom prst="line">
            <a:avLst/>
          </a:prstGeom>
          <a:noFill/>
          <a:ln w="6350">
            <a:solidFill>
              <a:srgbClr val="1E2460"/>
            </a:solidFill>
            <a:prstDash val="solid"/>
          </a:ln>
        </p:spPr>
        <p:txBody>
          <a:bodyPr/>
          <a:lstStyle/>
          <a:p>
            <a:endParaRPr lang="en-IN"/>
          </a:p>
        </p:txBody>
      </p:sp>
      <p:sp>
        <p:nvSpPr>
          <p:cNvPr id="12" name="Shape 10"/>
          <p:cNvSpPr/>
          <p:nvPr/>
        </p:nvSpPr>
        <p:spPr>
          <a:xfrm>
            <a:off x="0" y="0"/>
            <a:ext cx="0" cy="5143500"/>
          </a:xfrm>
          <a:prstGeom prst="line">
            <a:avLst/>
          </a:prstGeom>
          <a:noFill/>
          <a:ln w="6350">
            <a:solidFill>
              <a:srgbClr val="1E2460"/>
            </a:solidFill>
            <a:prstDash val="solid"/>
          </a:ln>
        </p:spPr>
        <p:txBody>
          <a:bodyPr/>
          <a:lstStyle/>
          <a:p>
            <a:endParaRPr lang="en-IN"/>
          </a:p>
        </p:txBody>
      </p:sp>
      <p:sp>
        <p:nvSpPr>
          <p:cNvPr id="13" name="Shape 11"/>
          <p:cNvSpPr/>
          <p:nvPr/>
        </p:nvSpPr>
        <p:spPr>
          <a:xfrm>
            <a:off x="758952" y="0"/>
            <a:ext cx="0" cy="5143500"/>
          </a:xfrm>
          <a:prstGeom prst="line">
            <a:avLst/>
          </a:prstGeom>
          <a:noFill/>
          <a:ln w="6350">
            <a:solidFill>
              <a:srgbClr val="1E2460"/>
            </a:solidFill>
            <a:prstDash val="solid"/>
          </a:ln>
        </p:spPr>
        <p:txBody>
          <a:bodyPr/>
          <a:lstStyle/>
          <a:p>
            <a:endParaRPr lang="en-IN"/>
          </a:p>
        </p:txBody>
      </p:sp>
      <p:sp>
        <p:nvSpPr>
          <p:cNvPr id="14" name="Shape 12"/>
          <p:cNvSpPr/>
          <p:nvPr/>
        </p:nvSpPr>
        <p:spPr>
          <a:xfrm>
            <a:off x="1517904" y="0"/>
            <a:ext cx="0" cy="5143500"/>
          </a:xfrm>
          <a:prstGeom prst="line">
            <a:avLst/>
          </a:prstGeom>
          <a:noFill/>
          <a:ln w="6350">
            <a:solidFill>
              <a:srgbClr val="1E2460"/>
            </a:solidFill>
            <a:prstDash val="solid"/>
          </a:ln>
        </p:spPr>
        <p:txBody>
          <a:bodyPr/>
          <a:lstStyle/>
          <a:p>
            <a:endParaRPr lang="en-IN"/>
          </a:p>
        </p:txBody>
      </p:sp>
      <p:sp>
        <p:nvSpPr>
          <p:cNvPr id="15" name="Shape 13"/>
          <p:cNvSpPr/>
          <p:nvPr/>
        </p:nvSpPr>
        <p:spPr>
          <a:xfrm>
            <a:off x="2276856" y="0"/>
            <a:ext cx="0" cy="5143500"/>
          </a:xfrm>
          <a:prstGeom prst="line">
            <a:avLst/>
          </a:prstGeom>
          <a:noFill/>
          <a:ln w="6350">
            <a:solidFill>
              <a:srgbClr val="1E2460"/>
            </a:solidFill>
            <a:prstDash val="solid"/>
          </a:ln>
        </p:spPr>
        <p:txBody>
          <a:bodyPr/>
          <a:lstStyle/>
          <a:p>
            <a:endParaRPr lang="en-IN"/>
          </a:p>
        </p:txBody>
      </p:sp>
      <p:sp>
        <p:nvSpPr>
          <p:cNvPr id="16" name="Shape 14"/>
          <p:cNvSpPr/>
          <p:nvPr/>
        </p:nvSpPr>
        <p:spPr>
          <a:xfrm>
            <a:off x="3035808" y="0"/>
            <a:ext cx="0" cy="5143500"/>
          </a:xfrm>
          <a:prstGeom prst="line">
            <a:avLst/>
          </a:prstGeom>
          <a:noFill/>
          <a:ln w="6350">
            <a:solidFill>
              <a:srgbClr val="1E2460"/>
            </a:solidFill>
            <a:prstDash val="solid"/>
          </a:ln>
        </p:spPr>
        <p:txBody>
          <a:bodyPr/>
          <a:lstStyle/>
          <a:p>
            <a:endParaRPr lang="en-IN"/>
          </a:p>
        </p:txBody>
      </p:sp>
      <p:sp>
        <p:nvSpPr>
          <p:cNvPr id="17" name="Shape 15"/>
          <p:cNvSpPr/>
          <p:nvPr/>
        </p:nvSpPr>
        <p:spPr>
          <a:xfrm>
            <a:off x="3794760" y="0"/>
            <a:ext cx="0" cy="5143500"/>
          </a:xfrm>
          <a:prstGeom prst="line">
            <a:avLst/>
          </a:prstGeom>
          <a:noFill/>
          <a:ln w="6350">
            <a:solidFill>
              <a:srgbClr val="1E2460"/>
            </a:solidFill>
            <a:prstDash val="solid"/>
          </a:ln>
        </p:spPr>
        <p:txBody>
          <a:bodyPr/>
          <a:lstStyle/>
          <a:p>
            <a:endParaRPr lang="en-IN"/>
          </a:p>
        </p:txBody>
      </p:sp>
      <p:sp>
        <p:nvSpPr>
          <p:cNvPr id="18" name="Shape 16"/>
          <p:cNvSpPr/>
          <p:nvPr/>
        </p:nvSpPr>
        <p:spPr>
          <a:xfrm>
            <a:off x="4553712" y="0"/>
            <a:ext cx="0" cy="5143500"/>
          </a:xfrm>
          <a:prstGeom prst="line">
            <a:avLst/>
          </a:prstGeom>
          <a:noFill/>
          <a:ln w="6350">
            <a:solidFill>
              <a:srgbClr val="1E2460"/>
            </a:solidFill>
            <a:prstDash val="solid"/>
          </a:ln>
        </p:spPr>
        <p:txBody>
          <a:bodyPr/>
          <a:lstStyle/>
          <a:p>
            <a:endParaRPr lang="en-IN"/>
          </a:p>
        </p:txBody>
      </p:sp>
      <p:sp>
        <p:nvSpPr>
          <p:cNvPr id="19" name="Shape 17"/>
          <p:cNvSpPr/>
          <p:nvPr/>
        </p:nvSpPr>
        <p:spPr>
          <a:xfrm>
            <a:off x="5312664" y="0"/>
            <a:ext cx="0" cy="5143500"/>
          </a:xfrm>
          <a:prstGeom prst="line">
            <a:avLst/>
          </a:prstGeom>
          <a:noFill/>
          <a:ln w="6350">
            <a:solidFill>
              <a:srgbClr val="1E2460"/>
            </a:solidFill>
            <a:prstDash val="solid"/>
          </a:ln>
        </p:spPr>
        <p:txBody>
          <a:bodyPr/>
          <a:lstStyle/>
          <a:p>
            <a:endParaRPr lang="en-IN"/>
          </a:p>
        </p:txBody>
      </p:sp>
      <p:sp>
        <p:nvSpPr>
          <p:cNvPr id="20" name="Shape 18"/>
          <p:cNvSpPr/>
          <p:nvPr/>
        </p:nvSpPr>
        <p:spPr>
          <a:xfrm>
            <a:off x="6071616" y="0"/>
            <a:ext cx="0" cy="5143500"/>
          </a:xfrm>
          <a:prstGeom prst="line">
            <a:avLst/>
          </a:prstGeom>
          <a:noFill/>
          <a:ln w="6350">
            <a:solidFill>
              <a:srgbClr val="1E2460"/>
            </a:solidFill>
            <a:prstDash val="solid"/>
          </a:ln>
        </p:spPr>
        <p:txBody>
          <a:bodyPr/>
          <a:lstStyle/>
          <a:p>
            <a:endParaRPr lang="en-IN"/>
          </a:p>
        </p:txBody>
      </p:sp>
      <p:sp>
        <p:nvSpPr>
          <p:cNvPr id="21" name="Shape 19"/>
          <p:cNvSpPr/>
          <p:nvPr/>
        </p:nvSpPr>
        <p:spPr>
          <a:xfrm>
            <a:off x="6830568" y="0"/>
            <a:ext cx="0" cy="5143500"/>
          </a:xfrm>
          <a:prstGeom prst="line">
            <a:avLst/>
          </a:prstGeom>
          <a:noFill/>
          <a:ln w="6350">
            <a:solidFill>
              <a:srgbClr val="1E2460"/>
            </a:solidFill>
            <a:prstDash val="solid"/>
          </a:ln>
        </p:spPr>
        <p:txBody>
          <a:bodyPr/>
          <a:lstStyle/>
          <a:p>
            <a:endParaRPr lang="en-IN"/>
          </a:p>
        </p:txBody>
      </p:sp>
      <p:sp>
        <p:nvSpPr>
          <p:cNvPr id="22" name="Shape 20"/>
          <p:cNvSpPr/>
          <p:nvPr/>
        </p:nvSpPr>
        <p:spPr>
          <a:xfrm>
            <a:off x="7589520" y="0"/>
            <a:ext cx="0" cy="5143500"/>
          </a:xfrm>
          <a:prstGeom prst="line">
            <a:avLst/>
          </a:prstGeom>
          <a:noFill/>
          <a:ln w="6350">
            <a:solidFill>
              <a:srgbClr val="1E2460"/>
            </a:solidFill>
            <a:prstDash val="solid"/>
          </a:ln>
        </p:spPr>
        <p:txBody>
          <a:bodyPr/>
          <a:lstStyle/>
          <a:p>
            <a:endParaRPr lang="en-IN"/>
          </a:p>
        </p:txBody>
      </p:sp>
      <p:sp>
        <p:nvSpPr>
          <p:cNvPr id="23" name="Shape 21"/>
          <p:cNvSpPr/>
          <p:nvPr/>
        </p:nvSpPr>
        <p:spPr>
          <a:xfrm>
            <a:off x="8348472" y="0"/>
            <a:ext cx="0" cy="5143500"/>
          </a:xfrm>
          <a:prstGeom prst="line">
            <a:avLst/>
          </a:prstGeom>
          <a:noFill/>
          <a:ln w="6350">
            <a:solidFill>
              <a:srgbClr val="1E2460"/>
            </a:solidFill>
            <a:prstDash val="solid"/>
          </a:ln>
        </p:spPr>
        <p:txBody>
          <a:bodyPr/>
          <a:lstStyle/>
          <a:p>
            <a:endParaRPr lang="en-IN"/>
          </a:p>
        </p:txBody>
      </p:sp>
      <p:sp>
        <p:nvSpPr>
          <p:cNvPr id="24" name="Shape 22"/>
          <p:cNvSpPr/>
          <p:nvPr/>
        </p:nvSpPr>
        <p:spPr>
          <a:xfrm>
            <a:off x="3200400" y="731520"/>
            <a:ext cx="2743200" cy="2743200"/>
          </a:xfrm>
          <a:prstGeom prst="ellipse">
            <a:avLst/>
          </a:prstGeom>
          <a:solidFill>
            <a:srgbClr val="6B21C8">
              <a:alpha val="20000"/>
            </a:srgbClr>
          </a:solidFill>
          <a:ln w="19050">
            <a:solidFill>
              <a:srgbClr val="9333EA"/>
            </a:solidFill>
            <a:prstDash val="solid"/>
          </a:ln>
        </p:spPr>
        <p:txBody>
          <a:bodyPr/>
          <a:lstStyle/>
          <a:p>
            <a:endParaRPr lang="en-IN"/>
          </a:p>
        </p:txBody>
      </p:sp>
      <p:sp>
        <p:nvSpPr>
          <p:cNvPr id="25" name="Shape 23"/>
          <p:cNvSpPr/>
          <p:nvPr/>
        </p:nvSpPr>
        <p:spPr>
          <a:xfrm>
            <a:off x="3749040" y="1280160"/>
            <a:ext cx="1645920" cy="1645920"/>
          </a:xfrm>
          <a:prstGeom prst="ellipse">
            <a:avLst/>
          </a:prstGeom>
          <a:solidFill>
            <a:srgbClr val="6B21C8">
              <a:alpha val="35000"/>
            </a:srgbClr>
          </a:solidFill>
          <a:ln w="12700">
            <a:solidFill>
              <a:srgbClr val="AA55FF"/>
            </a:solidFill>
            <a:prstDash val="solid"/>
          </a:ln>
        </p:spPr>
        <p:txBody>
          <a:bodyPr/>
          <a:lstStyle/>
          <a:p>
            <a:endParaRPr lang="en-IN"/>
          </a:p>
        </p:txBody>
      </p:sp>
      <p:sp>
        <p:nvSpPr>
          <p:cNvPr id="26" name="Shape 24"/>
          <p:cNvSpPr/>
          <p:nvPr/>
        </p:nvSpPr>
        <p:spPr>
          <a:xfrm>
            <a:off x="3474720" y="274320"/>
            <a:ext cx="2194560" cy="402336"/>
          </a:xfrm>
          <a:prstGeom prst="roundRect">
            <a:avLst>
              <a:gd name="adj" fmla="val 13636"/>
            </a:avLst>
          </a:prstGeom>
          <a:solidFill>
            <a:srgbClr val="1A1F5E"/>
          </a:solidFill>
          <a:ln w="12700">
            <a:solidFill>
              <a:srgbClr val="6B21C8"/>
            </a:solidFill>
            <a:prstDash val="solid"/>
          </a:ln>
        </p:spPr>
        <p:txBody>
          <a:bodyPr/>
          <a:lstStyle/>
          <a:p>
            <a:endParaRPr lang="en-IN"/>
          </a:p>
        </p:txBody>
      </p:sp>
      <p:sp>
        <p:nvSpPr>
          <p:cNvPr id="27" name="Text 25"/>
          <p:cNvSpPr/>
          <p:nvPr/>
        </p:nvSpPr>
        <p:spPr>
          <a:xfrm>
            <a:off x="3474720" y="274320"/>
            <a:ext cx="2194560"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Fnomo</a:t>
            </a:r>
            <a:endParaRPr lang="en-US" sz="1200" dirty="0"/>
          </a:p>
        </p:txBody>
      </p:sp>
      <p:sp>
        <p:nvSpPr>
          <p:cNvPr id="28" name="Text 26"/>
          <p:cNvSpPr/>
          <p:nvPr/>
        </p:nvSpPr>
        <p:spPr>
          <a:xfrm>
            <a:off x="457200" y="1874520"/>
            <a:ext cx="8229600" cy="1005840"/>
          </a:xfrm>
          <a:prstGeom prst="rect">
            <a:avLst/>
          </a:prstGeom>
          <a:noFill/>
          <a:ln/>
        </p:spPr>
        <p:txBody>
          <a:bodyPr wrap="square" lIns="0" tIns="0" rIns="0" bIns="0" rtlCol="0" anchor="ctr"/>
          <a:lstStyle/>
          <a:p>
            <a:pPr marL="0" indent="0" algn="ctr">
              <a:lnSpc>
                <a:spcPct val="120000"/>
              </a:lnSpc>
              <a:buNone/>
            </a:pPr>
            <a:r>
              <a:rPr lang="en-US" sz="2000" b="1" dirty="0">
                <a:solidFill>
                  <a:srgbClr val="FFFFFF"/>
                </a:solidFill>
                <a:latin typeface="Calibri" pitchFamily="34" charset="0"/>
                <a:ea typeface="Calibri" pitchFamily="34" charset="-122"/>
                <a:cs typeface="Calibri" pitchFamily="34" charset="-120"/>
              </a:rPr>
              <a:t>BEFORE THE DECISION IS MADE,</a:t>
            </a:r>
            <a:endParaRPr lang="en-US" sz="2000" dirty="0"/>
          </a:p>
          <a:p>
            <a:pPr marL="0" indent="0" algn="ctr">
              <a:lnSpc>
                <a:spcPct val="120000"/>
              </a:lnSpc>
              <a:buNone/>
            </a:pPr>
            <a:r>
              <a:rPr lang="en-US" sz="2000" b="1" dirty="0">
                <a:solidFill>
                  <a:srgbClr val="FFFFFF"/>
                </a:solidFill>
                <a:latin typeface="Calibri" pitchFamily="34" charset="0"/>
                <a:ea typeface="Calibri" pitchFamily="34" charset="-122"/>
                <a:cs typeface="Calibri" pitchFamily="34" charset="-120"/>
              </a:rPr>
              <a:t>FNOMO HAS ALREADY VALIDATED IT.</a:t>
            </a:r>
            <a:endParaRPr lang="en-US" sz="2000" dirty="0"/>
          </a:p>
        </p:txBody>
      </p:sp>
      <p:sp>
        <p:nvSpPr>
          <p:cNvPr id="29" name="Shape 27"/>
          <p:cNvSpPr/>
          <p:nvPr/>
        </p:nvSpPr>
        <p:spPr>
          <a:xfrm>
            <a:off x="3200400" y="2971800"/>
            <a:ext cx="2743200" cy="27432"/>
          </a:xfrm>
          <a:prstGeom prst="rect">
            <a:avLst/>
          </a:prstGeom>
          <a:solidFill>
            <a:srgbClr val="6B21C8"/>
          </a:solidFill>
          <a:ln w="12700">
            <a:solidFill>
              <a:srgbClr val="6B21C8"/>
            </a:solidFill>
            <a:prstDash val="solid"/>
          </a:ln>
        </p:spPr>
        <p:txBody>
          <a:bodyPr/>
          <a:lstStyle/>
          <a:p>
            <a:endParaRPr lang="en-IN"/>
          </a:p>
        </p:txBody>
      </p:sp>
      <p:sp>
        <p:nvSpPr>
          <p:cNvPr id="30" name="Text 28"/>
          <p:cNvSpPr/>
          <p:nvPr/>
        </p:nvSpPr>
        <p:spPr>
          <a:xfrm>
            <a:off x="457200" y="3090672"/>
            <a:ext cx="8229600" cy="310896"/>
          </a:xfrm>
          <a:prstGeom prst="rect">
            <a:avLst/>
          </a:prstGeom>
          <a:noFill/>
          <a:ln/>
        </p:spPr>
        <p:txBody>
          <a:bodyPr wrap="square" lIns="0" tIns="0" rIns="0" bIns="0" rtlCol="0" anchor="ctr"/>
          <a:lstStyle/>
          <a:p>
            <a:pPr marL="0" indent="0" algn="ctr">
              <a:buNone/>
            </a:pPr>
            <a:r>
              <a:rPr lang="en-US" sz="1100" kern="0" spc="100" dirty="0">
                <a:solidFill>
                  <a:srgbClr val="8899BB"/>
                </a:solidFill>
                <a:latin typeface="Calibri" pitchFamily="34" charset="0"/>
                <a:ea typeface="Calibri" pitchFamily="34" charset="-122"/>
                <a:cs typeface="Calibri" pitchFamily="34" charset="-120"/>
              </a:rPr>
              <a:t>Institutional Decision Infrastructure  ·  Strategic Partnership Brief</a:t>
            </a:r>
            <a:endParaRPr lang="en-US" sz="1100" dirty="0"/>
          </a:p>
        </p:txBody>
      </p:sp>
      <p:sp>
        <p:nvSpPr>
          <p:cNvPr id="31" name="Shape 29"/>
          <p:cNvSpPr/>
          <p:nvPr/>
        </p:nvSpPr>
        <p:spPr>
          <a:xfrm>
            <a:off x="1828800" y="3639312"/>
            <a:ext cx="2377440" cy="475488"/>
          </a:xfrm>
          <a:prstGeom prst="roundRect">
            <a:avLst>
              <a:gd name="adj" fmla="val 15385"/>
            </a:avLst>
          </a:prstGeom>
          <a:solidFill>
            <a:srgbClr val="6B21C8"/>
          </a:solidFill>
          <a:ln w="12700">
            <a:solidFill>
              <a:srgbClr val="6B21C8"/>
            </a:solidFill>
            <a:prstDash val="solid"/>
          </a:ln>
        </p:spPr>
        <p:txBody>
          <a:bodyPr/>
          <a:lstStyle/>
          <a:p>
            <a:endParaRPr lang="en-IN"/>
          </a:p>
        </p:txBody>
      </p:sp>
      <p:sp>
        <p:nvSpPr>
          <p:cNvPr id="32" name="Text 30"/>
          <p:cNvSpPr/>
          <p:nvPr/>
        </p:nvSpPr>
        <p:spPr>
          <a:xfrm>
            <a:off x="1828800" y="3639312"/>
            <a:ext cx="2377440" cy="475488"/>
          </a:xfrm>
          <a:prstGeom prst="rect">
            <a:avLst/>
          </a:prstGeom>
          <a:noFill/>
          <a:ln/>
        </p:spPr>
        <p:txBody>
          <a:bodyPr wrap="square" lIns="0" tIns="0" rIns="0" bIns="0" rtlCol="0" anchor="ctr"/>
          <a:lstStyle/>
          <a:p>
            <a:pPr marL="0" indent="0" algn="ctr">
              <a:buNone/>
            </a:pPr>
            <a:r>
              <a:rPr lang="en-US" sz="900" b="1" kern="0" spc="50" dirty="0">
                <a:solidFill>
                  <a:srgbClr val="FFFFFF"/>
                </a:solidFill>
                <a:latin typeface="Calibri" pitchFamily="34" charset="0"/>
                <a:ea typeface="Calibri" pitchFamily="34" charset="-122"/>
                <a:cs typeface="Calibri" pitchFamily="34" charset="-120"/>
              </a:rPr>
              <a:t>REQUEST ANCHOR POSITION</a:t>
            </a:r>
            <a:endParaRPr lang="en-US" sz="900" dirty="0"/>
          </a:p>
        </p:txBody>
      </p:sp>
      <p:sp>
        <p:nvSpPr>
          <p:cNvPr id="33" name="Shape 31"/>
          <p:cNvSpPr/>
          <p:nvPr/>
        </p:nvSpPr>
        <p:spPr>
          <a:xfrm>
            <a:off x="4961313" y="3639312"/>
            <a:ext cx="2377440" cy="475488"/>
          </a:xfrm>
          <a:prstGeom prst="roundRect">
            <a:avLst>
              <a:gd name="adj" fmla="val 15385"/>
            </a:avLst>
          </a:prstGeom>
          <a:solidFill>
            <a:srgbClr val="0F1235">
              <a:alpha val="0"/>
            </a:srgbClr>
          </a:solidFill>
          <a:ln w="19050">
            <a:solidFill>
              <a:srgbClr val="6B21C8"/>
            </a:solidFill>
            <a:prstDash val="solid"/>
          </a:ln>
        </p:spPr>
        <p:txBody>
          <a:bodyPr/>
          <a:lstStyle/>
          <a:p>
            <a:endParaRPr lang="en-IN"/>
          </a:p>
        </p:txBody>
      </p:sp>
      <p:sp>
        <p:nvSpPr>
          <p:cNvPr id="34" name="Text 32"/>
          <p:cNvSpPr/>
          <p:nvPr/>
        </p:nvSpPr>
        <p:spPr>
          <a:xfrm>
            <a:off x="4937760" y="3639312"/>
            <a:ext cx="2377440" cy="475488"/>
          </a:xfrm>
          <a:prstGeom prst="rect">
            <a:avLst/>
          </a:prstGeom>
          <a:noFill/>
          <a:ln/>
        </p:spPr>
        <p:txBody>
          <a:bodyPr wrap="square" lIns="0" tIns="0" rIns="0" bIns="0" rtlCol="0" anchor="ctr"/>
          <a:lstStyle/>
          <a:p>
            <a:pPr marL="0" indent="0" algn="ctr">
              <a:buNone/>
            </a:pPr>
            <a:r>
              <a:rPr lang="en-US" sz="900" b="1" kern="0" spc="50" dirty="0">
                <a:solidFill>
                  <a:srgbClr val="9333EA"/>
                </a:solidFill>
                <a:latin typeface="Calibri" pitchFamily="34" charset="0"/>
                <a:ea typeface="Calibri" pitchFamily="34" charset="-122"/>
                <a:cs typeface="Calibri" pitchFamily="34" charset="-120"/>
              </a:rPr>
              <a:t>SCHEDULE DISCOVERY CALL</a:t>
            </a:r>
            <a:endParaRPr lang="en-US" sz="900" dirty="0"/>
          </a:p>
        </p:txBody>
      </p:sp>
      <p:sp>
        <p:nvSpPr>
          <p:cNvPr id="35" name="Shape 33"/>
          <p:cNvSpPr/>
          <p:nvPr/>
        </p:nvSpPr>
        <p:spPr>
          <a:xfrm>
            <a:off x="0" y="4754880"/>
            <a:ext cx="9144000" cy="388620"/>
          </a:xfrm>
          <a:prstGeom prst="rect">
            <a:avLst/>
          </a:prstGeom>
          <a:solidFill>
            <a:srgbClr val="1A1F5E"/>
          </a:solidFill>
          <a:ln w="12700">
            <a:solidFill>
              <a:srgbClr val="1A1F5E"/>
            </a:solidFill>
            <a:prstDash val="solid"/>
          </a:ln>
        </p:spPr>
        <p:txBody>
          <a:bodyPr/>
          <a:lstStyle/>
          <a:p>
            <a:endParaRPr lang="en-IN"/>
          </a:p>
        </p:txBody>
      </p:sp>
      <p:sp>
        <p:nvSpPr>
          <p:cNvPr id="36" name="Shape 34"/>
          <p:cNvSpPr/>
          <p:nvPr/>
        </p:nvSpPr>
        <p:spPr>
          <a:xfrm>
            <a:off x="0" y="4754880"/>
            <a:ext cx="9144000" cy="36576"/>
          </a:xfrm>
          <a:prstGeom prst="rect">
            <a:avLst/>
          </a:prstGeom>
          <a:solidFill>
            <a:srgbClr val="6B21C8"/>
          </a:solidFill>
          <a:ln w="12700">
            <a:solidFill>
              <a:srgbClr val="6B21C8"/>
            </a:solidFill>
            <a:prstDash val="solid"/>
          </a:ln>
        </p:spPr>
        <p:txBody>
          <a:bodyPr/>
          <a:lstStyle/>
          <a:p>
            <a:endParaRPr lang="en-IN"/>
          </a:p>
        </p:txBody>
      </p:sp>
      <p:sp>
        <p:nvSpPr>
          <p:cNvPr id="37" name="Text 35"/>
          <p:cNvSpPr/>
          <p:nvPr/>
        </p:nvSpPr>
        <p:spPr>
          <a:xfrm>
            <a:off x="0" y="4791456"/>
            <a:ext cx="9144000" cy="352044"/>
          </a:xfrm>
          <a:prstGeom prst="rect">
            <a:avLst/>
          </a:prstGeom>
          <a:noFill/>
          <a:ln/>
        </p:spPr>
        <p:txBody>
          <a:bodyPr wrap="square" lIns="0" tIns="0" rIns="0" bIns="0" rtlCol="0" anchor="ctr"/>
          <a:lstStyle/>
          <a:p>
            <a:pPr marL="0" indent="0" algn="ctr">
              <a:buNone/>
            </a:pPr>
            <a:r>
              <a:rPr lang="en-US" sz="850" kern="0" spc="80" dirty="0">
                <a:solidFill>
                  <a:srgbClr val="6677AA"/>
                </a:solidFill>
                <a:latin typeface="Calibri" pitchFamily="34" charset="0"/>
                <a:ea typeface="Calibri" pitchFamily="34" charset="-122"/>
                <a:cs typeface="Calibri" pitchFamily="34" charset="-120"/>
              </a:rPr>
              <a:t>partnership@fnomo.com  ·  fnomo.com  ·  CONFIDENTIAL — NOT FOR DISTRIBUTION</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1442</Words>
  <Application>Microsoft Office PowerPoint</Application>
  <PresentationFormat>On-screen Show (16:9)</PresentationFormat>
  <Paragraphs>219</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Fnomo Strategic Partnership Brief</dc:title>
  <dc:subject>PptxGenJS Presentation</dc:subject>
  <dc:creator>Fnomo</dc:creator>
  <cp:lastModifiedBy>Kush Trivedi</cp:lastModifiedBy>
  <cp:revision>2</cp:revision>
  <dcterms:created xsi:type="dcterms:W3CDTF">2026-04-22T22:38:09Z</dcterms:created>
  <dcterms:modified xsi:type="dcterms:W3CDTF">2026-04-22T22:42:45Z</dcterms:modified>
</cp:coreProperties>
</file>